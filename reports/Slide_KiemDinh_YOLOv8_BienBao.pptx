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notesMasterIdLst>
    <p:notesMasterId r:id="rId4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notesMaster" Target="notesMasters/notesMaster1.xml"/><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5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Kính chào thầy/cô và các bạn. Nhóm em gồm ba thành viên xin trình bày đề tài môn Phân tích dữ liệu: Kiểm định độ tin cậy của một bộ phát hiện biển báo giao thông YOLOv8. Điểm khác biệt của đề tài là không chạy đua độ chính xác, mà đặt câu hỏi con số mAP 0,97 rất cao kia có thực sự đáng tin và đồng đều hay không. Bộ dữ liệu gồm gần 5.000 ảnh, 15 lớp, và khoảng cách hiệu năng giữa hai nhóm lớp lên tới 0,31 — đó là điều nhóm sẽ làm rõ hôm nay.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Đề tài do ba thành viên cùng thực hiện: Huỳnh Phát Lợi, Đoàn Huỳnh Thanh Tú và Võ Phú Vinh, đều thuộc chuyên ngành Khoa học máy tính khoá 36. Công việc được chia đều cho ba khâu chính: trích xuất và xử lý số liệu, phân tích thống kê kiểm định, và xây dựng ứng dụng cùng báo cáo.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Bài trình bày gồm sáu phần. Đầu tiên là giới thiệu và định vị đề tài. Thứ hai là dữ liệu và phương pháp. Sau đó là ba phát hiện kiểm định, em ký hiệu là A, B, C — đây là phần trọng tâm. Tiếp theo là phần demo ứng dụng phát hiện trực tiếp, và cuối cùng là kết luận với khuyến nghị. Em sẽ đi lần lượt để mạch câu chuyện được liền lạc.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Trước hết là bối cảnh. Phát hiện biển báo là bài toán nền tảng của hỗ trợ lái. Với YOLOv8, độ chính xác trên các bộ chuẩn đã rất cao — như notebook nguồn của đề tài đạt mAP 0,970. Vấn đề là: khi con số tổng đã bão hoà thì thêm một mô hình nữa gần như không còn giá trị. Câu hỏi đáng giá chuyển thành: con số đó có đáng tin và đồng đều không. Đây là khoảng trống mà góc nhìn phân tích dữ liệu có thể lấp vào.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Cụ thể, notebook đạt mAP 0,970 nhìn tổng thể rất tốt. Nhưng nhóm đặt ba nghi vấn: con số đó có bị rò rỉ dữ liệu nâng đỡ không; nó có đồng đều giữa các lớp không; và điểm yếu thực sự nằm ở đâu. Cách tiếp cận của nhóm là xem mô hình đã huấn luyện như một công cụ đo cố định — không huấn luyện lại, chỉ phân tích lại kết quả mà nó sinh ra, tức chế độ results-only.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này định vị đề tài. Có hai hướng tiếp cận: model-centric là chạy đua cải tiến mô hình để đẩy chỉ số lên; còn data-centric là xem dữ liệu và độ tin cậy của kết quả là đối tượng nghiên cứu. Đề tài của nhóm đi theo hướng data-centric: mô hình chỉ là công cụ đo, đầu ra là bằng chứng thống kê về độ tin cậy và sự phân hoá giữa các lớp, phương pháp là kiểm định thống kê chứ không phải huấn luyện mạng.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Vì sao chọn hướng data-centric? Andrew Ng đã lập luận rằng khi kiến trúc mô hình bão hoà, cải thiện tiếp theo đến từ việc hiểu và làm sạch dữ liệu. Một con số mAP cao chưa chắc đáng tin nếu tập đánh giá bị rò rỉ, và một con số trung bình có thể che giấu vài lớp rất yếu. Hướng data-centric cho phép nhóm phát hiện đúng những rủi ro đó — điều mà một báo cáo chỉ nêu mAP tổng sẽ bỏ sót.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Từ đó nhóm đặt ba câu hỏi nghiên cứu. Câu A về rò rỉ dữ liệu: mức độ trùng lặp xuyên tập là bao nhiêu và ảnh hưởng thế nào tới độ tin cậy của mAP. Câu B về phân hoá lớp: hiệu năng có đồng đều không, nếu không thì khoảng cách lớn nhất ở đâu. Câu C về nguyên nhân: khoảng cách đó do độ hiếm của lớp hay do bản chất vật thể. Ba câu này tương ứng ba phần chính của báo cáo.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Đề tài có bốn đóng góp. Một là định lượng phơi nhiễm rò rỉ và chỉ ra khoảng trống trong quy trình khử trùng. Hai là chứng minh bằng kiểm định thống kê rằng đèn tín hiệu kém hơn biển báo có ý nghĩa. Ba là bác bỏ giả thuyết mất cân bằng gây ra thất bại, bằng bằng chứng tương quan. Bốn là một bộ sản phẩm hoàn chỉnh: pipeline tái lập, ứng dụng demo, báo cáo và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Chuyển sang phần hai: dữ liệu và phương pháp. Em sẽ mô tả bộ dữ liệu, công cụ đo là YOLOv8, và quy trình phân tích ba bước mà nhóm dùng để bảo đảm mọi số liệu đều tái lập được.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Bộ dữ liệu pkdarabi/cardetection gồm 15 lớp, gần 4.969 ảnh và 6.012 đối tượng, chia sẵn ba tập train, valid, test. Một điểm em muốn lưu ý là nhãn rất sạch: không có file nhãn thiếu, không có đối tượng lỗi, không có dòng sai định dạng. Vì vậy nếu có vấn đề thì nó nằm ở phân bố và cách chia tập, chứ không phải ở chất lượng gán nhãn.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lớp chia hai nhóm bản chất rất khác nhau. Nhóm đèn tín hiệu chỉ có 2 lớp: đèn xanh và đèn đỏ; và hơi bất ngờ là đèn đỏ lại là lớp phổ biến nhất toàn corpus với 787 đối tượng. Nhóm biển báo có 13 lớp: 12 biển giới hạn tốc độ và biển Stop. Đặc điểm quan trọng: đèn thường nhỏ, ở xa, tương phản thấp và hai màu đỏ-xanh dễ nhầm; còn biển báo có chữ số và hình dạng rõ ràng. Sự khác biệt bản chất này là mấu chốt của phần sau.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Bảng thống kê theo split. Điều nhóm muốn nhấn mạnh là độ dịch phân phối lớp giữa ba tập rất nhỏ — Jensen–Shannon dưới 0,008 bit. Điều này quan trọng vì nó loại trừ một cách giải thích: chênh lệch hiệu năng KHÔNG đến từ việc các tập có phân phối lớp khác nhau. Vậy nguyên nhân phải nằm ở chỗ khác.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Về mất cân bằng lớp: tỷ số mất cân bằng là 35,8 — lớp nhiều nhất gấp khoảng 36 lần lớp ít nhất. Entropy chuẩn hoá 0,953 và hệ số Gini 0,247 cho thấy mức mất cân bằng chỉ ở mức trung bình, không cực đoan. Con số này sẽ được dùng lại ở phần C khi ta kiểm tra xem mất cân bằng có phải nguyên nhân gây ra thất bại của đèn hay không.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Về kích thước vật thể: có tới 36,6% đối tượng là nhỏ, dưới 1% diện tích ảnh, và 18,7% là tí hon dưới 0,1%. Vật thể nhỏ khó phát hiện vì ít điểm ảnh mang thông tin. Biểu đồ cho thấy tăng độ phân giải đầu vào từ 640 lên 1024 làm giảm mạnh tỷ lệ vật thể có cạnh dưới 8 pixel — đây là cơ sở cho khuyến nghị tăng imgsz ở phần cuối.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Công cụ đo là một YOLOv8s huấn luyện hai giai đoạn: giai đoạn một ở độ phân giải 640, giai đoạn hai tinh chỉnh ở 768. Dùng AdamW với cosine learning rate, và cố ý không lật ảnh để giữ ngữ nghĩa biển báo có hướng. Trọng số best.pt được đính kèm ngay trong thư mục models của đề tài, cũng chính là trọng số dùng cho tab demo mà em sẽ trình bày sau.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Quy trình phân tích gồm ba bước tự động. Bước một, trích xuất: đọc lại toàn bộ con số notebook đã in và cố định thành bảng CSV chuẩn, không nhập tay số nào. Bước hai, kiểm định: tính phơi nhiễm rò rỉ, so sánh nhóm đèn với nhóm biển bằng Mann–Whitney, và tương quan độ hiếm với hiệu năng bằng Spearman. Bước ba, trực quan hoá: sinh hình từ các bảng đó. Mọi bước đều cố định seed và có kiểm thử tự động.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Một nguyên tắc xuyên suốt là minh bạch và tái lập. Mọi bảng trong báo cáo đều ghi rõ tệp CSV nguồn, và mỗi CSV là đầu ra của một mô-đun. Không có con số nào nhập tay — chạy lại pipeline sẽ tạo ra y hệt. Nhóm đã đối chiếu 15 chỉ số chính khớp nhau giữa báo cáo Word, LaTeX và slide, và có bộ kiểm thử pytest để bảo vệ tính đúng đắn.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Bây giờ vào phần A — phát hiện đầu tiên và cũng là phần đặt dấu hỏi cho con số 0,97: rò rỉ dữ liệu.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Rò rỉ dữ liệu là khi thông tin của tập kiểm thử lọt vào quá trình huấn luyện. Với ảnh cắt từ video, dạng phổ biến nhất là ảnh trùng hoặc gần trùng xuất hiện ở nhiều tập. Ta dùng perceptual hash dHash để phát hiện ảnh gần trùng. Nếu không khử trùng ở tập đánh giá, mô hình có thể đã thấy ảnh rất giống lúc huấn luyện, khiến mAP cao hơn hiệu năng thực. Vì vậy bước đầu tiên là đo mức trùng lặp này.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Kết quả đo phơi nhiễm rò rỉ: có 202 ảnh trùng chính xác và 423 ảnh gần trùng nằm xuyên tập — tức xuất hiện ở cả tập huấn luyện lẫn tập đánh giá. Đây không phải con số nhỏ. Đáng chú ý là chính notebook đã phát hiện ra các trùng lặp này trong bước EDA, nhưng cách xử lý lại chưa triệt để, như slide sau sẽ chỉ rõ.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khoảng trống quan trọng. Notebook chỉ loại 91 ảnh trùng chính xác ra khỏi tập huấn luyện, đưa train từ 3.530 xuống 3.439. Nhưng tập valid và test — vốn là tập dùng để chấm điểm — thì không được khử trùng. Nghĩa là dữ liệu đánh giá vẫn còn 202 ảnh trùng chính xác và 423 ảnh gần trùng với train. Mô hình chấm điểm trên những ảnh nó gần như đã thấy.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Tóm lại phần A: chỉ 91 ảnh bị loại khỏi train, tập đánh giá không được khử trùng, nên mAP 0,97 có thể lạc quan hơn hiệu năng thực. Đây không phải kết luận rằng mô hình kém, mà là một cảnh báo về độ tin cậy của con số. Khuyến nghị của nhóm là khử trùng ở cả valid và test, rồi báo cáo thêm mAP sau khi loại near-duplicate để thấy mức chênh thực sự.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Sang phần B: ngay cả khi tạm gác chuyện rò rỉ, con số tổng 0,97 còn che giấu một vấn đề khác — sự phân hoá rất lớn giữa các lớp.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bảng hiệu năng đầy đủ 15 lớp, sắp theo mAP giảm dần. Nhìn hai cột: toàn bộ 13 lớp biển báo đều đạt từ 0,78 trở lên. Nhưng hai lớp đèn tín hiệu, tô đỏ ở cột phải, rơi hẳn xuống 0,576 và 0,506 — tách biệt rõ rệt khỏi phần còn lại. Con số trung bình 0,81 đã che giấu chính sự phân đôi này.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Biểu đồ thanh cho thấy rõ hơn: 13 thanh xanh của biển báo nằm sát nhau trong khoảng 0,78 đến 0,90, còn hai thanh đỏ của đèn tín hiệu tụt hẳn xuống dưới. Hai đường đứt là trung bình mỗi nhóm — khoảng cách giữa chúng rất lớn. Đây là hình ảnh trực quan nhất cho phát hiện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sánh trực tiếp hai nhóm trên cả bốn chỉ số: precision, recall, mAP 0,5 và mAP 0,5:0,95. Nhóm đèn thua trên mọi chỉ số, và khoảng cách lớn nhất nằm ở mAP 0,5:0,95 — chỉ số nghiêm ngặt nhất về độ khớp hộp. Trung bình đèn chỉ 0,541 so với 0,854 của biển, chênh 0,313.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Để khẳng định khoảng cách này không phải ngẫu nhiên, nhóm dùng kiểm định Mann–Whitney U — một kiểm định phi tham số, không giả định phân phối chuẩn, phù hợp khi so hai nhóm với số lớp nhỏ. Kết quả p bằng 0,0095, nhỏ hơn 0,01, tức khác biệt có ý nghĩa thống kê dù nhóm đèn chỉ có hai lớp. Khoảng cách 0,313 là thật, không phải nhiễu.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Tóm lại phần B: đèn 0,541 so với biển 0,854, khác biệt có ý nghĩa với p bằng 0,0095. Red Light là lớp kém nhất với mAP 0,506 và recall chỉ 0,755 — nghĩa là bỏ sót tới một phần tư số đèn đỏ thật. Và vì biển báo dễ chiếm đa số, mAP tổng 0,97 bị chúng kéo lên, che giấu điểm yếu ở đèn.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Phần C trả lời câu hỏi quan trọng nhất: vì sao đèn kém? Một giả thuyết tự nhiên là đèn kém vì hiếm. Nhóm sẽ kiểm chứng và bác bỏ giả thuyết này.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Giả thuyết cần kiểm: lớp càng ít mẫu thì mô hình càng khó học, nên đèn kém vì thuộc nhóm hiếm. Nếu giả thuyết đúng, thì số lượng đối tượng của một lớp và hiệu năng của lớp đó phải tương quan dương. Cách kiểm chứng là tính tương quan hạng Spearman giữa số instance và mAP của từng lớp. Nếu hệ số gần 0 và p lớn thì độ hiếm không liên quan, và giả thuyết bị bác bỏ.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Và đây là kết quả: hệ số Spearman chỉ 0,032, với p bằng 0,91 — tức hoàn toàn không có tương quan giữa số lượng đối tượng và hiệu năng. Nhìn biểu đồ, hai điểm đỏ của đèn nằm ở phía có nhiều đối tượng nhất nhưng lại thấp nhất về hiệu năng. Giả thuyết đèn kém vì hiếm bị bác bỏ.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Bằng chứng trực tiếp nhất là nghịch lý Red Light. Đèn đỏ là lớp phổ biến nhất toàn corpus với 787 đối tượng, vậy mà lại là lớp có hiệu năng kém nhất với mAP chỉ 0,506. Phổ biến nhất nhưng kém nhất — điều này chỉ ra rõ ràng rằng độ hiếm không phải nguyên nhân. Vậy nguyên nhân thật là gì?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Nguyên nhân nằm ở bản chất vật thể, không phải ở số lượng mẫu. Đèn tín hiệu thường nhỏ và ở xa nên chiếm ít điểm ảnh; độ tương phản thấp trên nền trời hoặc đường phức tạp; và quan trọng nhất, đèn đỏ với đèn xanh cùng hình dạng chỉ khác màu nên dễ nhầm về mặt hình học. Recall của Red Light chỉ 0,755 cho thấy mô hình bỏ sót nhiều đèn thật. Đây là vấn đề của loại vật thể, cần giải pháp riêng.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Tóm lại phần C: Spearman 0,032 với p 0,91 cho thấy độ hiếm không liên quan tới hiệu năng; nghịch lý Red Light phổ biến nhất nhưng kém nhất bác bỏ giả thuyết mất cân bằng; nguyên nhân thực là bản chất vật thể. Hệ quả thực tiễn: không nên dùng oversampling lớp hiếm để sửa lỗi đèn, vì độ hiếm không phải nguyên nhân.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Để phần phân tích không dừng ở lý thuyết, nhóm xây dựng một ứng dụng web có tab demo phát hiện trực tiếp, gắn kết quả phát hiện với chính độ tin cậy mà nhóm đã kiểm định.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Ứng dụng Streamlit gồm nhiều tab tương ứng các phần: tổng quan, rò rỉ, đèn với biển, hiếm khác khó, demo phát hiện, và bảng đầy đủ. Điểm mới ở tab demo: người dùng tải một ảnh, YOLOv8 vẽ hộp phát hiện, và với mỗi phát hiện app đối chiếu độ tin cậy đã kiểm định của lớp đó. Nếu là nhóm đèn có mAP thấp, app cảnh báo kết quả cần thận trọng. Demo biến nội dung kiểm định thành công cụ dùng được.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Ví dụ thứ nhất, ảnh có biển báo. Mô hình phát hiện biển Speed Limit với độ tin cậy YOLO rất cao. Lớp này thuộc nhóm biển báo, mAP kiểm định khoảng 0,85, nên app hiển thị xanh: toàn bộ phát hiện thuộc nhóm biển báo, độ tin cậy cao. Đây là trường hợp ta có thể yên tâm với kết quả.</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Ví dụ thứ hai, ảnh có đèn đỏ ở xa — đúng ca khó mà phần B và C đã chỉ ra. Mô hình phát hiện được nhiều đèn đỏ nhưng độ tin cậy chỉ 0,29 đến 0,61. Vì Red Light có mAP kiểm định chỉ 0,506, app hiển thị cảnh báo đỏ: phát hiện thuộc nhóm đèn tín hiệu, kết quả cần thận trọng. Demo nói cho người dùng biết đúng lúc nào nên tin và lúc nào nên nghi ngờ.</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Về cách chạy: chỉ cần cài các thư viện trong requirements và gõ streamlit run app. App chạy hoàn toàn trên CPU, không cần GPU để demo. Nếu máy thiếu ultralytics hoặc trọng số, app tự hiển thị hai ảnh demo kết xuất sẵn thay vì báo lỗi. Người dùng có thể chỉnh ngưỡng tin cậy bằng thanh trượt để xem số lượng phát hiện thay đổi.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Kết luận, ba phát hiện bổ trợ chặt chẽ cho nhau. Con số 0,97 vừa có thể được rò rỉ dữ liệu nâng đỡ ở phần A, vừa che giấu sự phân hoá lớn giữa các lớp ở phần B, mà sự phân hoá đó bắt nguồn từ loại vật thể chứ không phải mất cân bằng ở phần C. Đó là góc nhìn kiểm định mà một báo cáo chỉ nêu mAP tổng sẽ bỏ sót hoàn toàn.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Từ đó nhóm đưa ra bốn khuyến nghị. Một, khử trùng lặp ở cả valid và test trước khi báo mAP. Hai, báo cáo hiệu năng theo từng lớp và theo nhóm, không chỉ mAP tổng. Ba, cải thiện riêng lớp đèn: tăng độ phân giải, thêm mẫu đèn khó, phân tích nhầm lẫn đỏ-xanh. Bốn, không dùng oversampling lớp hiếm để sửa lỗi đèn vì độ hiếm không phải nguyên nhân.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Về hạn chế: đề tài ở chế độ results-only nên chưa đo trực tiếp mức sụt mAP sau khi khử rò rỉ, mới chỉ định lượng phơi nhiễm; nhóm đèn cũng chỉ có hai lớp nên cần thận trọng khi khái quát. Kèm theo báo cáo là bộ sản phẩm đầy đủ: pipeline tái lập với kiểm thử, ứng dụng web có tab demo, báo cáo Word và LaTeX, cùng bộ slide này.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Phần trình bày của nhóm đến đây là hết. Nhóm em xin cảm ơn thầy/cô và các bạn đã lắng nghe, và rất mong nhận được câu hỏi cùng góp ý để hoàn thiện đề tài.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2238"/>
        </a:solidFill>
      </p:bgPr>
    </p:bg>
    <p:spTree>
      <p:nvGrpSpPr>
        <p:cNvPr id="1" name=""/>
        <p:cNvGrpSpPr/>
        <p:nvPr/>
      </p:nvGrpSpPr>
      <p:grpSpPr>
        <a:xfrm>
          <a:off x="0" y="0"/>
          <a:ext cx="0" cy="0"/>
          <a:chOff x="0" y="0"/>
          <a:chExt cx="0" cy="0"/>
        </a:xfrm>
      </p:grpSpPr>
      <p:sp>
        <p:nvSpPr>
          <p:cNvPr id="3" name="Shape 0"/>
          <p:cNvSpPr/>
          <p:nvPr/>
        </p:nvSpPr>
        <p:spPr>
          <a:xfrm>
            <a:off x="9052560" y="-1371600"/>
            <a:ext cx="4937760" cy="4937760"/>
          </a:xfrm>
          <a:prstGeom prst="ellipse">
            <a:avLst/>
          </a:prstGeom>
          <a:solidFill>
            <a:srgbClr val="1E3050"/>
          </a:solidFill>
          <a:ln w="12700">
            <a:solidFill>
              <a:srgbClr val="333333"/>
            </a:solidFill>
            <a:prstDash val="solid"/>
          </a:ln>
        </p:spPr>
      </p:sp>
      <p:sp>
        <p:nvSpPr>
          <p:cNvPr id="4" name="Shape 1"/>
          <p:cNvSpPr/>
          <p:nvPr/>
        </p:nvSpPr>
        <p:spPr>
          <a:xfrm>
            <a:off x="10241280" y="4206240"/>
            <a:ext cx="2926080" cy="2926080"/>
          </a:xfrm>
          <a:prstGeom prst="ellipse">
            <a:avLst/>
          </a:prstGeom>
          <a:solidFill>
            <a:srgbClr val="1C7293"/>
          </a:solidFill>
          <a:ln w="12700">
            <a:solidFill>
              <a:srgbClr val="333333"/>
            </a:solidFill>
            <a:prstDash val="solid"/>
          </a:ln>
        </p:spPr>
      </p:sp>
      <p:sp>
        <p:nvSpPr>
          <p:cNvPr id="5" name="Text 2"/>
          <p:cNvSpPr/>
          <p:nvPr/>
        </p:nvSpPr>
        <p:spPr>
          <a:xfrm>
            <a:off x="548640" y="1097280"/>
            <a:ext cx="8595360" cy="310896"/>
          </a:xfrm>
          <a:prstGeom prst="rect">
            <a:avLst/>
          </a:prstGeom>
          <a:noFill/>
          <a:ln/>
        </p:spPr>
        <p:txBody>
          <a:bodyPr wrap="square" lIns="0" tIns="0" rIns="0" bIns="0" rtlCol="0" anchor="ctr"/>
          <a:lstStyle/>
          <a:p>
            <a:pPr indent="0" marL="0">
              <a:buNone/>
            </a:pPr>
            <a:r>
              <a:rPr lang="en-US" sz="1300" b="1" spc="200" kern="0" dirty="0">
                <a:solidFill>
                  <a:srgbClr val="F4A261"/>
                </a:solidFill>
                <a:latin typeface="Calibri" pitchFamily="34" charset="0"/>
                <a:ea typeface="Calibri" pitchFamily="34" charset="-122"/>
                <a:cs typeface="Calibri" pitchFamily="34" charset="-120"/>
              </a:rPr>
              <a:t>BÁO CÁO ĐỀ TÀI · MÔN PHÂN TÍCH DỮ LIỆU</a:t>
            </a:r>
            <a:endParaRPr lang="en-US" sz="1300" dirty="0"/>
          </a:p>
        </p:txBody>
      </p:sp>
      <p:sp>
        <p:nvSpPr>
          <p:cNvPr id="6" name="Text 3"/>
          <p:cNvSpPr/>
          <p:nvPr/>
        </p:nvSpPr>
        <p:spPr>
          <a:xfrm>
            <a:off x="548640" y="1572768"/>
            <a:ext cx="8595360" cy="1554480"/>
          </a:xfrm>
          <a:prstGeom prst="rect">
            <a:avLst/>
          </a:prstGeom>
          <a:noFill/>
          <a:ln/>
        </p:spPr>
        <p:txBody>
          <a:bodyPr wrap="square" lIns="0" tIns="0" rIns="0" bIns="0" rtlCol="0" anchor="ctr"/>
          <a:lstStyle/>
          <a:p>
            <a:pPr indent="0" marL="0">
              <a:lnSpc>
                <a:spcPct val="106000"/>
              </a:lnSpc>
              <a:buNone/>
            </a:pPr>
            <a:r>
              <a:rPr lang="en-US" sz="3400" b="1" dirty="0">
                <a:solidFill>
                  <a:srgbClr val="FFFFFF"/>
                </a:solidFill>
                <a:latin typeface="Cambria" pitchFamily="34" charset="0"/>
                <a:ea typeface="Cambria" pitchFamily="34" charset="-122"/>
                <a:cs typeface="Cambria" pitchFamily="34" charset="-120"/>
              </a:rPr>
              <a:t>Kiểm định độ tin cậy của bộ phát hiện</a:t>
            </a:r>
            <a:endParaRPr lang="en-US" sz="3400" dirty="0"/>
          </a:p>
          <a:p>
            <a:pPr indent="0" marL="0">
              <a:lnSpc>
                <a:spcPct val="106000"/>
              </a:lnSpc>
              <a:buNone/>
            </a:pPr>
            <a:r>
              <a:rPr lang="en-US" sz="3400" b="1" dirty="0">
                <a:solidFill>
                  <a:srgbClr val="FFFFFF"/>
                </a:solidFill>
                <a:latin typeface="Cambria" pitchFamily="34" charset="0"/>
                <a:ea typeface="Cambria" pitchFamily="34" charset="-122"/>
                <a:cs typeface="Cambria" pitchFamily="34" charset="-120"/>
              </a:rPr>
              <a:t>biển báo giao thông YOLOv8</a:t>
            </a:r>
            <a:endParaRPr lang="en-US" sz="3400" dirty="0"/>
          </a:p>
        </p:txBody>
      </p:sp>
      <p:sp>
        <p:nvSpPr>
          <p:cNvPr id="7" name="Text 4"/>
          <p:cNvSpPr/>
          <p:nvPr/>
        </p:nvSpPr>
        <p:spPr>
          <a:xfrm>
            <a:off x="548640" y="3346704"/>
            <a:ext cx="8595360" cy="457200"/>
          </a:xfrm>
          <a:prstGeom prst="rect">
            <a:avLst/>
          </a:prstGeom>
          <a:noFill/>
          <a:ln/>
        </p:spPr>
        <p:txBody>
          <a:bodyPr wrap="square" lIns="0" tIns="0" rIns="0" bIns="0" rtlCol="0" anchor="ctr"/>
          <a:lstStyle/>
          <a:p>
            <a:pPr indent="0" marL="0">
              <a:buNone/>
            </a:pPr>
            <a:r>
              <a:rPr lang="en-US" sz="1500" dirty="0">
                <a:solidFill>
                  <a:srgbClr val="9DB2C6"/>
                </a:solidFill>
                <a:latin typeface="Calibri" pitchFamily="34" charset="0"/>
                <a:ea typeface="Calibri" pitchFamily="34" charset="-122"/>
                <a:cs typeface="Calibri" pitchFamily="34" charset="-120"/>
              </a:rPr>
              <a:t>Rò rỉ dữ liệu · Kích thước vật thể · Khoảng cách hiệu năng đèn tín hiệu – biển báo</a:t>
            </a:r>
            <a:endParaRPr lang="en-US" sz="1500" dirty="0"/>
          </a:p>
        </p:txBody>
      </p:sp>
      <p:sp>
        <p:nvSpPr>
          <p:cNvPr id="8" name="Text 5"/>
          <p:cNvSpPr/>
          <p:nvPr/>
        </p:nvSpPr>
        <p:spPr>
          <a:xfrm>
            <a:off x="548640" y="4114800"/>
            <a:ext cx="2103120" cy="5486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4,969</a:t>
            </a:r>
            <a:endParaRPr lang="en-US" sz="2600" dirty="0"/>
          </a:p>
        </p:txBody>
      </p:sp>
      <p:sp>
        <p:nvSpPr>
          <p:cNvPr id="9" name="Text 6"/>
          <p:cNvSpPr/>
          <p:nvPr/>
        </p:nvSpPr>
        <p:spPr>
          <a:xfrm>
            <a:off x="548640" y="4645152"/>
            <a:ext cx="2103120" cy="292608"/>
          </a:xfrm>
          <a:prstGeom prst="rect">
            <a:avLst/>
          </a:prstGeom>
          <a:noFill/>
          <a:ln/>
        </p:spPr>
        <p:txBody>
          <a:bodyPr wrap="square" lIns="0" tIns="0" rIns="0" bIns="0" rtlCol="0" anchor="ctr"/>
          <a:lstStyle/>
          <a:p>
            <a:pPr indent="0" marL="0">
              <a:buNone/>
            </a:pPr>
            <a:r>
              <a:rPr lang="en-US" sz="1150" dirty="0">
                <a:solidFill>
                  <a:srgbClr val="8FA6BC"/>
                </a:solidFill>
                <a:latin typeface="Calibri" pitchFamily="34" charset="0"/>
                <a:ea typeface="Calibri" pitchFamily="34" charset="-122"/>
                <a:cs typeface="Calibri" pitchFamily="34" charset="-120"/>
              </a:rPr>
              <a:t>ảnh</a:t>
            </a:r>
            <a:endParaRPr lang="en-US" sz="1150" dirty="0"/>
          </a:p>
        </p:txBody>
      </p:sp>
      <p:sp>
        <p:nvSpPr>
          <p:cNvPr id="10" name="Text 7"/>
          <p:cNvSpPr/>
          <p:nvPr/>
        </p:nvSpPr>
        <p:spPr>
          <a:xfrm>
            <a:off x="2834640" y="4114800"/>
            <a:ext cx="2103120" cy="5486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15</a:t>
            </a:r>
            <a:endParaRPr lang="en-US" sz="2600" dirty="0"/>
          </a:p>
        </p:txBody>
      </p:sp>
      <p:sp>
        <p:nvSpPr>
          <p:cNvPr id="11" name="Text 8"/>
          <p:cNvSpPr/>
          <p:nvPr/>
        </p:nvSpPr>
        <p:spPr>
          <a:xfrm>
            <a:off x="2834640" y="4645152"/>
            <a:ext cx="2103120" cy="292608"/>
          </a:xfrm>
          <a:prstGeom prst="rect">
            <a:avLst/>
          </a:prstGeom>
          <a:noFill/>
          <a:ln/>
        </p:spPr>
        <p:txBody>
          <a:bodyPr wrap="square" lIns="0" tIns="0" rIns="0" bIns="0" rtlCol="0" anchor="ctr"/>
          <a:lstStyle/>
          <a:p>
            <a:pPr indent="0" marL="0">
              <a:buNone/>
            </a:pPr>
            <a:r>
              <a:rPr lang="en-US" sz="1150" dirty="0">
                <a:solidFill>
                  <a:srgbClr val="8FA6BC"/>
                </a:solidFill>
                <a:latin typeface="Calibri" pitchFamily="34" charset="0"/>
                <a:ea typeface="Calibri" pitchFamily="34" charset="-122"/>
                <a:cs typeface="Calibri" pitchFamily="34" charset="-120"/>
              </a:rPr>
              <a:t>lớp</a:t>
            </a:r>
            <a:endParaRPr lang="en-US" sz="1150" dirty="0"/>
          </a:p>
        </p:txBody>
      </p:sp>
      <p:sp>
        <p:nvSpPr>
          <p:cNvPr id="12" name="Text 9"/>
          <p:cNvSpPr/>
          <p:nvPr/>
        </p:nvSpPr>
        <p:spPr>
          <a:xfrm>
            <a:off x="5120640" y="4114800"/>
            <a:ext cx="2103120" cy="5486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0,970</a:t>
            </a:r>
            <a:endParaRPr lang="en-US" sz="2600" dirty="0"/>
          </a:p>
        </p:txBody>
      </p:sp>
      <p:sp>
        <p:nvSpPr>
          <p:cNvPr id="13" name="Text 10"/>
          <p:cNvSpPr/>
          <p:nvPr/>
        </p:nvSpPr>
        <p:spPr>
          <a:xfrm>
            <a:off x="5120640" y="4645152"/>
            <a:ext cx="2103120" cy="292608"/>
          </a:xfrm>
          <a:prstGeom prst="rect">
            <a:avLst/>
          </a:prstGeom>
          <a:noFill/>
          <a:ln/>
        </p:spPr>
        <p:txBody>
          <a:bodyPr wrap="square" lIns="0" tIns="0" rIns="0" bIns="0" rtlCol="0" anchor="ctr"/>
          <a:lstStyle/>
          <a:p>
            <a:pPr indent="0" marL="0">
              <a:buNone/>
            </a:pPr>
            <a:r>
              <a:rPr lang="en-US" sz="1150" dirty="0">
                <a:solidFill>
                  <a:srgbClr val="8FA6BC"/>
                </a:solidFill>
                <a:latin typeface="Calibri" pitchFamily="34" charset="0"/>
                <a:ea typeface="Calibri" pitchFamily="34" charset="-122"/>
                <a:cs typeface="Calibri" pitchFamily="34" charset="-120"/>
              </a:rPr>
              <a:t>mAP@0,5</a:t>
            </a:r>
            <a:endParaRPr lang="en-US" sz="1150" dirty="0"/>
          </a:p>
        </p:txBody>
      </p:sp>
      <p:sp>
        <p:nvSpPr>
          <p:cNvPr id="14" name="Text 11"/>
          <p:cNvSpPr/>
          <p:nvPr/>
        </p:nvSpPr>
        <p:spPr>
          <a:xfrm>
            <a:off x="7406640" y="4114800"/>
            <a:ext cx="2103120" cy="5486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0,313</a:t>
            </a:r>
            <a:endParaRPr lang="en-US" sz="2600" dirty="0"/>
          </a:p>
        </p:txBody>
      </p:sp>
      <p:sp>
        <p:nvSpPr>
          <p:cNvPr id="15" name="Text 12"/>
          <p:cNvSpPr/>
          <p:nvPr/>
        </p:nvSpPr>
        <p:spPr>
          <a:xfrm>
            <a:off x="7406640" y="4645152"/>
            <a:ext cx="2103120" cy="292608"/>
          </a:xfrm>
          <a:prstGeom prst="rect">
            <a:avLst/>
          </a:prstGeom>
          <a:noFill/>
          <a:ln/>
        </p:spPr>
        <p:txBody>
          <a:bodyPr wrap="square" lIns="0" tIns="0" rIns="0" bIns="0" rtlCol="0" anchor="ctr"/>
          <a:lstStyle/>
          <a:p>
            <a:pPr indent="0" marL="0">
              <a:buNone/>
            </a:pPr>
            <a:r>
              <a:rPr lang="en-US" sz="1150" dirty="0">
                <a:solidFill>
                  <a:srgbClr val="8FA6BC"/>
                </a:solidFill>
                <a:latin typeface="Calibri" pitchFamily="34" charset="0"/>
                <a:ea typeface="Calibri" pitchFamily="34" charset="-122"/>
                <a:cs typeface="Calibri" pitchFamily="34" charset="-120"/>
              </a:rPr>
              <a:t>chênh đèn–biển</a:t>
            </a:r>
            <a:endParaRPr lang="en-US" sz="1150" dirty="0"/>
          </a:p>
        </p:txBody>
      </p:sp>
      <p:sp>
        <p:nvSpPr>
          <p:cNvPr id="16" name="Text 13"/>
          <p:cNvSpPr/>
          <p:nvPr/>
        </p:nvSpPr>
        <p:spPr>
          <a:xfrm>
            <a:off x="548640" y="5852160"/>
            <a:ext cx="10515600" cy="365760"/>
          </a:xfrm>
          <a:prstGeom prst="rect">
            <a:avLst/>
          </a:prstGeom>
          <a:noFill/>
          <a:ln/>
        </p:spPr>
        <p:txBody>
          <a:bodyPr wrap="square" lIns="0" tIns="0" rIns="0" bIns="0" rtlCol="0" anchor="ctr"/>
          <a:lstStyle/>
          <a:p>
            <a:pPr indent="0" marL="0">
              <a:buNone/>
            </a:pPr>
            <a:r>
              <a:rPr lang="en-US" sz="1200" dirty="0">
                <a:solidFill>
                  <a:srgbClr val="7C93AA"/>
                </a:solidFill>
                <a:latin typeface="Calibri" pitchFamily="34" charset="0"/>
                <a:ea typeface="Calibri" pitchFamily="34" charset="-122"/>
                <a:cs typeface="Calibri" pitchFamily="34" charset="-120"/>
              </a:rPr>
              <a:t>Nhóm: Huỳnh Phát Lợi (KHMT836016) · Đoàn Huỳnh Thanh Tú (KHMT836034) · Võ Phú Vinh (KHMT836036)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10789920" y="-1234440"/>
            <a:ext cx="2743200" cy="2743200"/>
          </a:xfrm>
          <a:prstGeom prst="ellipse">
            <a:avLst/>
          </a:prstGeom>
          <a:solidFill>
            <a:srgbClr val="EAF1F6"/>
          </a:solidFill>
          <a:ln w="12700">
            <a:solidFill>
              <a:srgbClr val="333333"/>
            </a:solidFill>
            <a:prstDash val="solid"/>
          </a:ln>
        </p:spPr>
      </p:sp>
      <p:sp>
        <p:nvSpPr>
          <p:cNvPr id="4" name="Shape 1"/>
          <p:cNvSpPr/>
          <p:nvPr/>
        </p:nvSpPr>
        <p:spPr>
          <a:xfrm>
            <a:off x="11475720" y="182880"/>
            <a:ext cx="822960" cy="822960"/>
          </a:xfrm>
          <a:prstGeom prst="ellipse">
            <a:avLst/>
          </a:prstGeom>
          <a:solidFill>
            <a:srgbClr val="DCE8F0"/>
          </a:solidFill>
          <a:ln w="12700">
            <a:solidFill>
              <a:srgbClr val="333333"/>
            </a:solidFill>
            <a:prstDash val="solid"/>
          </a:ln>
        </p:spPr>
      </p:sp>
      <p:sp>
        <p:nvSpPr>
          <p:cNvPr id="5" name="Shape 2"/>
          <p:cNvSpPr/>
          <p:nvPr/>
        </p:nvSpPr>
        <p:spPr>
          <a:xfrm>
            <a:off x="548640" y="6382512"/>
            <a:ext cx="11064240" cy="0"/>
          </a:xfrm>
          <a:prstGeom prst="line">
            <a:avLst/>
          </a:prstGeom>
          <a:noFill/>
          <a:ln w="12700">
            <a:solidFill>
              <a:srgbClr val="DDE3EA"/>
            </a:solidFill>
            <a:prstDash val="solid"/>
          </a:ln>
        </p:spPr>
      </p:sp>
      <p:sp>
        <p:nvSpPr>
          <p:cNvPr id="6" name="Text 3"/>
          <p:cNvSpPr/>
          <p:nvPr/>
        </p:nvSpPr>
        <p:spPr>
          <a:xfrm>
            <a:off x="548640" y="6419088"/>
            <a:ext cx="8686800" cy="274320"/>
          </a:xfrm>
          <a:prstGeom prst="rect">
            <a:avLst/>
          </a:prstGeom>
          <a:noFill/>
          <a:ln/>
        </p:spPr>
        <p:txBody>
          <a:bodyPr wrap="square" lIns="0" tIns="0" rIns="0" bIns="0" rtlCol="0" anchor="ctr"/>
          <a:lstStyle/>
          <a:p>
            <a:pPr indent="0" marL="0">
              <a:buNone/>
            </a:pPr>
            <a:r>
              <a:rPr lang="en-US" sz="900" dirty="0">
                <a:solidFill>
                  <a:srgbClr val="9AA7B4"/>
                </a:solidFill>
                <a:latin typeface="Calibri" pitchFamily="34" charset="0"/>
                <a:ea typeface="Calibri" pitchFamily="34" charset="-122"/>
                <a:cs typeface="Calibri" pitchFamily="34" charset="-120"/>
              </a:rPr>
              <a:t>Kiểm định độ tin cậy YOLOv8 · Nhóm KHMT836016/34/36</a:t>
            </a:r>
            <a:endParaRPr lang="en-US" sz="900" dirty="0"/>
          </a:p>
        </p:txBody>
      </p:sp>
      <p:sp>
        <p:nvSpPr>
          <p:cNvPr id="7" name="Text 4"/>
          <p:cNvSpPr/>
          <p:nvPr/>
        </p:nvSpPr>
        <p:spPr>
          <a:xfrm>
            <a:off x="11064240" y="6419088"/>
            <a:ext cx="548640" cy="274320"/>
          </a:xfrm>
          <a:prstGeom prst="rect">
            <a:avLst/>
          </a:prstGeom>
          <a:noFill/>
          <a:ln/>
        </p:spPr>
        <p:txBody>
          <a:bodyPr wrap="square" lIns="0" tIns="0" rIns="0" bIns="0" rtlCol="0" anchor="ctr"/>
          <a:lstStyle/>
          <a:p>
            <a:pPr algn="r" indent="0" marL="0">
              <a:buNone/>
            </a:pPr>
            <a:r>
              <a:rPr lang="en-US" sz="1000" b="1" dirty="0">
                <a:solidFill>
                  <a:srgbClr val="1C7293"/>
                </a:solidFill>
                <a:latin typeface="Calibri" pitchFamily="34" charset="0"/>
                <a:ea typeface="Calibri" pitchFamily="34" charset="-122"/>
                <a:cs typeface="Calibri" pitchFamily="34" charset="-120"/>
              </a:rPr>
              <a:t>2</a:t>
            </a:r>
            <a:endParaRPr lang="en-US" sz="1000" dirty="0"/>
          </a:p>
        </p:txBody>
      </p:sp>
      <p:sp>
        <p:nvSpPr>
          <p:cNvPr id="8" name="Shape 5"/>
          <p:cNvSpPr/>
          <p:nvPr/>
        </p:nvSpPr>
        <p:spPr>
          <a:xfrm>
            <a:off x="548640" y="457200"/>
            <a:ext cx="155448" cy="457200"/>
          </a:xfrm>
          <a:prstGeom prst="roundRect">
            <a:avLst>
              <a:gd name="adj" fmla="val 17647"/>
            </a:avLst>
          </a:prstGeom>
          <a:solidFill>
            <a:srgbClr val="1C7293"/>
          </a:solidFill>
          <a:ln w="12700">
            <a:solidFill>
              <a:srgbClr val="333333"/>
            </a:solidFill>
            <a:prstDash val="solid"/>
          </a:ln>
        </p:spPr>
      </p:sp>
      <p:sp>
        <p:nvSpPr>
          <p:cNvPr id="9" name="Text 6"/>
          <p:cNvSpPr/>
          <p:nvPr/>
        </p:nvSpPr>
        <p:spPr>
          <a:xfrm>
            <a:off x="877824" y="365760"/>
            <a:ext cx="10735056" cy="713232"/>
          </a:xfrm>
          <a:prstGeom prst="rect">
            <a:avLst/>
          </a:prstGeom>
          <a:noFill/>
          <a:ln/>
        </p:spPr>
        <p:txBody>
          <a:bodyPr wrap="square" lIns="0" tIns="0" rIns="0" bIns="0" rtlCol="0" anchor="ctr"/>
          <a:lstStyle/>
          <a:p>
            <a:pPr indent="0" marL="0">
              <a:buNone/>
            </a:pPr>
            <a:r>
              <a:rPr lang="en-US" sz="2900" b="1" dirty="0">
                <a:solidFill>
                  <a:srgbClr val="1A2430"/>
                </a:solidFill>
                <a:latin typeface="Cambria" pitchFamily="34" charset="0"/>
                <a:ea typeface="Cambria" pitchFamily="34" charset="-122"/>
                <a:cs typeface="Cambria" pitchFamily="34" charset="-120"/>
              </a:rPr>
              <a:t>Nhóm thực hiện</a:t>
            </a:r>
            <a:endParaRPr lang="en-US" sz="2900" dirty="0"/>
          </a:p>
        </p:txBody>
      </p:sp>
      <p:sp>
        <p:nvSpPr>
          <p:cNvPr id="10" name="Shape 7"/>
          <p:cNvSpPr/>
          <p:nvPr/>
        </p:nvSpPr>
        <p:spPr>
          <a:xfrm>
            <a:off x="548640" y="1801368"/>
            <a:ext cx="3520440" cy="3200400"/>
          </a:xfrm>
          <a:prstGeom prst="roundRect">
            <a:avLst>
              <a:gd name="adj" fmla="val 2857"/>
            </a:avLst>
          </a:prstGeom>
          <a:solidFill>
            <a:srgbClr val="F4F7FA"/>
          </a:solidFill>
          <a:ln w="12700">
            <a:solidFill>
              <a:srgbClr val="E6ECF2"/>
            </a:solidFill>
            <a:prstDash val="solid"/>
          </a:ln>
          <a:effectLst>
            <a:outerShdw sx="100000" sy="100000" kx="0" ky="0" algn="bl" rotWithShape="0" blurRad="114300" dist="25400" dir="5400000">
              <a:srgbClr val="9FB0C0">
                <a:alpha val="22000"/>
              </a:srgbClr>
            </a:outerShdw>
          </a:effectLst>
        </p:spPr>
      </p:sp>
      <p:sp>
        <p:nvSpPr>
          <p:cNvPr id="11" name="Shape 8"/>
          <p:cNvSpPr/>
          <p:nvPr/>
        </p:nvSpPr>
        <p:spPr>
          <a:xfrm>
            <a:off x="548640" y="1801368"/>
            <a:ext cx="3520440" cy="128016"/>
          </a:xfrm>
          <a:prstGeom prst="roundRect">
            <a:avLst>
              <a:gd name="adj" fmla="val 21429"/>
            </a:avLst>
          </a:prstGeom>
          <a:solidFill>
            <a:srgbClr val="1C7293"/>
          </a:solidFill>
          <a:ln w="12700">
            <a:solidFill>
              <a:srgbClr val="333333"/>
            </a:solidFill>
            <a:prstDash val="solid"/>
          </a:ln>
        </p:spPr>
      </p:sp>
      <p:sp>
        <p:nvSpPr>
          <p:cNvPr id="12" name="Shape 9"/>
          <p:cNvSpPr/>
          <p:nvPr/>
        </p:nvSpPr>
        <p:spPr>
          <a:xfrm>
            <a:off x="1737360" y="2258568"/>
            <a:ext cx="1143000" cy="1143000"/>
          </a:xfrm>
          <a:prstGeom prst="ellipse">
            <a:avLst/>
          </a:prstGeom>
          <a:solidFill>
            <a:srgbClr val="1C7293"/>
          </a:solidFill>
          <a:ln w="12700">
            <a:solidFill>
              <a:srgbClr val="333333"/>
            </a:solidFill>
            <a:prstDash val="solid"/>
          </a:ln>
          <a:effectLst>
            <a:outerShdw sx="100000" sy="100000" kx="0" ky="0" algn="bl" rotWithShape="0" blurRad="76200" dist="25400" dir="5400000">
              <a:srgbClr val="1C7293">
                <a:alpha val="35000"/>
              </a:srgbClr>
            </a:outerShdw>
          </a:effectLst>
        </p:spPr>
      </p:sp>
      <p:sp>
        <p:nvSpPr>
          <p:cNvPr id="13" name="Text 10"/>
          <p:cNvSpPr/>
          <p:nvPr/>
        </p:nvSpPr>
        <p:spPr>
          <a:xfrm>
            <a:off x="1737360" y="2258568"/>
            <a:ext cx="1143000" cy="1143000"/>
          </a:xfrm>
          <a:prstGeom prst="rect">
            <a:avLst/>
          </a:prstGeom>
          <a:noFill/>
          <a:ln/>
        </p:spPr>
        <p:txBody>
          <a:bodyPr wrap="square" lIns="0" tIns="0" rIns="0" bIns="0" rtlCol="0" anchor="ctr"/>
          <a:lstStyle/>
          <a:p>
            <a:pPr algn="ctr" indent="0" marL="0">
              <a:buNone/>
            </a:pPr>
            <a:r>
              <a:rPr lang="en-US" sz="3800" b="1" dirty="0">
                <a:solidFill>
                  <a:srgbClr val="FFFFFF"/>
                </a:solidFill>
                <a:latin typeface="Cambria" pitchFamily="34" charset="0"/>
                <a:ea typeface="Cambria" pitchFamily="34" charset="-122"/>
                <a:cs typeface="Cambria" pitchFamily="34" charset="-120"/>
              </a:rPr>
              <a:t>L</a:t>
            </a:r>
            <a:endParaRPr lang="en-US" sz="3800" dirty="0"/>
          </a:p>
        </p:txBody>
      </p:sp>
      <p:sp>
        <p:nvSpPr>
          <p:cNvPr id="14" name="Text 11"/>
          <p:cNvSpPr/>
          <p:nvPr/>
        </p:nvSpPr>
        <p:spPr>
          <a:xfrm>
            <a:off x="731520" y="3584448"/>
            <a:ext cx="3154680" cy="457200"/>
          </a:xfrm>
          <a:prstGeom prst="rect">
            <a:avLst/>
          </a:prstGeom>
          <a:noFill/>
          <a:ln/>
        </p:spPr>
        <p:txBody>
          <a:bodyPr wrap="square" lIns="0" tIns="0" rIns="0" bIns="0" rtlCol="0" anchor="ctr"/>
          <a:lstStyle/>
          <a:p>
            <a:pPr algn="ctr" indent="0" marL="0">
              <a:buNone/>
            </a:pPr>
            <a:r>
              <a:rPr lang="en-US" sz="1800" b="1" dirty="0">
                <a:solidFill>
                  <a:srgbClr val="1A2430"/>
                </a:solidFill>
                <a:latin typeface="Cambria" pitchFamily="34" charset="0"/>
                <a:ea typeface="Cambria" pitchFamily="34" charset="-122"/>
                <a:cs typeface="Cambria" pitchFamily="34" charset="-120"/>
              </a:rPr>
              <a:t>Huỳnh Phát Lợi</a:t>
            </a:r>
            <a:endParaRPr lang="en-US" sz="1800" dirty="0"/>
          </a:p>
        </p:txBody>
      </p:sp>
      <p:sp>
        <p:nvSpPr>
          <p:cNvPr id="15" name="Text 12"/>
          <p:cNvSpPr/>
          <p:nvPr/>
        </p:nvSpPr>
        <p:spPr>
          <a:xfrm>
            <a:off x="731520" y="4014216"/>
            <a:ext cx="3154680" cy="320040"/>
          </a:xfrm>
          <a:prstGeom prst="rect">
            <a:avLst/>
          </a:prstGeom>
          <a:noFill/>
          <a:ln/>
        </p:spPr>
        <p:txBody>
          <a:bodyPr wrap="square" lIns="0" tIns="0" rIns="0" bIns="0" rtlCol="0" anchor="ctr"/>
          <a:lstStyle/>
          <a:p>
            <a:pPr algn="ctr" indent="0" marL="0">
              <a:buNone/>
            </a:pPr>
            <a:r>
              <a:rPr lang="en-US" sz="1300" dirty="0">
                <a:solidFill>
                  <a:srgbClr val="5A6B7D"/>
                </a:solidFill>
                <a:latin typeface="Calibri" pitchFamily="34" charset="0"/>
                <a:ea typeface="Calibri" pitchFamily="34" charset="-122"/>
                <a:cs typeface="Calibri" pitchFamily="34" charset="-120"/>
              </a:rPr>
              <a:t>KHMT836016</a:t>
            </a:r>
            <a:endParaRPr lang="en-US" sz="1300" dirty="0"/>
          </a:p>
        </p:txBody>
      </p:sp>
      <p:sp>
        <p:nvSpPr>
          <p:cNvPr id="16" name="Text 13"/>
          <p:cNvSpPr/>
          <p:nvPr/>
        </p:nvSpPr>
        <p:spPr>
          <a:xfrm>
            <a:off x="731520" y="4379976"/>
            <a:ext cx="3154680" cy="457200"/>
          </a:xfrm>
          <a:prstGeom prst="rect">
            <a:avLst/>
          </a:prstGeom>
          <a:noFill/>
          <a:ln/>
        </p:spPr>
        <p:txBody>
          <a:bodyPr wrap="square" lIns="0" tIns="0" rIns="0" bIns="0" rtlCol="0" anchor="ctr"/>
          <a:lstStyle/>
          <a:p>
            <a:pPr algn="ctr" indent="0" marL="0">
              <a:buNone/>
            </a:pPr>
            <a:r>
              <a:rPr lang="en-US" sz="1250" dirty="0">
                <a:solidFill>
                  <a:srgbClr val="1C7293"/>
                </a:solidFill>
                <a:latin typeface="Calibri" pitchFamily="34" charset="0"/>
                <a:ea typeface="Calibri" pitchFamily="34" charset="-122"/>
                <a:cs typeface="Calibri" pitchFamily="34" charset="-120"/>
              </a:rPr>
              <a:t>Trích xuất &amp; xử lý số liệu</a:t>
            </a:r>
            <a:endParaRPr lang="en-US" sz="1250" dirty="0"/>
          </a:p>
        </p:txBody>
      </p:sp>
      <p:sp>
        <p:nvSpPr>
          <p:cNvPr id="17" name="Shape 14"/>
          <p:cNvSpPr/>
          <p:nvPr/>
        </p:nvSpPr>
        <p:spPr>
          <a:xfrm>
            <a:off x="4297680" y="1801368"/>
            <a:ext cx="3520440" cy="3200400"/>
          </a:xfrm>
          <a:prstGeom prst="roundRect">
            <a:avLst>
              <a:gd name="adj" fmla="val 2857"/>
            </a:avLst>
          </a:prstGeom>
          <a:solidFill>
            <a:srgbClr val="F4F7FA"/>
          </a:solidFill>
          <a:ln w="12700">
            <a:solidFill>
              <a:srgbClr val="E6ECF2"/>
            </a:solidFill>
            <a:prstDash val="solid"/>
          </a:ln>
          <a:effectLst>
            <a:outerShdw sx="100000" sy="100000" kx="0" ky="0" algn="bl" rotWithShape="0" blurRad="114300" dist="25400" dir="5400000">
              <a:srgbClr val="9FB0C0">
                <a:alpha val="22000"/>
              </a:srgbClr>
            </a:outerShdw>
          </a:effectLst>
        </p:spPr>
      </p:sp>
      <p:sp>
        <p:nvSpPr>
          <p:cNvPr id="18" name="Shape 15"/>
          <p:cNvSpPr/>
          <p:nvPr/>
        </p:nvSpPr>
        <p:spPr>
          <a:xfrm>
            <a:off x="4297680" y="1801368"/>
            <a:ext cx="3520440" cy="128016"/>
          </a:xfrm>
          <a:prstGeom prst="roundRect">
            <a:avLst>
              <a:gd name="adj" fmla="val 21429"/>
            </a:avLst>
          </a:prstGeom>
          <a:solidFill>
            <a:srgbClr val="1E5F8C"/>
          </a:solidFill>
          <a:ln w="12700">
            <a:solidFill>
              <a:srgbClr val="333333"/>
            </a:solidFill>
            <a:prstDash val="solid"/>
          </a:ln>
        </p:spPr>
      </p:sp>
      <p:sp>
        <p:nvSpPr>
          <p:cNvPr id="19" name="Shape 16"/>
          <p:cNvSpPr/>
          <p:nvPr/>
        </p:nvSpPr>
        <p:spPr>
          <a:xfrm>
            <a:off x="5486400" y="2258568"/>
            <a:ext cx="1143000" cy="1143000"/>
          </a:xfrm>
          <a:prstGeom prst="ellipse">
            <a:avLst/>
          </a:prstGeom>
          <a:solidFill>
            <a:srgbClr val="1E5F8C"/>
          </a:solidFill>
          <a:ln w="12700">
            <a:solidFill>
              <a:srgbClr val="333333"/>
            </a:solidFill>
            <a:prstDash val="solid"/>
          </a:ln>
          <a:effectLst>
            <a:outerShdw sx="100000" sy="100000" kx="0" ky="0" algn="bl" rotWithShape="0" blurRad="76200" dist="25400" dir="5400000">
              <a:srgbClr val="1E5F8C">
                <a:alpha val="35000"/>
              </a:srgbClr>
            </a:outerShdw>
          </a:effectLst>
        </p:spPr>
      </p:sp>
      <p:sp>
        <p:nvSpPr>
          <p:cNvPr id="20" name="Text 17"/>
          <p:cNvSpPr/>
          <p:nvPr/>
        </p:nvSpPr>
        <p:spPr>
          <a:xfrm>
            <a:off x="5486400" y="2258568"/>
            <a:ext cx="1143000" cy="1143000"/>
          </a:xfrm>
          <a:prstGeom prst="rect">
            <a:avLst/>
          </a:prstGeom>
          <a:noFill/>
          <a:ln/>
        </p:spPr>
        <p:txBody>
          <a:bodyPr wrap="square" lIns="0" tIns="0" rIns="0" bIns="0" rtlCol="0" anchor="ctr"/>
          <a:lstStyle/>
          <a:p>
            <a:pPr algn="ctr" indent="0" marL="0">
              <a:buNone/>
            </a:pPr>
            <a:r>
              <a:rPr lang="en-US" sz="3800" b="1" dirty="0">
                <a:solidFill>
                  <a:srgbClr val="FFFFFF"/>
                </a:solidFill>
                <a:latin typeface="Cambria" pitchFamily="34" charset="0"/>
                <a:ea typeface="Cambria" pitchFamily="34" charset="-122"/>
                <a:cs typeface="Cambria" pitchFamily="34" charset="-120"/>
              </a:rPr>
              <a:t>T</a:t>
            </a:r>
            <a:endParaRPr lang="en-US" sz="3800" dirty="0"/>
          </a:p>
        </p:txBody>
      </p:sp>
      <p:sp>
        <p:nvSpPr>
          <p:cNvPr id="21" name="Text 18"/>
          <p:cNvSpPr/>
          <p:nvPr/>
        </p:nvSpPr>
        <p:spPr>
          <a:xfrm>
            <a:off x="4480560" y="3584448"/>
            <a:ext cx="3154680" cy="457200"/>
          </a:xfrm>
          <a:prstGeom prst="rect">
            <a:avLst/>
          </a:prstGeom>
          <a:noFill/>
          <a:ln/>
        </p:spPr>
        <p:txBody>
          <a:bodyPr wrap="square" lIns="0" tIns="0" rIns="0" bIns="0" rtlCol="0" anchor="ctr"/>
          <a:lstStyle/>
          <a:p>
            <a:pPr algn="ctr" indent="0" marL="0">
              <a:buNone/>
            </a:pPr>
            <a:r>
              <a:rPr lang="en-US" sz="1800" b="1" dirty="0">
                <a:solidFill>
                  <a:srgbClr val="1A2430"/>
                </a:solidFill>
                <a:latin typeface="Cambria" pitchFamily="34" charset="0"/>
                <a:ea typeface="Cambria" pitchFamily="34" charset="-122"/>
                <a:cs typeface="Cambria" pitchFamily="34" charset="-120"/>
              </a:rPr>
              <a:t>Đoàn Huỳnh Thanh Tú</a:t>
            </a:r>
            <a:endParaRPr lang="en-US" sz="1800" dirty="0"/>
          </a:p>
        </p:txBody>
      </p:sp>
      <p:sp>
        <p:nvSpPr>
          <p:cNvPr id="22" name="Text 19"/>
          <p:cNvSpPr/>
          <p:nvPr/>
        </p:nvSpPr>
        <p:spPr>
          <a:xfrm>
            <a:off x="4480560" y="4014216"/>
            <a:ext cx="3154680" cy="320040"/>
          </a:xfrm>
          <a:prstGeom prst="rect">
            <a:avLst/>
          </a:prstGeom>
          <a:noFill/>
          <a:ln/>
        </p:spPr>
        <p:txBody>
          <a:bodyPr wrap="square" lIns="0" tIns="0" rIns="0" bIns="0" rtlCol="0" anchor="ctr"/>
          <a:lstStyle/>
          <a:p>
            <a:pPr algn="ctr" indent="0" marL="0">
              <a:buNone/>
            </a:pPr>
            <a:r>
              <a:rPr lang="en-US" sz="1300" dirty="0">
                <a:solidFill>
                  <a:srgbClr val="5A6B7D"/>
                </a:solidFill>
                <a:latin typeface="Calibri" pitchFamily="34" charset="0"/>
                <a:ea typeface="Calibri" pitchFamily="34" charset="-122"/>
                <a:cs typeface="Calibri" pitchFamily="34" charset="-120"/>
              </a:rPr>
              <a:t>KHMT836034</a:t>
            </a:r>
            <a:endParaRPr lang="en-US" sz="1300" dirty="0"/>
          </a:p>
        </p:txBody>
      </p:sp>
      <p:sp>
        <p:nvSpPr>
          <p:cNvPr id="23" name="Text 20"/>
          <p:cNvSpPr/>
          <p:nvPr/>
        </p:nvSpPr>
        <p:spPr>
          <a:xfrm>
            <a:off x="4480560" y="4379976"/>
            <a:ext cx="3154680" cy="457200"/>
          </a:xfrm>
          <a:prstGeom prst="rect">
            <a:avLst/>
          </a:prstGeom>
          <a:noFill/>
          <a:ln/>
        </p:spPr>
        <p:txBody>
          <a:bodyPr wrap="square" lIns="0" tIns="0" rIns="0" bIns="0" rtlCol="0" anchor="ctr"/>
          <a:lstStyle/>
          <a:p>
            <a:pPr algn="ctr" indent="0" marL="0">
              <a:buNone/>
            </a:pPr>
            <a:r>
              <a:rPr lang="en-US" sz="1250" dirty="0">
                <a:solidFill>
                  <a:srgbClr val="1E5F8C"/>
                </a:solidFill>
                <a:latin typeface="Calibri" pitchFamily="34" charset="0"/>
                <a:ea typeface="Calibri" pitchFamily="34" charset="-122"/>
                <a:cs typeface="Calibri" pitchFamily="34" charset="-120"/>
              </a:rPr>
              <a:t>Phân tích thống kê kiểm định</a:t>
            </a:r>
            <a:endParaRPr lang="en-US" sz="1250" dirty="0"/>
          </a:p>
        </p:txBody>
      </p:sp>
      <p:sp>
        <p:nvSpPr>
          <p:cNvPr id="24" name="Shape 21"/>
          <p:cNvSpPr/>
          <p:nvPr/>
        </p:nvSpPr>
        <p:spPr>
          <a:xfrm>
            <a:off x="8046720" y="1801368"/>
            <a:ext cx="3520440" cy="3200400"/>
          </a:xfrm>
          <a:prstGeom prst="roundRect">
            <a:avLst>
              <a:gd name="adj" fmla="val 2857"/>
            </a:avLst>
          </a:prstGeom>
          <a:solidFill>
            <a:srgbClr val="F4F7FA"/>
          </a:solidFill>
          <a:ln w="12700">
            <a:solidFill>
              <a:srgbClr val="E6ECF2"/>
            </a:solidFill>
            <a:prstDash val="solid"/>
          </a:ln>
          <a:effectLst>
            <a:outerShdw sx="100000" sy="100000" kx="0" ky="0" algn="bl" rotWithShape="0" blurRad="114300" dist="25400" dir="5400000">
              <a:srgbClr val="9FB0C0">
                <a:alpha val="22000"/>
              </a:srgbClr>
            </a:outerShdw>
          </a:effectLst>
        </p:spPr>
      </p:sp>
      <p:sp>
        <p:nvSpPr>
          <p:cNvPr id="25" name="Shape 22"/>
          <p:cNvSpPr/>
          <p:nvPr/>
        </p:nvSpPr>
        <p:spPr>
          <a:xfrm>
            <a:off x="8046720" y="1801368"/>
            <a:ext cx="3520440" cy="128016"/>
          </a:xfrm>
          <a:prstGeom prst="roundRect">
            <a:avLst>
              <a:gd name="adj" fmla="val 21429"/>
            </a:avLst>
          </a:prstGeom>
          <a:solidFill>
            <a:srgbClr val="E63946"/>
          </a:solidFill>
          <a:ln w="12700">
            <a:solidFill>
              <a:srgbClr val="333333"/>
            </a:solidFill>
            <a:prstDash val="solid"/>
          </a:ln>
        </p:spPr>
      </p:sp>
      <p:sp>
        <p:nvSpPr>
          <p:cNvPr id="26" name="Shape 23"/>
          <p:cNvSpPr/>
          <p:nvPr/>
        </p:nvSpPr>
        <p:spPr>
          <a:xfrm>
            <a:off x="9235440" y="2258568"/>
            <a:ext cx="1143000" cy="1143000"/>
          </a:xfrm>
          <a:prstGeom prst="ellipse">
            <a:avLst/>
          </a:prstGeom>
          <a:solidFill>
            <a:srgbClr val="E63946"/>
          </a:solidFill>
          <a:ln w="12700">
            <a:solidFill>
              <a:srgbClr val="333333"/>
            </a:solidFill>
            <a:prstDash val="solid"/>
          </a:ln>
          <a:effectLst>
            <a:outerShdw sx="100000" sy="100000" kx="0" ky="0" algn="bl" rotWithShape="0" blurRad="76200" dist="25400" dir="5400000">
              <a:srgbClr val="E63946">
                <a:alpha val="35000"/>
              </a:srgbClr>
            </a:outerShdw>
          </a:effectLst>
        </p:spPr>
      </p:sp>
      <p:sp>
        <p:nvSpPr>
          <p:cNvPr id="27" name="Text 24"/>
          <p:cNvSpPr/>
          <p:nvPr/>
        </p:nvSpPr>
        <p:spPr>
          <a:xfrm>
            <a:off x="9235440" y="2258568"/>
            <a:ext cx="1143000" cy="1143000"/>
          </a:xfrm>
          <a:prstGeom prst="rect">
            <a:avLst/>
          </a:prstGeom>
          <a:noFill/>
          <a:ln/>
        </p:spPr>
        <p:txBody>
          <a:bodyPr wrap="square" lIns="0" tIns="0" rIns="0" bIns="0" rtlCol="0" anchor="ctr"/>
          <a:lstStyle/>
          <a:p>
            <a:pPr algn="ctr" indent="0" marL="0">
              <a:buNone/>
            </a:pPr>
            <a:r>
              <a:rPr lang="en-US" sz="3800" b="1" dirty="0">
                <a:solidFill>
                  <a:srgbClr val="FFFFFF"/>
                </a:solidFill>
                <a:latin typeface="Cambria" pitchFamily="34" charset="0"/>
                <a:ea typeface="Cambria" pitchFamily="34" charset="-122"/>
                <a:cs typeface="Cambria" pitchFamily="34" charset="-120"/>
              </a:rPr>
              <a:t>V</a:t>
            </a:r>
            <a:endParaRPr lang="en-US" sz="3800" dirty="0"/>
          </a:p>
        </p:txBody>
      </p:sp>
      <p:sp>
        <p:nvSpPr>
          <p:cNvPr id="28" name="Text 25"/>
          <p:cNvSpPr/>
          <p:nvPr/>
        </p:nvSpPr>
        <p:spPr>
          <a:xfrm>
            <a:off x="8229600" y="3584448"/>
            <a:ext cx="3154680" cy="457200"/>
          </a:xfrm>
          <a:prstGeom prst="rect">
            <a:avLst/>
          </a:prstGeom>
          <a:noFill/>
          <a:ln/>
        </p:spPr>
        <p:txBody>
          <a:bodyPr wrap="square" lIns="0" tIns="0" rIns="0" bIns="0" rtlCol="0" anchor="ctr"/>
          <a:lstStyle/>
          <a:p>
            <a:pPr algn="ctr" indent="0" marL="0">
              <a:buNone/>
            </a:pPr>
            <a:r>
              <a:rPr lang="en-US" sz="1800" b="1" dirty="0">
                <a:solidFill>
                  <a:srgbClr val="1A2430"/>
                </a:solidFill>
                <a:latin typeface="Cambria" pitchFamily="34" charset="0"/>
                <a:ea typeface="Cambria" pitchFamily="34" charset="-122"/>
                <a:cs typeface="Cambria" pitchFamily="34" charset="-120"/>
              </a:rPr>
              <a:t>Võ Phú Vinh</a:t>
            </a:r>
            <a:endParaRPr lang="en-US" sz="1800" dirty="0"/>
          </a:p>
        </p:txBody>
      </p:sp>
      <p:sp>
        <p:nvSpPr>
          <p:cNvPr id="29" name="Text 26"/>
          <p:cNvSpPr/>
          <p:nvPr/>
        </p:nvSpPr>
        <p:spPr>
          <a:xfrm>
            <a:off x="8229600" y="4014216"/>
            <a:ext cx="3154680" cy="320040"/>
          </a:xfrm>
          <a:prstGeom prst="rect">
            <a:avLst/>
          </a:prstGeom>
          <a:noFill/>
          <a:ln/>
        </p:spPr>
        <p:txBody>
          <a:bodyPr wrap="square" lIns="0" tIns="0" rIns="0" bIns="0" rtlCol="0" anchor="ctr"/>
          <a:lstStyle/>
          <a:p>
            <a:pPr algn="ctr" indent="0" marL="0">
              <a:buNone/>
            </a:pPr>
            <a:r>
              <a:rPr lang="en-US" sz="1300" dirty="0">
                <a:solidFill>
                  <a:srgbClr val="5A6B7D"/>
                </a:solidFill>
                <a:latin typeface="Calibri" pitchFamily="34" charset="0"/>
                <a:ea typeface="Calibri" pitchFamily="34" charset="-122"/>
                <a:cs typeface="Calibri" pitchFamily="34" charset="-120"/>
              </a:rPr>
              <a:t>KHMT836036</a:t>
            </a:r>
            <a:endParaRPr lang="en-US" sz="1300" dirty="0"/>
          </a:p>
        </p:txBody>
      </p:sp>
      <p:sp>
        <p:nvSpPr>
          <p:cNvPr id="30" name="Text 27"/>
          <p:cNvSpPr/>
          <p:nvPr/>
        </p:nvSpPr>
        <p:spPr>
          <a:xfrm>
            <a:off x="8229600" y="4379976"/>
            <a:ext cx="3154680" cy="457200"/>
          </a:xfrm>
          <a:prstGeom prst="rect">
            <a:avLst/>
          </a:prstGeom>
          <a:noFill/>
          <a:ln/>
        </p:spPr>
        <p:txBody>
          <a:bodyPr wrap="square" lIns="0" tIns="0" rIns="0" bIns="0" rtlCol="0" anchor="ctr"/>
          <a:lstStyle/>
          <a:p>
            <a:pPr algn="ctr" indent="0" marL="0">
              <a:buNone/>
            </a:pPr>
            <a:r>
              <a:rPr lang="en-US" sz="1250" dirty="0">
                <a:solidFill>
                  <a:srgbClr val="E63946"/>
                </a:solidFill>
                <a:latin typeface="Calibri" pitchFamily="34" charset="0"/>
                <a:ea typeface="Calibri" pitchFamily="34" charset="-122"/>
                <a:cs typeface="Calibri" pitchFamily="34" charset="-120"/>
              </a:rPr>
              <a:t>Ứng dụng &amp; báo cáo</a:t>
            </a:r>
            <a:endParaRPr lang="en-US" sz="1250" dirty="0"/>
          </a:p>
        </p:txBody>
      </p:sp>
      <p:sp>
        <p:nvSpPr>
          <p:cNvPr id="31" name="Text 28"/>
          <p:cNvSpPr/>
          <p:nvPr/>
        </p:nvSpPr>
        <p:spPr>
          <a:xfrm>
            <a:off x="548640" y="5321808"/>
            <a:ext cx="11064240" cy="457200"/>
          </a:xfrm>
          <a:prstGeom prst="rect">
            <a:avLst/>
          </a:prstGeom>
          <a:noFill/>
          <a:ln/>
        </p:spPr>
        <p:txBody>
          <a:bodyPr wrap="square" lIns="0" tIns="0" rIns="0" bIns="0" rtlCol="0" anchor="ctr"/>
          <a:lstStyle/>
          <a:p>
            <a:pPr algn="ctr" indent="0" marL="0">
              <a:buNone/>
            </a:pPr>
            <a:r>
              <a:rPr lang="en-US" sz="1400" dirty="0">
                <a:solidFill>
                  <a:srgbClr val="5A6B7D"/>
                </a:solidFill>
                <a:latin typeface="Calibri" pitchFamily="34" charset="0"/>
                <a:ea typeface="Calibri" pitchFamily="34" charset="-122"/>
                <a:cs typeface="Calibri" pitchFamily="34" charset="-120"/>
              </a:rPr>
              <a:t>Chuyên ngành Khoa học máy tính · Khoá 36 (2025–2027) · Trường ĐH Sư phạm TP.HCM</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10789920" y="-1234440"/>
            <a:ext cx="2743200" cy="2743200"/>
          </a:xfrm>
          <a:prstGeom prst="ellipse">
            <a:avLst/>
          </a:prstGeom>
          <a:solidFill>
            <a:srgbClr val="EAF1F6"/>
          </a:solidFill>
          <a:ln w="12700">
            <a:solidFill>
              <a:srgbClr val="333333"/>
            </a:solidFill>
            <a:prstDash val="solid"/>
          </a:ln>
        </p:spPr>
      </p:sp>
      <p:sp>
        <p:nvSpPr>
          <p:cNvPr id="4" name="Shape 1"/>
          <p:cNvSpPr/>
          <p:nvPr/>
        </p:nvSpPr>
        <p:spPr>
          <a:xfrm>
            <a:off x="11475720" y="182880"/>
            <a:ext cx="822960" cy="822960"/>
          </a:xfrm>
          <a:prstGeom prst="ellipse">
            <a:avLst/>
          </a:prstGeom>
          <a:solidFill>
            <a:srgbClr val="DCE8F0"/>
          </a:solidFill>
          <a:ln w="12700">
            <a:solidFill>
              <a:srgbClr val="333333"/>
            </a:solidFill>
            <a:prstDash val="solid"/>
          </a:ln>
        </p:spPr>
      </p:sp>
      <p:sp>
        <p:nvSpPr>
          <p:cNvPr id="5" name="Shape 2"/>
          <p:cNvSpPr/>
          <p:nvPr/>
        </p:nvSpPr>
        <p:spPr>
          <a:xfrm>
            <a:off x="548640" y="6382512"/>
            <a:ext cx="11064240" cy="0"/>
          </a:xfrm>
          <a:prstGeom prst="line">
            <a:avLst/>
          </a:prstGeom>
          <a:noFill/>
          <a:ln w="12700">
            <a:solidFill>
              <a:srgbClr val="DDE3EA"/>
            </a:solidFill>
            <a:prstDash val="solid"/>
          </a:ln>
        </p:spPr>
      </p:sp>
      <p:sp>
        <p:nvSpPr>
          <p:cNvPr id="6" name="Text 3"/>
          <p:cNvSpPr/>
          <p:nvPr/>
        </p:nvSpPr>
        <p:spPr>
          <a:xfrm>
            <a:off x="548640" y="6419088"/>
            <a:ext cx="8686800" cy="274320"/>
          </a:xfrm>
          <a:prstGeom prst="rect">
            <a:avLst/>
          </a:prstGeom>
          <a:noFill/>
          <a:ln/>
        </p:spPr>
        <p:txBody>
          <a:bodyPr wrap="square" lIns="0" tIns="0" rIns="0" bIns="0" rtlCol="0" anchor="ctr"/>
          <a:lstStyle/>
          <a:p>
            <a:pPr indent="0" marL="0">
              <a:buNone/>
            </a:pPr>
            <a:r>
              <a:rPr lang="en-US" sz="900" dirty="0">
                <a:solidFill>
                  <a:srgbClr val="9AA7B4"/>
                </a:solidFill>
                <a:latin typeface="Calibri" pitchFamily="34" charset="0"/>
                <a:ea typeface="Calibri" pitchFamily="34" charset="-122"/>
                <a:cs typeface="Calibri" pitchFamily="34" charset="-120"/>
              </a:rPr>
              <a:t>Kiểm định độ tin cậy YOLOv8 · Nhóm KHMT836016/34/36</a:t>
            </a:r>
            <a:endParaRPr lang="en-US" sz="900" dirty="0"/>
          </a:p>
        </p:txBody>
      </p:sp>
      <p:sp>
        <p:nvSpPr>
          <p:cNvPr id="7" name="Text 4"/>
          <p:cNvSpPr/>
          <p:nvPr/>
        </p:nvSpPr>
        <p:spPr>
          <a:xfrm>
            <a:off x="11064240" y="6419088"/>
            <a:ext cx="548640" cy="274320"/>
          </a:xfrm>
          <a:prstGeom prst="rect">
            <a:avLst/>
          </a:prstGeom>
          <a:noFill/>
          <a:ln/>
        </p:spPr>
        <p:txBody>
          <a:bodyPr wrap="square" lIns="0" tIns="0" rIns="0" bIns="0" rtlCol="0" anchor="ctr"/>
          <a:lstStyle/>
          <a:p>
            <a:pPr algn="r" indent="0" marL="0">
              <a:buNone/>
            </a:pPr>
            <a:r>
              <a:rPr lang="en-US" sz="1000" b="1" dirty="0">
                <a:solidFill>
                  <a:srgbClr val="1C7293"/>
                </a:solidFill>
                <a:latin typeface="Calibri" pitchFamily="34" charset="0"/>
                <a:ea typeface="Calibri" pitchFamily="34" charset="-122"/>
                <a:cs typeface="Calibri" pitchFamily="34" charset="-120"/>
              </a:rPr>
              <a:t>3</a:t>
            </a:r>
            <a:endParaRPr lang="en-US" sz="1000" dirty="0"/>
          </a:p>
        </p:txBody>
      </p:sp>
      <p:sp>
        <p:nvSpPr>
          <p:cNvPr id="8" name="Shape 5"/>
          <p:cNvSpPr/>
          <p:nvPr/>
        </p:nvSpPr>
        <p:spPr>
          <a:xfrm>
            <a:off x="548640" y="457200"/>
            <a:ext cx="155448" cy="457200"/>
          </a:xfrm>
          <a:prstGeom prst="roundRect">
            <a:avLst>
              <a:gd name="adj" fmla="val 17647"/>
            </a:avLst>
          </a:prstGeom>
          <a:solidFill>
            <a:srgbClr val="1C7293"/>
          </a:solidFill>
          <a:ln w="12700">
            <a:solidFill>
              <a:srgbClr val="333333"/>
            </a:solidFill>
            <a:prstDash val="solid"/>
          </a:ln>
        </p:spPr>
      </p:sp>
      <p:sp>
        <p:nvSpPr>
          <p:cNvPr id="9" name="Text 6"/>
          <p:cNvSpPr/>
          <p:nvPr/>
        </p:nvSpPr>
        <p:spPr>
          <a:xfrm>
            <a:off x="877824" y="365760"/>
            <a:ext cx="10735056" cy="713232"/>
          </a:xfrm>
          <a:prstGeom prst="rect">
            <a:avLst/>
          </a:prstGeom>
          <a:noFill/>
          <a:ln/>
        </p:spPr>
        <p:txBody>
          <a:bodyPr wrap="square" lIns="0" tIns="0" rIns="0" bIns="0" rtlCol="0" anchor="ctr"/>
          <a:lstStyle/>
          <a:p>
            <a:pPr indent="0" marL="0">
              <a:buNone/>
            </a:pPr>
            <a:r>
              <a:rPr lang="en-US" sz="2900" b="1" dirty="0">
                <a:solidFill>
                  <a:srgbClr val="1A2430"/>
                </a:solidFill>
                <a:latin typeface="Cambria" pitchFamily="34" charset="0"/>
                <a:ea typeface="Cambria" pitchFamily="34" charset="-122"/>
                <a:cs typeface="Cambria" pitchFamily="34" charset="-120"/>
              </a:rPr>
              <a:t>Nội dung trình bày</a:t>
            </a:r>
            <a:endParaRPr lang="en-US" sz="2900" dirty="0"/>
          </a:p>
        </p:txBody>
      </p:sp>
      <p:sp>
        <p:nvSpPr>
          <p:cNvPr id="10" name="Shape 7"/>
          <p:cNvSpPr/>
          <p:nvPr/>
        </p:nvSpPr>
        <p:spPr>
          <a:xfrm>
            <a:off x="548640" y="1481328"/>
            <a:ext cx="5394960" cy="1371600"/>
          </a:xfrm>
          <a:prstGeom prst="roundRect">
            <a:avLst>
              <a:gd name="adj" fmla="val 6667"/>
            </a:avLst>
          </a:prstGeom>
          <a:solidFill>
            <a:srgbClr val="F4F7FA"/>
          </a:solidFill>
          <a:ln w="12700">
            <a:solidFill>
              <a:srgbClr val="E6ECF2"/>
            </a:solidFill>
            <a:prstDash val="solid"/>
          </a:ln>
          <a:effectLst>
            <a:outerShdw sx="100000" sy="100000" kx="0" ky="0" algn="bl" rotWithShape="0" blurRad="114300" dist="25400" dir="5400000">
              <a:srgbClr val="9FB0C0">
                <a:alpha val="22000"/>
              </a:srgbClr>
            </a:outerShdw>
          </a:effectLst>
        </p:spPr>
      </p:sp>
      <p:sp>
        <p:nvSpPr>
          <p:cNvPr id="11" name="Shape 8"/>
          <p:cNvSpPr/>
          <p:nvPr/>
        </p:nvSpPr>
        <p:spPr>
          <a:xfrm>
            <a:off x="548640" y="1481328"/>
            <a:ext cx="137160" cy="1371600"/>
          </a:xfrm>
          <a:prstGeom prst="roundRect">
            <a:avLst>
              <a:gd name="adj" fmla="val 33333"/>
            </a:avLst>
          </a:prstGeom>
          <a:solidFill>
            <a:srgbClr val="1C7293"/>
          </a:solidFill>
          <a:ln w="12700">
            <a:solidFill>
              <a:srgbClr val="333333"/>
            </a:solidFill>
            <a:prstDash val="solid"/>
          </a:ln>
        </p:spPr>
      </p:sp>
      <p:sp>
        <p:nvSpPr>
          <p:cNvPr id="12" name="Shape 9"/>
          <p:cNvSpPr/>
          <p:nvPr/>
        </p:nvSpPr>
        <p:spPr>
          <a:xfrm>
            <a:off x="877824" y="1911096"/>
            <a:ext cx="512064" cy="512064"/>
          </a:xfrm>
          <a:prstGeom prst="ellipse">
            <a:avLst/>
          </a:prstGeom>
          <a:solidFill>
            <a:srgbClr val="1C7293"/>
          </a:solidFill>
          <a:ln w="12700">
            <a:solidFill>
              <a:srgbClr val="333333"/>
            </a:solidFill>
            <a:prstDash val="solid"/>
          </a:ln>
          <a:effectLst>
            <a:outerShdw sx="100000" sy="100000" kx="0" ky="0" algn="bl" rotWithShape="0" blurRad="63500" dist="12700" dir="5400000">
              <a:srgbClr val="1C7293">
                <a:alpha val="35000"/>
              </a:srgbClr>
            </a:outerShdw>
          </a:effectLst>
        </p:spPr>
      </p:sp>
      <p:sp>
        <p:nvSpPr>
          <p:cNvPr id="13" name="Text 10"/>
          <p:cNvSpPr/>
          <p:nvPr/>
        </p:nvSpPr>
        <p:spPr>
          <a:xfrm>
            <a:off x="877824" y="1911096"/>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4" name="Text 11"/>
          <p:cNvSpPr/>
          <p:nvPr/>
        </p:nvSpPr>
        <p:spPr>
          <a:xfrm>
            <a:off x="1627632" y="1719072"/>
            <a:ext cx="4206240" cy="457200"/>
          </a:xfrm>
          <a:prstGeom prst="rect">
            <a:avLst/>
          </a:prstGeom>
          <a:noFill/>
          <a:ln/>
        </p:spPr>
        <p:txBody>
          <a:bodyPr wrap="square" lIns="0" tIns="0" rIns="0" bIns="0" rtlCol="0" anchor="ctr"/>
          <a:lstStyle/>
          <a:p>
            <a:pPr indent="0" marL="0">
              <a:buNone/>
            </a:pPr>
            <a:r>
              <a:rPr lang="en-US" sz="1700" b="1" dirty="0">
                <a:solidFill>
                  <a:srgbClr val="1C7293"/>
                </a:solidFill>
                <a:latin typeface="Cambria" pitchFamily="34" charset="0"/>
                <a:ea typeface="Cambria" pitchFamily="34" charset="-122"/>
                <a:cs typeface="Cambria" pitchFamily="34" charset="-120"/>
              </a:rPr>
              <a:t>Giới thiệu &amp; định vị đề tài</a:t>
            </a:r>
            <a:endParaRPr lang="en-US" sz="1700" dirty="0"/>
          </a:p>
        </p:txBody>
      </p:sp>
      <p:sp>
        <p:nvSpPr>
          <p:cNvPr id="15" name="Text 12"/>
          <p:cNvSpPr/>
          <p:nvPr/>
        </p:nvSpPr>
        <p:spPr>
          <a:xfrm>
            <a:off x="1627632" y="2212848"/>
            <a:ext cx="4206240" cy="502920"/>
          </a:xfrm>
          <a:prstGeom prst="rect">
            <a:avLst/>
          </a:prstGeom>
          <a:noFill/>
          <a:ln/>
        </p:spPr>
        <p:txBody>
          <a:bodyPr wrap="square" lIns="0" tIns="0" rIns="0" bIns="0" rtlCol="0" anchor="t"/>
          <a:lstStyle/>
          <a:p>
            <a:pPr indent="0" marL="0">
              <a:buNone/>
            </a:pPr>
            <a:r>
              <a:rPr lang="en-US" sz="1300" dirty="0">
                <a:solidFill>
                  <a:srgbClr val="5A6B7D"/>
                </a:solidFill>
                <a:latin typeface="Calibri" pitchFamily="34" charset="0"/>
                <a:ea typeface="Calibri" pitchFamily="34" charset="-122"/>
                <a:cs typeface="Calibri" pitchFamily="34" charset="-120"/>
              </a:rPr>
              <a:t>Vấn đề, câu hỏi nghiên cứu, đóng góp</a:t>
            </a:r>
            <a:endParaRPr lang="en-US" sz="1300" dirty="0"/>
          </a:p>
        </p:txBody>
      </p:sp>
      <p:sp>
        <p:nvSpPr>
          <p:cNvPr id="16" name="Shape 13"/>
          <p:cNvSpPr/>
          <p:nvPr/>
        </p:nvSpPr>
        <p:spPr>
          <a:xfrm>
            <a:off x="6217920" y="1481328"/>
            <a:ext cx="5394960" cy="1371600"/>
          </a:xfrm>
          <a:prstGeom prst="roundRect">
            <a:avLst>
              <a:gd name="adj" fmla="val 6667"/>
            </a:avLst>
          </a:prstGeom>
          <a:solidFill>
            <a:srgbClr val="F4F7FA"/>
          </a:solidFill>
          <a:ln w="12700">
            <a:solidFill>
              <a:srgbClr val="E6ECF2"/>
            </a:solidFill>
            <a:prstDash val="solid"/>
          </a:ln>
          <a:effectLst>
            <a:outerShdw sx="100000" sy="100000" kx="0" ky="0" algn="bl" rotWithShape="0" blurRad="114300" dist="25400" dir="5400000">
              <a:srgbClr val="9FB0C0">
                <a:alpha val="22000"/>
              </a:srgbClr>
            </a:outerShdw>
          </a:effectLst>
        </p:spPr>
      </p:sp>
      <p:sp>
        <p:nvSpPr>
          <p:cNvPr id="17" name="Shape 14"/>
          <p:cNvSpPr/>
          <p:nvPr/>
        </p:nvSpPr>
        <p:spPr>
          <a:xfrm>
            <a:off x="6217920" y="1481328"/>
            <a:ext cx="137160" cy="1371600"/>
          </a:xfrm>
          <a:prstGeom prst="roundRect">
            <a:avLst>
              <a:gd name="adj" fmla="val 33333"/>
            </a:avLst>
          </a:prstGeom>
          <a:solidFill>
            <a:srgbClr val="1E5F8C"/>
          </a:solidFill>
          <a:ln w="12700">
            <a:solidFill>
              <a:srgbClr val="333333"/>
            </a:solidFill>
            <a:prstDash val="solid"/>
          </a:ln>
        </p:spPr>
      </p:sp>
      <p:sp>
        <p:nvSpPr>
          <p:cNvPr id="18" name="Shape 15"/>
          <p:cNvSpPr/>
          <p:nvPr/>
        </p:nvSpPr>
        <p:spPr>
          <a:xfrm>
            <a:off x="6547104" y="1911096"/>
            <a:ext cx="512064" cy="512064"/>
          </a:xfrm>
          <a:prstGeom prst="ellipse">
            <a:avLst/>
          </a:prstGeom>
          <a:solidFill>
            <a:srgbClr val="1E5F8C"/>
          </a:solidFill>
          <a:ln w="12700">
            <a:solidFill>
              <a:srgbClr val="333333"/>
            </a:solidFill>
            <a:prstDash val="solid"/>
          </a:ln>
          <a:effectLst>
            <a:outerShdw sx="100000" sy="100000" kx="0" ky="0" algn="bl" rotWithShape="0" blurRad="63500" dist="12700" dir="5400000">
              <a:srgbClr val="1E5F8C">
                <a:alpha val="35000"/>
              </a:srgbClr>
            </a:outerShdw>
          </a:effectLst>
        </p:spPr>
      </p:sp>
      <p:sp>
        <p:nvSpPr>
          <p:cNvPr id="19" name="Text 16"/>
          <p:cNvSpPr/>
          <p:nvPr/>
        </p:nvSpPr>
        <p:spPr>
          <a:xfrm>
            <a:off x="6547104" y="1911096"/>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0" name="Text 17"/>
          <p:cNvSpPr/>
          <p:nvPr/>
        </p:nvSpPr>
        <p:spPr>
          <a:xfrm>
            <a:off x="7296912" y="1719072"/>
            <a:ext cx="4206240" cy="457200"/>
          </a:xfrm>
          <a:prstGeom prst="rect">
            <a:avLst/>
          </a:prstGeom>
          <a:noFill/>
          <a:ln/>
        </p:spPr>
        <p:txBody>
          <a:bodyPr wrap="square" lIns="0" tIns="0" rIns="0" bIns="0" rtlCol="0" anchor="ctr"/>
          <a:lstStyle/>
          <a:p>
            <a:pPr indent="0" marL="0">
              <a:buNone/>
            </a:pPr>
            <a:r>
              <a:rPr lang="en-US" sz="1700" b="1" dirty="0">
                <a:solidFill>
                  <a:srgbClr val="1E5F8C"/>
                </a:solidFill>
                <a:latin typeface="Cambria" pitchFamily="34" charset="0"/>
                <a:ea typeface="Cambria" pitchFamily="34" charset="-122"/>
                <a:cs typeface="Cambria" pitchFamily="34" charset="-120"/>
              </a:rPr>
              <a:t>Dữ liệu &amp; phương pháp</a:t>
            </a:r>
            <a:endParaRPr lang="en-US" sz="1700" dirty="0"/>
          </a:p>
        </p:txBody>
      </p:sp>
      <p:sp>
        <p:nvSpPr>
          <p:cNvPr id="21" name="Text 18"/>
          <p:cNvSpPr/>
          <p:nvPr/>
        </p:nvSpPr>
        <p:spPr>
          <a:xfrm>
            <a:off x="7296912" y="2212848"/>
            <a:ext cx="4206240" cy="502920"/>
          </a:xfrm>
          <a:prstGeom prst="rect">
            <a:avLst/>
          </a:prstGeom>
          <a:noFill/>
          <a:ln/>
        </p:spPr>
        <p:txBody>
          <a:bodyPr wrap="square" lIns="0" tIns="0" rIns="0" bIns="0" rtlCol="0" anchor="t"/>
          <a:lstStyle/>
          <a:p>
            <a:pPr indent="0" marL="0">
              <a:buNone/>
            </a:pPr>
            <a:r>
              <a:rPr lang="en-US" sz="1300" dirty="0">
                <a:solidFill>
                  <a:srgbClr val="5A6B7D"/>
                </a:solidFill>
                <a:latin typeface="Calibri" pitchFamily="34" charset="0"/>
                <a:ea typeface="Calibri" pitchFamily="34" charset="-122"/>
                <a:cs typeface="Calibri" pitchFamily="34" charset="-120"/>
              </a:rPr>
              <a:t>Bộ dữ liệu, công cụ đo YOLOv8, quy trình 3 bước</a:t>
            </a:r>
            <a:endParaRPr lang="en-US" sz="1300" dirty="0"/>
          </a:p>
        </p:txBody>
      </p:sp>
      <p:sp>
        <p:nvSpPr>
          <p:cNvPr id="22" name="Shape 19"/>
          <p:cNvSpPr/>
          <p:nvPr/>
        </p:nvSpPr>
        <p:spPr>
          <a:xfrm>
            <a:off x="548640" y="3127248"/>
            <a:ext cx="5394960" cy="1371600"/>
          </a:xfrm>
          <a:prstGeom prst="roundRect">
            <a:avLst>
              <a:gd name="adj" fmla="val 6667"/>
            </a:avLst>
          </a:prstGeom>
          <a:solidFill>
            <a:srgbClr val="F4F7FA"/>
          </a:solidFill>
          <a:ln w="12700">
            <a:solidFill>
              <a:srgbClr val="E6ECF2"/>
            </a:solidFill>
            <a:prstDash val="solid"/>
          </a:ln>
          <a:effectLst>
            <a:outerShdw sx="100000" sy="100000" kx="0" ky="0" algn="bl" rotWithShape="0" blurRad="114300" dist="25400" dir="5400000">
              <a:srgbClr val="9FB0C0">
                <a:alpha val="22000"/>
              </a:srgbClr>
            </a:outerShdw>
          </a:effectLst>
        </p:spPr>
      </p:sp>
      <p:sp>
        <p:nvSpPr>
          <p:cNvPr id="23" name="Shape 20"/>
          <p:cNvSpPr/>
          <p:nvPr/>
        </p:nvSpPr>
        <p:spPr>
          <a:xfrm>
            <a:off x="548640" y="3127248"/>
            <a:ext cx="137160" cy="1371600"/>
          </a:xfrm>
          <a:prstGeom prst="roundRect">
            <a:avLst>
              <a:gd name="adj" fmla="val 33333"/>
            </a:avLst>
          </a:prstGeom>
          <a:solidFill>
            <a:srgbClr val="F4A261"/>
          </a:solidFill>
          <a:ln w="12700">
            <a:solidFill>
              <a:srgbClr val="333333"/>
            </a:solidFill>
            <a:prstDash val="solid"/>
          </a:ln>
        </p:spPr>
      </p:sp>
      <p:sp>
        <p:nvSpPr>
          <p:cNvPr id="24" name="Shape 21"/>
          <p:cNvSpPr/>
          <p:nvPr/>
        </p:nvSpPr>
        <p:spPr>
          <a:xfrm>
            <a:off x="877824" y="3557016"/>
            <a:ext cx="512064" cy="512064"/>
          </a:xfrm>
          <a:prstGeom prst="ellipse">
            <a:avLst/>
          </a:prstGeom>
          <a:solidFill>
            <a:srgbClr val="F4A261"/>
          </a:solidFill>
          <a:ln w="12700">
            <a:solidFill>
              <a:srgbClr val="333333"/>
            </a:solidFill>
            <a:prstDash val="solid"/>
          </a:ln>
          <a:effectLst>
            <a:outerShdw sx="100000" sy="100000" kx="0" ky="0" algn="bl" rotWithShape="0" blurRad="63500" dist="12700" dir="5400000">
              <a:srgbClr val="F4A261">
                <a:alpha val="35000"/>
              </a:srgbClr>
            </a:outerShdw>
          </a:effectLst>
        </p:spPr>
      </p:sp>
      <p:sp>
        <p:nvSpPr>
          <p:cNvPr id="25" name="Text 22"/>
          <p:cNvSpPr/>
          <p:nvPr/>
        </p:nvSpPr>
        <p:spPr>
          <a:xfrm>
            <a:off x="877824" y="3557016"/>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a:t>
            </a:r>
            <a:endParaRPr lang="en-US" sz="1500" dirty="0"/>
          </a:p>
        </p:txBody>
      </p:sp>
      <p:sp>
        <p:nvSpPr>
          <p:cNvPr id="26" name="Text 23"/>
          <p:cNvSpPr/>
          <p:nvPr/>
        </p:nvSpPr>
        <p:spPr>
          <a:xfrm>
            <a:off x="1627632" y="3364992"/>
            <a:ext cx="4206240" cy="457200"/>
          </a:xfrm>
          <a:prstGeom prst="rect">
            <a:avLst/>
          </a:prstGeom>
          <a:noFill/>
          <a:ln/>
        </p:spPr>
        <p:txBody>
          <a:bodyPr wrap="square" lIns="0" tIns="0" rIns="0" bIns="0" rtlCol="0" anchor="ctr"/>
          <a:lstStyle/>
          <a:p>
            <a:pPr indent="0" marL="0">
              <a:buNone/>
            </a:pPr>
            <a:r>
              <a:rPr lang="en-US" sz="1700" b="1" dirty="0">
                <a:solidFill>
                  <a:srgbClr val="B5651D"/>
                </a:solidFill>
                <a:latin typeface="Cambria" pitchFamily="34" charset="0"/>
                <a:ea typeface="Cambria" pitchFamily="34" charset="-122"/>
                <a:cs typeface="Cambria" pitchFamily="34" charset="-120"/>
              </a:rPr>
              <a:t>Rò rỉ dữ liệu</a:t>
            </a:r>
            <a:endParaRPr lang="en-US" sz="1700" dirty="0"/>
          </a:p>
        </p:txBody>
      </p:sp>
      <p:sp>
        <p:nvSpPr>
          <p:cNvPr id="27" name="Text 24"/>
          <p:cNvSpPr/>
          <p:nvPr/>
        </p:nvSpPr>
        <p:spPr>
          <a:xfrm>
            <a:off x="1627632" y="3858768"/>
            <a:ext cx="4206240" cy="502920"/>
          </a:xfrm>
          <a:prstGeom prst="rect">
            <a:avLst/>
          </a:prstGeom>
          <a:noFill/>
          <a:ln/>
        </p:spPr>
        <p:txBody>
          <a:bodyPr wrap="square" lIns="0" tIns="0" rIns="0" bIns="0" rtlCol="0" anchor="t"/>
          <a:lstStyle/>
          <a:p>
            <a:pPr indent="0" marL="0">
              <a:buNone/>
            </a:pPr>
            <a:r>
              <a:rPr lang="en-US" sz="1300" dirty="0">
                <a:solidFill>
                  <a:srgbClr val="5A6B7D"/>
                </a:solidFill>
                <a:latin typeface="Calibri" pitchFamily="34" charset="0"/>
                <a:ea typeface="Calibri" pitchFamily="34" charset="-122"/>
                <a:cs typeface="Calibri" pitchFamily="34" charset="-120"/>
              </a:rPr>
              <a:t>mAP 0,97 đáng tin đến đâu?</a:t>
            </a:r>
            <a:endParaRPr lang="en-US" sz="1300" dirty="0"/>
          </a:p>
        </p:txBody>
      </p:sp>
      <p:sp>
        <p:nvSpPr>
          <p:cNvPr id="28" name="Shape 25"/>
          <p:cNvSpPr/>
          <p:nvPr/>
        </p:nvSpPr>
        <p:spPr>
          <a:xfrm>
            <a:off x="6217920" y="3127248"/>
            <a:ext cx="5394960" cy="1371600"/>
          </a:xfrm>
          <a:prstGeom prst="roundRect">
            <a:avLst>
              <a:gd name="adj" fmla="val 6667"/>
            </a:avLst>
          </a:prstGeom>
          <a:solidFill>
            <a:srgbClr val="F4F7FA"/>
          </a:solidFill>
          <a:ln w="12700">
            <a:solidFill>
              <a:srgbClr val="E6ECF2"/>
            </a:solidFill>
            <a:prstDash val="solid"/>
          </a:ln>
          <a:effectLst>
            <a:outerShdw sx="100000" sy="100000" kx="0" ky="0" algn="bl" rotWithShape="0" blurRad="114300" dist="25400" dir="5400000">
              <a:srgbClr val="9FB0C0">
                <a:alpha val="22000"/>
              </a:srgbClr>
            </a:outerShdw>
          </a:effectLst>
        </p:spPr>
      </p:sp>
      <p:sp>
        <p:nvSpPr>
          <p:cNvPr id="29" name="Shape 26"/>
          <p:cNvSpPr/>
          <p:nvPr/>
        </p:nvSpPr>
        <p:spPr>
          <a:xfrm>
            <a:off x="6217920" y="3127248"/>
            <a:ext cx="137160" cy="1371600"/>
          </a:xfrm>
          <a:prstGeom prst="roundRect">
            <a:avLst>
              <a:gd name="adj" fmla="val 33333"/>
            </a:avLst>
          </a:prstGeom>
          <a:solidFill>
            <a:srgbClr val="E63946"/>
          </a:solidFill>
          <a:ln w="12700">
            <a:solidFill>
              <a:srgbClr val="333333"/>
            </a:solidFill>
            <a:prstDash val="solid"/>
          </a:ln>
        </p:spPr>
      </p:sp>
      <p:sp>
        <p:nvSpPr>
          <p:cNvPr id="30" name="Shape 27"/>
          <p:cNvSpPr/>
          <p:nvPr/>
        </p:nvSpPr>
        <p:spPr>
          <a:xfrm>
            <a:off x="6547104" y="3557016"/>
            <a:ext cx="512064" cy="512064"/>
          </a:xfrm>
          <a:prstGeom prst="ellipse">
            <a:avLst/>
          </a:prstGeom>
          <a:solidFill>
            <a:srgbClr val="E63946"/>
          </a:solidFill>
          <a:ln w="12700">
            <a:solidFill>
              <a:srgbClr val="333333"/>
            </a:solidFill>
            <a:prstDash val="solid"/>
          </a:ln>
          <a:effectLst>
            <a:outerShdw sx="100000" sy="100000" kx="0" ky="0" algn="bl" rotWithShape="0" blurRad="63500" dist="12700" dir="5400000">
              <a:srgbClr val="E63946">
                <a:alpha val="35000"/>
              </a:srgbClr>
            </a:outerShdw>
          </a:effectLst>
        </p:spPr>
      </p:sp>
      <p:sp>
        <p:nvSpPr>
          <p:cNvPr id="31" name="Text 28"/>
          <p:cNvSpPr/>
          <p:nvPr/>
        </p:nvSpPr>
        <p:spPr>
          <a:xfrm>
            <a:off x="6547104" y="3557016"/>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B</a:t>
            </a:r>
            <a:endParaRPr lang="en-US" sz="1500" dirty="0"/>
          </a:p>
        </p:txBody>
      </p:sp>
      <p:sp>
        <p:nvSpPr>
          <p:cNvPr id="32" name="Text 29"/>
          <p:cNvSpPr/>
          <p:nvPr/>
        </p:nvSpPr>
        <p:spPr>
          <a:xfrm>
            <a:off x="7296912" y="3364992"/>
            <a:ext cx="4206240" cy="457200"/>
          </a:xfrm>
          <a:prstGeom prst="rect">
            <a:avLst/>
          </a:prstGeom>
          <a:noFill/>
          <a:ln/>
        </p:spPr>
        <p:txBody>
          <a:bodyPr wrap="square" lIns="0" tIns="0" rIns="0" bIns="0" rtlCol="0" anchor="ctr"/>
          <a:lstStyle/>
          <a:p>
            <a:pPr indent="0" marL="0">
              <a:buNone/>
            </a:pPr>
            <a:r>
              <a:rPr lang="en-US" sz="1700" b="1" dirty="0">
                <a:solidFill>
                  <a:srgbClr val="E63946"/>
                </a:solidFill>
                <a:latin typeface="Cambria" pitchFamily="34" charset="0"/>
                <a:ea typeface="Cambria" pitchFamily="34" charset="-122"/>
                <a:cs typeface="Cambria" pitchFamily="34" charset="-120"/>
              </a:rPr>
              <a:t>Khoảng cách đèn – biển</a:t>
            </a:r>
            <a:endParaRPr lang="en-US" sz="1700" dirty="0"/>
          </a:p>
        </p:txBody>
      </p:sp>
      <p:sp>
        <p:nvSpPr>
          <p:cNvPr id="33" name="Text 30"/>
          <p:cNvSpPr/>
          <p:nvPr/>
        </p:nvSpPr>
        <p:spPr>
          <a:xfrm>
            <a:off x="7296912" y="3858768"/>
            <a:ext cx="4206240" cy="502920"/>
          </a:xfrm>
          <a:prstGeom prst="rect">
            <a:avLst/>
          </a:prstGeom>
          <a:noFill/>
          <a:ln/>
        </p:spPr>
        <p:txBody>
          <a:bodyPr wrap="square" lIns="0" tIns="0" rIns="0" bIns="0" rtlCol="0" anchor="t"/>
          <a:lstStyle/>
          <a:p>
            <a:pPr indent="0" marL="0">
              <a:buNone/>
            </a:pPr>
            <a:r>
              <a:rPr lang="en-US" sz="1300" dirty="0">
                <a:solidFill>
                  <a:srgbClr val="5A6B7D"/>
                </a:solidFill>
                <a:latin typeface="Calibri" pitchFamily="34" charset="0"/>
                <a:ea typeface="Calibri" pitchFamily="34" charset="-122"/>
                <a:cs typeface="Calibri" pitchFamily="34" charset="-120"/>
              </a:rPr>
              <a:t>Hiệu năng có đồng đều giữa các lớp?</a:t>
            </a:r>
            <a:endParaRPr lang="en-US" sz="1300" dirty="0"/>
          </a:p>
        </p:txBody>
      </p:sp>
      <p:sp>
        <p:nvSpPr>
          <p:cNvPr id="34" name="Shape 31"/>
          <p:cNvSpPr/>
          <p:nvPr/>
        </p:nvSpPr>
        <p:spPr>
          <a:xfrm>
            <a:off x="548640" y="4773168"/>
            <a:ext cx="5394960" cy="1371600"/>
          </a:xfrm>
          <a:prstGeom prst="roundRect">
            <a:avLst>
              <a:gd name="adj" fmla="val 6667"/>
            </a:avLst>
          </a:prstGeom>
          <a:solidFill>
            <a:srgbClr val="F4F7FA"/>
          </a:solidFill>
          <a:ln w="12700">
            <a:solidFill>
              <a:srgbClr val="E6ECF2"/>
            </a:solidFill>
            <a:prstDash val="solid"/>
          </a:ln>
          <a:effectLst>
            <a:outerShdw sx="100000" sy="100000" kx="0" ky="0" algn="bl" rotWithShape="0" blurRad="114300" dist="25400" dir="5400000">
              <a:srgbClr val="9FB0C0">
                <a:alpha val="22000"/>
              </a:srgbClr>
            </a:outerShdw>
          </a:effectLst>
        </p:spPr>
      </p:sp>
      <p:sp>
        <p:nvSpPr>
          <p:cNvPr id="35" name="Shape 32"/>
          <p:cNvSpPr/>
          <p:nvPr/>
        </p:nvSpPr>
        <p:spPr>
          <a:xfrm>
            <a:off x="548640" y="4773168"/>
            <a:ext cx="137160" cy="1371600"/>
          </a:xfrm>
          <a:prstGeom prst="roundRect">
            <a:avLst>
              <a:gd name="adj" fmla="val 33333"/>
            </a:avLst>
          </a:prstGeom>
          <a:solidFill>
            <a:srgbClr val="2C7A4B"/>
          </a:solidFill>
          <a:ln w="12700">
            <a:solidFill>
              <a:srgbClr val="333333"/>
            </a:solidFill>
            <a:prstDash val="solid"/>
          </a:ln>
        </p:spPr>
      </p:sp>
      <p:sp>
        <p:nvSpPr>
          <p:cNvPr id="36" name="Shape 33"/>
          <p:cNvSpPr/>
          <p:nvPr/>
        </p:nvSpPr>
        <p:spPr>
          <a:xfrm>
            <a:off x="877824" y="5202936"/>
            <a:ext cx="512064" cy="512064"/>
          </a:xfrm>
          <a:prstGeom prst="ellipse">
            <a:avLst/>
          </a:prstGeom>
          <a:solidFill>
            <a:srgbClr val="2C7A4B"/>
          </a:solidFill>
          <a:ln w="12700">
            <a:solidFill>
              <a:srgbClr val="333333"/>
            </a:solidFill>
            <a:prstDash val="solid"/>
          </a:ln>
          <a:effectLst>
            <a:outerShdw sx="100000" sy="100000" kx="0" ky="0" algn="bl" rotWithShape="0" blurRad="63500" dist="12700" dir="5400000">
              <a:srgbClr val="2C7A4B">
                <a:alpha val="35000"/>
              </a:srgbClr>
            </a:outerShdw>
          </a:effectLst>
        </p:spPr>
      </p:sp>
      <p:sp>
        <p:nvSpPr>
          <p:cNvPr id="37" name="Text 34"/>
          <p:cNvSpPr/>
          <p:nvPr/>
        </p:nvSpPr>
        <p:spPr>
          <a:xfrm>
            <a:off x="877824" y="5202936"/>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a:t>
            </a:r>
            <a:endParaRPr lang="en-US" sz="1500" dirty="0"/>
          </a:p>
        </p:txBody>
      </p:sp>
      <p:sp>
        <p:nvSpPr>
          <p:cNvPr id="38" name="Text 35"/>
          <p:cNvSpPr/>
          <p:nvPr/>
        </p:nvSpPr>
        <p:spPr>
          <a:xfrm>
            <a:off x="1627632" y="5010912"/>
            <a:ext cx="4206240" cy="457200"/>
          </a:xfrm>
          <a:prstGeom prst="rect">
            <a:avLst/>
          </a:prstGeom>
          <a:noFill/>
          <a:ln/>
        </p:spPr>
        <p:txBody>
          <a:bodyPr wrap="square" lIns="0" tIns="0" rIns="0" bIns="0" rtlCol="0" anchor="ctr"/>
          <a:lstStyle/>
          <a:p>
            <a:pPr indent="0" marL="0">
              <a:buNone/>
            </a:pPr>
            <a:r>
              <a:rPr lang="en-US" sz="1700" b="1" dirty="0">
                <a:solidFill>
                  <a:srgbClr val="2C7A4B"/>
                </a:solidFill>
                <a:latin typeface="Cambria" pitchFamily="34" charset="0"/>
                <a:ea typeface="Cambria" pitchFamily="34" charset="-122"/>
                <a:cs typeface="Cambria" pitchFamily="34" charset="-120"/>
              </a:rPr>
              <a:t>Hiếm ≠ khó</a:t>
            </a:r>
            <a:endParaRPr lang="en-US" sz="1700" dirty="0"/>
          </a:p>
        </p:txBody>
      </p:sp>
      <p:sp>
        <p:nvSpPr>
          <p:cNvPr id="39" name="Text 36"/>
          <p:cNvSpPr/>
          <p:nvPr/>
        </p:nvSpPr>
        <p:spPr>
          <a:xfrm>
            <a:off x="1627632" y="5504688"/>
            <a:ext cx="4206240" cy="502920"/>
          </a:xfrm>
          <a:prstGeom prst="rect">
            <a:avLst/>
          </a:prstGeom>
          <a:noFill/>
          <a:ln/>
        </p:spPr>
        <p:txBody>
          <a:bodyPr wrap="square" lIns="0" tIns="0" rIns="0" bIns="0" rtlCol="0" anchor="t"/>
          <a:lstStyle/>
          <a:p>
            <a:pPr indent="0" marL="0">
              <a:buNone/>
            </a:pPr>
            <a:r>
              <a:rPr lang="en-US" sz="1300" dirty="0">
                <a:solidFill>
                  <a:srgbClr val="5A6B7D"/>
                </a:solidFill>
                <a:latin typeface="Calibri" pitchFamily="34" charset="0"/>
                <a:ea typeface="Calibri" pitchFamily="34" charset="-122"/>
                <a:cs typeface="Calibri" pitchFamily="34" charset="-120"/>
              </a:rPr>
              <a:t>Nguyên nhân là mất cân bằng hay loại vật thể?</a:t>
            </a:r>
            <a:endParaRPr lang="en-US" sz="1300" dirty="0"/>
          </a:p>
        </p:txBody>
      </p:sp>
      <p:sp>
        <p:nvSpPr>
          <p:cNvPr id="40" name="Shape 37"/>
          <p:cNvSpPr/>
          <p:nvPr/>
        </p:nvSpPr>
        <p:spPr>
          <a:xfrm>
            <a:off x="6217920" y="4773168"/>
            <a:ext cx="5394960" cy="1371600"/>
          </a:xfrm>
          <a:prstGeom prst="roundRect">
            <a:avLst>
              <a:gd name="adj" fmla="val 6667"/>
            </a:avLst>
          </a:prstGeom>
          <a:solidFill>
            <a:srgbClr val="F4F7FA"/>
          </a:solidFill>
          <a:ln w="12700">
            <a:solidFill>
              <a:srgbClr val="E6ECF2"/>
            </a:solidFill>
            <a:prstDash val="solid"/>
          </a:ln>
          <a:effectLst>
            <a:outerShdw sx="100000" sy="100000" kx="0" ky="0" algn="bl" rotWithShape="0" blurRad="114300" dist="25400" dir="5400000">
              <a:srgbClr val="9FB0C0">
                <a:alpha val="22000"/>
              </a:srgbClr>
            </a:outerShdw>
          </a:effectLst>
        </p:spPr>
      </p:sp>
      <p:sp>
        <p:nvSpPr>
          <p:cNvPr id="41" name="Shape 38"/>
          <p:cNvSpPr/>
          <p:nvPr/>
        </p:nvSpPr>
        <p:spPr>
          <a:xfrm>
            <a:off x="6217920" y="4773168"/>
            <a:ext cx="137160" cy="1371600"/>
          </a:xfrm>
          <a:prstGeom prst="roundRect">
            <a:avLst>
              <a:gd name="adj" fmla="val 33333"/>
            </a:avLst>
          </a:prstGeom>
          <a:solidFill>
            <a:srgbClr val="152238"/>
          </a:solidFill>
          <a:ln w="12700">
            <a:solidFill>
              <a:srgbClr val="333333"/>
            </a:solidFill>
            <a:prstDash val="solid"/>
          </a:ln>
        </p:spPr>
      </p:sp>
      <p:sp>
        <p:nvSpPr>
          <p:cNvPr id="42" name="Shape 39"/>
          <p:cNvSpPr/>
          <p:nvPr/>
        </p:nvSpPr>
        <p:spPr>
          <a:xfrm>
            <a:off x="6547104" y="5202936"/>
            <a:ext cx="512064" cy="512064"/>
          </a:xfrm>
          <a:prstGeom prst="ellipse">
            <a:avLst/>
          </a:prstGeom>
          <a:solidFill>
            <a:srgbClr val="152238"/>
          </a:solidFill>
          <a:ln w="12700">
            <a:solidFill>
              <a:srgbClr val="333333"/>
            </a:solidFill>
            <a:prstDash val="solid"/>
          </a:ln>
          <a:effectLst>
            <a:outerShdw sx="100000" sy="100000" kx="0" ky="0" algn="bl" rotWithShape="0" blurRad="63500" dist="12700" dir="5400000">
              <a:srgbClr val="152238">
                <a:alpha val="35000"/>
              </a:srgbClr>
            </a:outerShdw>
          </a:effectLst>
        </p:spPr>
      </p:sp>
      <p:sp>
        <p:nvSpPr>
          <p:cNvPr id="43" name="Text 40"/>
          <p:cNvSpPr/>
          <p:nvPr/>
        </p:nvSpPr>
        <p:spPr>
          <a:xfrm>
            <a:off x="6547104" y="5202936"/>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44" name="Text 41"/>
          <p:cNvSpPr/>
          <p:nvPr/>
        </p:nvSpPr>
        <p:spPr>
          <a:xfrm>
            <a:off x="7296912" y="5010912"/>
            <a:ext cx="4206240" cy="457200"/>
          </a:xfrm>
          <a:prstGeom prst="rect">
            <a:avLst/>
          </a:prstGeom>
          <a:noFill/>
          <a:ln/>
        </p:spPr>
        <p:txBody>
          <a:bodyPr wrap="square" lIns="0" tIns="0" rIns="0" bIns="0" rtlCol="0" anchor="ctr"/>
          <a:lstStyle/>
          <a:p>
            <a:pPr indent="0" marL="0">
              <a:buNone/>
            </a:pPr>
            <a:r>
              <a:rPr lang="en-US" sz="1700" b="1" dirty="0">
                <a:solidFill>
                  <a:srgbClr val="152238"/>
                </a:solidFill>
                <a:latin typeface="Cambria" pitchFamily="34" charset="0"/>
                <a:ea typeface="Cambria" pitchFamily="34" charset="-122"/>
                <a:cs typeface="Cambria" pitchFamily="34" charset="-120"/>
              </a:rPr>
              <a:t>Demo &amp; kết luận</a:t>
            </a:r>
            <a:endParaRPr lang="en-US" sz="1700" dirty="0"/>
          </a:p>
        </p:txBody>
      </p:sp>
      <p:sp>
        <p:nvSpPr>
          <p:cNvPr id="45" name="Text 42"/>
          <p:cNvSpPr/>
          <p:nvPr/>
        </p:nvSpPr>
        <p:spPr>
          <a:xfrm>
            <a:off x="7296912" y="5504688"/>
            <a:ext cx="4206240" cy="502920"/>
          </a:xfrm>
          <a:prstGeom prst="rect">
            <a:avLst/>
          </a:prstGeom>
          <a:noFill/>
          <a:ln/>
        </p:spPr>
        <p:txBody>
          <a:bodyPr wrap="square" lIns="0" tIns="0" rIns="0" bIns="0" rtlCol="0" anchor="t"/>
          <a:lstStyle/>
          <a:p>
            <a:pPr indent="0" marL="0">
              <a:buNone/>
            </a:pPr>
            <a:r>
              <a:rPr lang="en-US" sz="1300" dirty="0">
                <a:solidFill>
                  <a:srgbClr val="5A6B7D"/>
                </a:solidFill>
                <a:latin typeface="Calibri" pitchFamily="34" charset="0"/>
                <a:ea typeface="Calibri" pitchFamily="34" charset="-122"/>
                <a:cs typeface="Calibri" pitchFamily="34" charset="-120"/>
              </a:rPr>
              <a:t>Demo phát hiện trực tiếp, khuyến nghị</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10789920" y="-1234440"/>
            <a:ext cx="2743200" cy="2743200"/>
          </a:xfrm>
          <a:prstGeom prst="ellipse">
            <a:avLst/>
          </a:prstGeom>
          <a:solidFill>
            <a:srgbClr val="EAF1F6"/>
          </a:solidFill>
          <a:ln w="12700">
            <a:solidFill>
              <a:srgbClr val="333333"/>
            </a:solidFill>
            <a:prstDash val="solid"/>
          </a:ln>
        </p:spPr>
      </p:sp>
      <p:sp>
        <p:nvSpPr>
          <p:cNvPr id="4" name="Shape 1"/>
          <p:cNvSpPr/>
          <p:nvPr/>
        </p:nvSpPr>
        <p:spPr>
          <a:xfrm>
            <a:off x="11475720" y="182880"/>
            <a:ext cx="822960" cy="822960"/>
          </a:xfrm>
          <a:prstGeom prst="ellipse">
            <a:avLst/>
          </a:prstGeom>
          <a:solidFill>
            <a:srgbClr val="DCE8F0"/>
          </a:solidFill>
          <a:ln w="12700">
            <a:solidFill>
              <a:srgbClr val="333333"/>
            </a:solidFill>
            <a:prstDash val="solid"/>
          </a:ln>
        </p:spPr>
      </p:sp>
      <p:sp>
        <p:nvSpPr>
          <p:cNvPr id="5" name="Shape 2"/>
          <p:cNvSpPr/>
          <p:nvPr/>
        </p:nvSpPr>
        <p:spPr>
          <a:xfrm>
            <a:off x="548640" y="6382512"/>
            <a:ext cx="11064240" cy="0"/>
          </a:xfrm>
          <a:prstGeom prst="line">
            <a:avLst/>
          </a:prstGeom>
          <a:noFill/>
          <a:ln w="12700">
            <a:solidFill>
              <a:srgbClr val="DDE3EA"/>
            </a:solidFill>
            <a:prstDash val="solid"/>
          </a:ln>
        </p:spPr>
      </p:sp>
      <p:sp>
        <p:nvSpPr>
          <p:cNvPr id="6" name="Text 3"/>
          <p:cNvSpPr/>
          <p:nvPr/>
        </p:nvSpPr>
        <p:spPr>
          <a:xfrm>
            <a:off x="548640" y="6419088"/>
            <a:ext cx="8686800" cy="274320"/>
          </a:xfrm>
          <a:prstGeom prst="rect">
            <a:avLst/>
          </a:prstGeom>
          <a:noFill/>
          <a:ln/>
        </p:spPr>
        <p:txBody>
          <a:bodyPr wrap="square" lIns="0" tIns="0" rIns="0" bIns="0" rtlCol="0" anchor="ctr"/>
          <a:lstStyle/>
          <a:p>
            <a:pPr indent="0" marL="0">
              <a:buNone/>
            </a:pPr>
            <a:r>
              <a:rPr lang="en-US" sz="900" dirty="0">
                <a:solidFill>
                  <a:srgbClr val="9AA7B4"/>
                </a:solidFill>
                <a:latin typeface="Calibri" pitchFamily="34" charset="0"/>
                <a:ea typeface="Calibri" pitchFamily="34" charset="-122"/>
                <a:cs typeface="Calibri" pitchFamily="34" charset="-120"/>
              </a:rPr>
              <a:t>Kiểm định độ tin cậy YOLOv8 · Nhóm KHMT836016/34/36</a:t>
            </a:r>
            <a:endParaRPr lang="en-US" sz="900" dirty="0"/>
          </a:p>
        </p:txBody>
      </p:sp>
      <p:sp>
        <p:nvSpPr>
          <p:cNvPr id="7" name="Text 4"/>
          <p:cNvSpPr/>
          <p:nvPr/>
        </p:nvSpPr>
        <p:spPr>
          <a:xfrm>
            <a:off x="11064240" y="6419088"/>
            <a:ext cx="548640" cy="274320"/>
          </a:xfrm>
          <a:prstGeom prst="rect">
            <a:avLst/>
          </a:prstGeom>
          <a:noFill/>
          <a:ln/>
        </p:spPr>
        <p:txBody>
          <a:bodyPr wrap="square" lIns="0" tIns="0" rIns="0" bIns="0" rtlCol="0" anchor="ctr"/>
          <a:lstStyle/>
          <a:p>
            <a:pPr algn="r" indent="0" marL="0">
              <a:buNone/>
            </a:pPr>
            <a:r>
              <a:rPr lang="en-US" sz="1000" b="1" dirty="0">
                <a:solidFill>
                  <a:srgbClr val="1C7293"/>
                </a:solidFill>
                <a:latin typeface="Calibri" pitchFamily="34" charset="0"/>
                <a:ea typeface="Calibri" pitchFamily="34" charset="-122"/>
                <a:cs typeface="Calibri" pitchFamily="34" charset="-120"/>
              </a:rPr>
              <a:t>4</a:t>
            </a:r>
            <a:endParaRPr lang="en-US" sz="1000" dirty="0"/>
          </a:p>
        </p:txBody>
      </p:sp>
      <p:sp>
        <p:nvSpPr>
          <p:cNvPr id="8" name="Shape 5"/>
          <p:cNvSpPr/>
          <p:nvPr/>
        </p:nvSpPr>
        <p:spPr>
          <a:xfrm>
            <a:off x="548640" y="457200"/>
            <a:ext cx="155448" cy="457200"/>
          </a:xfrm>
          <a:prstGeom prst="roundRect">
            <a:avLst>
              <a:gd name="adj" fmla="val 17647"/>
            </a:avLst>
          </a:prstGeom>
          <a:solidFill>
            <a:srgbClr val="1C7293"/>
          </a:solidFill>
          <a:ln w="12700">
            <a:solidFill>
              <a:srgbClr val="333333"/>
            </a:solidFill>
            <a:prstDash val="solid"/>
          </a:ln>
        </p:spPr>
      </p:sp>
      <p:sp>
        <p:nvSpPr>
          <p:cNvPr id="9" name="Text 6"/>
          <p:cNvSpPr/>
          <p:nvPr/>
        </p:nvSpPr>
        <p:spPr>
          <a:xfrm>
            <a:off x="877824" y="365760"/>
            <a:ext cx="10735056" cy="713232"/>
          </a:xfrm>
          <a:prstGeom prst="rect">
            <a:avLst/>
          </a:prstGeom>
          <a:noFill/>
          <a:ln/>
        </p:spPr>
        <p:txBody>
          <a:bodyPr wrap="square" lIns="0" tIns="0" rIns="0" bIns="0" rtlCol="0" anchor="ctr"/>
          <a:lstStyle/>
          <a:p>
            <a:pPr indent="0" marL="0">
              <a:buNone/>
            </a:pPr>
            <a:r>
              <a:rPr lang="en-US" sz="2900" b="1" dirty="0">
                <a:solidFill>
                  <a:srgbClr val="1A2430"/>
                </a:solidFill>
                <a:latin typeface="Cambria" pitchFamily="34" charset="0"/>
                <a:ea typeface="Cambria" pitchFamily="34" charset="-122"/>
                <a:cs typeface="Cambria" pitchFamily="34" charset="-120"/>
              </a:rPr>
              <a:t>Bối cảnh: bài toán phát hiện biển báo</a:t>
            </a:r>
            <a:endParaRPr lang="en-US" sz="2900" dirty="0"/>
          </a:p>
        </p:txBody>
      </p:sp>
      <p:sp>
        <p:nvSpPr>
          <p:cNvPr id="10" name="Shape 7"/>
          <p:cNvSpPr/>
          <p:nvPr/>
        </p:nvSpPr>
        <p:spPr>
          <a:xfrm>
            <a:off x="548640" y="1481328"/>
            <a:ext cx="11064240" cy="3593592"/>
          </a:xfrm>
          <a:prstGeom prst="roundRect">
            <a:avLst>
              <a:gd name="adj" fmla="val 2545"/>
            </a:avLst>
          </a:prstGeom>
          <a:solidFill>
            <a:srgbClr val="F7FAFC"/>
          </a:solidFill>
          <a:ln w="12700">
            <a:solidFill>
              <a:srgbClr val="E6ECF2"/>
            </a:solidFill>
            <a:prstDash val="solid"/>
          </a:ln>
          <a:effectLst>
            <a:outerShdw sx="100000" sy="100000" kx="0" ky="0" algn="bl" rotWithShape="0" blurRad="114300" dist="25400" dir="5400000">
              <a:srgbClr val="9FB0C0">
                <a:alpha val="22000"/>
              </a:srgbClr>
            </a:outerShdw>
          </a:effectLst>
        </p:spPr>
      </p:sp>
      <p:sp>
        <p:nvSpPr>
          <p:cNvPr id="11" name="Shape 8"/>
          <p:cNvSpPr/>
          <p:nvPr/>
        </p:nvSpPr>
        <p:spPr>
          <a:xfrm>
            <a:off x="713232" y="1682496"/>
            <a:ext cx="82296" cy="3191256"/>
          </a:xfrm>
          <a:prstGeom prst="roundRect">
            <a:avLst>
              <a:gd name="adj" fmla="val 44444"/>
            </a:avLst>
          </a:prstGeom>
          <a:solidFill>
            <a:srgbClr val="1C7293"/>
          </a:solidFill>
          <a:ln w="12700">
            <a:solidFill>
              <a:srgbClr val="333333"/>
            </a:solidFill>
            <a:prstDash val="solid"/>
          </a:ln>
        </p:spPr>
      </p:sp>
      <p:sp>
        <p:nvSpPr>
          <p:cNvPr id="12" name="Text 9"/>
          <p:cNvSpPr/>
          <p:nvPr/>
        </p:nvSpPr>
        <p:spPr>
          <a:xfrm>
            <a:off x="1115568" y="1572768"/>
            <a:ext cx="10195560" cy="3410712"/>
          </a:xfrm>
          <a:prstGeom prst="rect">
            <a:avLst/>
          </a:prstGeom>
          <a:noFill/>
          <a:ln/>
        </p:spPr>
        <p:txBody>
          <a:bodyPr wrap="square" lIns="0" tIns="0" rIns="0" bIns="0" rtlCol="0" anchor="ctr"/>
          <a:lstStyle/>
          <a:p>
            <a:pPr marL="228600" indent="-228600">
              <a:lnSpc>
                <a:spcPct val="108000"/>
              </a:lnSpc>
              <a:spcAft>
                <a:spcPts val="1400"/>
              </a:spcAft>
              <a:buSzPct val="100000"/>
              <a:buChar char="•"/>
            </a:pPr>
            <a:r>
              <a:rPr lang="en-US" sz="1650" dirty="0">
                <a:solidFill>
                  <a:srgbClr val="1A2430"/>
                </a:solidFill>
                <a:latin typeface="Calibri" pitchFamily="34" charset="0"/>
                <a:ea typeface="Calibri" pitchFamily="34" charset="-122"/>
                <a:cs typeface="Calibri" pitchFamily="34" charset="-120"/>
              </a:rPr>
              <a:t>Phát hiện biển báo và đèn tín hiệu là bài toán nền tảng của hệ hỗ trợ lái và xe tự hành.</a:t>
            </a:r>
            <a:endParaRPr lang="en-US" sz="1650" dirty="0"/>
          </a:p>
          <a:p>
            <a:pPr marL="228600" indent="-228600">
              <a:lnSpc>
                <a:spcPct val="108000"/>
              </a:lnSpc>
              <a:spcAft>
                <a:spcPts val="1400"/>
              </a:spcAft>
              <a:buSzPct val="100000"/>
              <a:buChar char="•"/>
            </a:pPr>
            <a:r>
              <a:rPr lang="en-US" sz="1650" dirty="0">
                <a:solidFill>
                  <a:srgbClr val="1A2430"/>
                </a:solidFill>
                <a:latin typeface="Calibri" pitchFamily="34" charset="0"/>
                <a:ea typeface="Calibri" pitchFamily="34" charset="-122"/>
                <a:cs typeface="Calibri" pitchFamily="34" charset="-120"/>
              </a:rPr>
              <a:t>Với các mô hình hiện đại như YOLOv8, độ chính xác trên bộ dữ liệu chuẩn đã rất cao.</a:t>
            </a:r>
            <a:endParaRPr lang="en-US" sz="1650" dirty="0"/>
          </a:p>
          <a:p>
            <a:pPr marL="228600" indent="-228600">
              <a:lnSpc>
                <a:spcPct val="108000"/>
              </a:lnSpc>
              <a:spcAft>
                <a:spcPts val="1400"/>
              </a:spcAft>
              <a:buSzPct val="100000"/>
              <a:buChar char="•"/>
            </a:pPr>
            <a:r>
              <a:rPr lang="en-US" sz="1650" dirty="0">
                <a:solidFill>
                  <a:srgbClr val="1A2430"/>
                </a:solidFill>
                <a:latin typeface="Calibri" pitchFamily="34" charset="0"/>
                <a:ea typeface="Calibri" pitchFamily="34" charset="-122"/>
                <a:cs typeface="Calibri" pitchFamily="34" charset="-120"/>
              </a:rPr>
              <a:t>Notebook nguồn đạt mAP@0,5 = 0,970 trên tập test — nhìn tổng thể rất tốt.</a:t>
            </a:r>
            <a:endParaRPr lang="en-US" sz="1650" dirty="0"/>
          </a:p>
          <a:p>
            <a:pPr marL="228600" indent="-228600">
              <a:lnSpc>
                <a:spcPct val="108000"/>
              </a:lnSpc>
              <a:spcAft>
                <a:spcPts val="1400"/>
              </a:spcAft>
              <a:buSzPct val="100000"/>
              <a:buChar char="•"/>
            </a:pPr>
            <a:r>
              <a:rPr lang="en-US" sz="1650" dirty="0">
                <a:solidFill>
                  <a:srgbClr val="1A2430"/>
                </a:solidFill>
                <a:latin typeface="Calibri" pitchFamily="34" charset="0"/>
                <a:ea typeface="Calibri" pitchFamily="34" charset="-122"/>
                <a:cs typeface="Calibri" pitchFamily="34" charset="-120"/>
              </a:rPr>
              <a:t>Khi con số tổng đã bão hoà, câu hỏi có giá trị chuyển từ “mô hình nào tốt hơn” sang “con số đó có đáng tin và đồng đều không”.</a:t>
            </a:r>
            <a:endParaRPr lang="en-US" sz="1650" dirty="0"/>
          </a:p>
        </p:txBody>
      </p:sp>
      <p:sp>
        <p:nvSpPr>
          <p:cNvPr id="13" name="Shape 10"/>
          <p:cNvSpPr/>
          <p:nvPr/>
        </p:nvSpPr>
        <p:spPr>
          <a:xfrm>
            <a:off x="548640" y="5230368"/>
            <a:ext cx="11064240" cy="896112"/>
          </a:xfrm>
          <a:prstGeom prst="roundRect">
            <a:avLst>
              <a:gd name="adj" fmla="val 10204"/>
            </a:avLst>
          </a:prstGeom>
          <a:solidFill>
            <a:srgbClr val="152238"/>
          </a:solidFill>
          <a:ln w="12700">
            <a:solidFill>
              <a:srgbClr val="333333"/>
            </a:solidFill>
            <a:prstDash val="solid"/>
          </a:ln>
          <a:effectLst>
            <a:outerShdw sx="100000" sy="100000" kx="0" ky="0" algn="bl" rotWithShape="0" blurRad="101600" dist="25400" dir="5400000">
              <a:srgbClr val="6E7C8A">
                <a:alpha val="30000"/>
              </a:srgbClr>
            </a:outerShdw>
          </a:effectLst>
        </p:spPr>
      </p:sp>
      <p:sp>
        <p:nvSpPr>
          <p:cNvPr id="14" name="Shape 11"/>
          <p:cNvSpPr/>
          <p:nvPr/>
        </p:nvSpPr>
        <p:spPr>
          <a:xfrm>
            <a:off x="804672" y="5596128"/>
            <a:ext cx="164592" cy="164592"/>
          </a:xfrm>
          <a:prstGeom prst="ellipse">
            <a:avLst/>
          </a:prstGeom>
          <a:solidFill>
            <a:srgbClr val="F4A261"/>
          </a:solidFill>
          <a:ln w="12700">
            <a:solidFill>
              <a:srgbClr val="333333"/>
            </a:solidFill>
            <a:prstDash val="solid"/>
          </a:ln>
        </p:spPr>
      </p:sp>
      <p:sp>
        <p:nvSpPr>
          <p:cNvPr id="15" name="Text 12"/>
          <p:cNvSpPr/>
          <p:nvPr/>
        </p:nvSpPr>
        <p:spPr>
          <a:xfrm>
            <a:off x="1133856" y="5303520"/>
            <a:ext cx="10222992" cy="749808"/>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Đây là khoảng trống mà một góc nhìn phân tích dữ liệu (data-centric) có thể lấp vào: kiểm định độ tin cậy của con số, thay vì chạy đua thêm một mô hình nữa.</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10789920" y="-1234440"/>
            <a:ext cx="2743200" cy="2743200"/>
          </a:xfrm>
          <a:prstGeom prst="ellipse">
            <a:avLst/>
          </a:prstGeom>
          <a:solidFill>
            <a:srgbClr val="EAF1F6"/>
          </a:solidFill>
          <a:ln w="12700">
            <a:solidFill>
              <a:srgbClr val="333333"/>
            </a:solidFill>
            <a:prstDash val="solid"/>
          </a:ln>
        </p:spPr>
      </p:sp>
      <p:sp>
        <p:nvSpPr>
          <p:cNvPr id="4" name="Shape 1"/>
          <p:cNvSpPr/>
          <p:nvPr/>
        </p:nvSpPr>
        <p:spPr>
          <a:xfrm>
            <a:off x="11475720" y="182880"/>
            <a:ext cx="822960" cy="822960"/>
          </a:xfrm>
          <a:prstGeom prst="ellipse">
            <a:avLst/>
          </a:prstGeom>
          <a:solidFill>
            <a:srgbClr val="DCE8F0"/>
          </a:solidFill>
          <a:ln w="12700">
            <a:solidFill>
              <a:srgbClr val="333333"/>
            </a:solidFill>
            <a:prstDash val="solid"/>
          </a:ln>
        </p:spPr>
      </p:sp>
      <p:sp>
        <p:nvSpPr>
          <p:cNvPr id="5" name="Shape 2"/>
          <p:cNvSpPr/>
          <p:nvPr/>
        </p:nvSpPr>
        <p:spPr>
          <a:xfrm>
            <a:off x="548640" y="6382512"/>
            <a:ext cx="11064240" cy="0"/>
          </a:xfrm>
          <a:prstGeom prst="line">
            <a:avLst/>
          </a:prstGeom>
          <a:noFill/>
          <a:ln w="12700">
            <a:solidFill>
              <a:srgbClr val="DDE3EA"/>
            </a:solidFill>
            <a:prstDash val="solid"/>
          </a:ln>
        </p:spPr>
      </p:sp>
      <p:sp>
        <p:nvSpPr>
          <p:cNvPr id="6" name="Text 3"/>
          <p:cNvSpPr/>
          <p:nvPr/>
        </p:nvSpPr>
        <p:spPr>
          <a:xfrm>
            <a:off x="548640" y="6419088"/>
            <a:ext cx="8686800" cy="274320"/>
          </a:xfrm>
          <a:prstGeom prst="rect">
            <a:avLst/>
          </a:prstGeom>
          <a:noFill/>
          <a:ln/>
        </p:spPr>
        <p:txBody>
          <a:bodyPr wrap="square" lIns="0" tIns="0" rIns="0" bIns="0" rtlCol="0" anchor="ctr"/>
          <a:lstStyle/>
          <a:p>
            <a:pPr indent="0" marL="0">
              <a:buNone/>
            </a:pPr>
            <a:r>
              <a:rPr lang="en-US" sz="900" dirty="0">
                <a:solidFill>
                  <a:srgbClr val="9AA7B4"/>
                </a:solidFill>
                <a:latin typeface="Calibri" pitchFamily="34" charset="0"/>
                <a:ea typeface="Calibri" pitchFamily="34" charset="-122"/>
                <a:cs typeface="Calibri" pitchFamily="34" charset="-120"/>
              </a:rPr>
              <a:t>Kiểm định độ tin cậy YOLOv8 · Nhóm KHMT836016/34/36</a:t>
            </a:r>
            <a:endParaRPr lang="en-US" sz="900" dirty="0"/>
          </a:p>
        </p:txBody>
      </p:sp>
      <p:sp>
        <p:nvSpPr>
          <p:cNvPr id="7" name="Text 4"/>
          <p:cNvSpPr/>
          <p:nvPr/>
        </p:nvSpPr>
        <p:spPr>
          <a:xfrm>
            <a:off x="11064240" y="6419088"/>
            <a:ext cx="548640" cy="274320"/>
          </a:xfrm>
          <a:prstGeom prst="rect">
            <a:avLst/>
          </a:prstGeom>
          <a:noFill/>
          <a:ln/>
        </p:spPr>
        <p:txBody>
          <a:bodyPr wrap="square" lIns="0" tIns="0" rIns="0" bIns="0" rtlCol="0" anchor="ctr"/>
          <a:lstStyle/>
          <a:p>
            <a:pPr algn="r" indent="0" marL="0">
              <a:buNone/>
            </a:pPr>
            <a:r>
              <a:rPr lang="en-US" sz="1000" b="1" dirty="0">
                <a:solidFill>
                  <a:srgbClr val="1C7293"/>
                </a:solidFill>
                <a:latin typeface="Calibri" pitchFamily="34" charset="0"/>
                <a:ea typeface="Calibri" pitchFamily="34" charset="-122"/>
                <a:cs typeface="Calibri" pitchFamily="34" charset="-120"/>
              </a:rPr>
              <a:t>5</a:t>
            </a:r>
            <a:endParaRPr lang="en-US" sz="1000" dirty="0"/>
          </a:p>
        </p:txBody>
      </p:sp>
      <p:sp>
        <p:nvSpPr>
          <p:cNvPr id="8" name="Shape 5"/>
          <p:cNvSpPr/>
          <p:nvPr/>
        </p:nvSpPr>
        <p:spPr>
          <a:xfrm>
            <a:off x="548640" y="457200"/>
            <a:ext cx="155448" cy="457200"/>
          </a:xfrm>
          <a:prstGeom prst="roundRect">
            <a:avLst>
              <a:gd name="adj" fmla="val 17647"/>
            </a:avLst>
          </a:prstGeom>
          <a:solidFill>
            <a:srgbClr val="1C7293"/>
          </a:solidFill>
          <a:ln w="12700">
            <a:solidFill>
              <a:srgbClr val="333333"/>
            </a:solidFill>
            <a:prstDash val="solid"/>
          </a:ln>
        </p:spPr>
      </p:sp>
      <p:sp>
        <p:nvSpPr>
          <p:cNvPr id="9" name="Text 6"/>
          <p:cNvSpPr/>
          <p:nvPr/>
        </p:nvSpPr>
        <p:spPr>
          <a:xfrm>
            <a:off x="877824" y="365760"/>
            <a:ext cx="10735056" cy="713232"/>
          </a:xfrm>
          <a:prstGeom prst="rect">
            <a:avLst/>
          </a:prstGeom>
          <a:noFill/>
          <a:ln/>
        </p:spPr>
        <p:txBody>
          <a:bodyPr wrap="square" lIns="0" tIns="0" rIns="0" bIns="0" rtlCol="0" anchor="ctr"/>
          <a:lstStyle/>
          <a:p>
            <a:pPr indent="0" marL="0">
              <a:buNone/>
            </a:pPr>
            <a:r>
              <a:rPr lang="en-US" sz="2500" b="1" dirty="0">
                <a:solidFill>
                  <a:srgbClr val="1A2430"/>
                </a:solidFill>
                <a:latin typeface="Cambria" pitchFamily="34" charset="0"/>
                <a:ea typeface="Cambria" pitchFamily="34" charset="-122"/>
                <a:cs typeface="Cambria" pitchFamily="34" charset="-120"/>
              </a:rPr>
              <a:t>Vấn đề: con số 0,97 có đáng tin và đồng đều không?</a:t>
            </a:r>
            <a:endParaRPr lang="en-US" sz="2500" dirty="0"/>
          </a:p>
        </p:txBody>
      </p:sp>
      <p:sp>
        <p:nvSpPr>
          <p:cNvPr id="10" name="Shape 7"/>
          <p:cNvSpPr/>
          <p:nvPr/>
        </p:nvSpPr>
        <p:spPr>
          <a:xfrm>
            <a:off x="548640" y="1481328"/>
            <a:ext cx="5394960" cy="3063240"/>
          </a:xfrm>
          <a:prstGeom prst="roundRect">
            <a:avLst>
              <a:gd name="adj" fmla="val 2985"/>
            </a:avLst>
          </a:prstGeom>
          <a:solidFill>
            <a:srgbClr val="F4F7FA"/>
          </a:solidFill>
          <a:ln w="12700">
            <a:solidFill>
              <a:srgbClr val="E6ECF2"/>
            </a:solidFill>
            <a:prstDash val="solid"/>
          </a:ln>
          <a:effectLst>
            <a:outerShdw sx="100000" sy="100000" kx="0" ky="0" algn="bl" rotWithShape="0" blurRad="114300" dist="25400" dir="5400000">
              <a:srgbClr val="9FB0C0">
                <a:alpha val="22000"/>
              </a:srgbClr>
            </a:outerShdw>
          </a:effectLst>
        </p:spPr>
      </p:sp>
      <p:sp>
        <p:nvSpPr>
          <p:cNvPr id="11" name="Shape 8"/>
          <p:cNvSpPr/>
          <p:nvPr/>
        </p:nvSpPr>
        <p:spPr>
          <a:xfrm>
            <a:off x="841248" y="1755648"/>
            <a:ext cx="914400" cy="402336"/>
          </a:xfrm>
          <a:prstGeom prst="roundRect">
            <a:avLst>
              <a:gd name="adj" fmla="val 13636"/>
            </a:avLst>
          </a:prstGeom>
          <a:solidFill>
            <a:srgbClr val="E3E9EF"/>
          </a:solidFill>
          <a:ln w="12700">
            <a:solidFill>
              <a:srgbClr val="333333"/>
            </a:solidFill>
            <a:prstDash val="solid"/>
          </a:ln>
        </p:spPr>
      </p:sp>
      <p:sp>
        <p:nvSpPr>
          <p:cNvPr id="12" name="Text 9"/>
          <p:cNvSpPr/>
          <p:nvPr/>
        </p:nvSpPr>
        <p:spPr>
          <a:xfrm>
            <a:off x="841248" y="1755648"/>
            <a:ext cx="914400" cy="402336"/>
          </a:xfrm>
          <a:prstGeom prst="rect">
            <a:avLst/>
          </a:prstGeom>
          <a:noFill/>
          <a:ln/>
        </p:spPr>
        <p:txBody>
          <a:bodyPr wrap="square" lIns="0" tIns="0" rIns="0" bIns="0" rtlCol="0" anchor="ctr"/>
          <a:lstStyle/>
          <a:p>
            <a:pPr algn="ctr" indent="0" marL="0">
              <a:buNone/>
            </a:pPr>
            <a:r>
              <a:rPr lang="en-US" sz="1000" b="1" dirty="0">
                <a:solidFill>
                  <a:srgbClr val="5A6B7D"/>
                </a:solidFill>
                <a:latin typeface="Calibri" pitchFamily="34" charset="0"/>
                <a:ea typeface="Calibri" pitchFamily="34" charset="-122"/>
                <a:cs typeface="Calibri" pitchFamily="34" charset="-120"/>
              </a:rPr>
              <a:t>BỐI CẢNH</a:t>
            </a:r>
            <a:endParaRPr lang="en-US" sz="1000" dirty="0"/>
          </a:p>
        </p:txBody>
      </p:sp>
      <p:sp>
        <p:nvSpPr>
          <p:cNvPr id="13" name="Text 10"/>
          <p:cNvSpPr/>
          <p:nvPr/>
        </p:nvSpPr>
        <p:spPr>
          <a:xfrm>
            <a:off x="841248" y="2322576"/>
            <a:ext cx="4754880" cy="402336"/>
          </a:xfrm>
          <a:prstGeom prst="rect">
            <a:avLst/>
          </a:prstGeom>
          <a:noFill/>
          <a:ln/>
        </p:spPr>
        <p:txBody>
          <a:bodyPr wrap="square" lIns="0" tIns="0" rIns="0" bIns="0" rtlCol="0" anchor="ctr"/>
          <a:lstStyle/>
          <a:p>
            <a:pPr indent="0" marL="0">
              <a:buNone/>
            </a:pPr>
            <a:r>
              <a:rPr lang="en-US" sz="2000" b="1" dirty="0">
                <a:solidFill>
                  <a:srgbClr val="1A2430"/>
                </a:solidFill>
                <a:latin typeface="Cambria" pitchFamily="34" charset="0"/>
                <a:ea typeface="Cambria" pitchFamily="34" charset="-122"/>
                <a:cs typeface="Cambria" pitchFamily="34" charset="-120"/>
              </a:rPr>
              <a:t>Điều đã có</a:t>
            </a:r>
            <a:endParaRPr lang="en-US" sz="2000" dirty="0"/>
          </a:p>
        </p:txBody>
      </p:sp>
      <p:sp>
        <p:nvSpPr>
          <p:cNvPr id="14" name="Text 11"/>
          <p:cNvSpPr/>
          <p:nvPr/>
        </p:nvSpPr>
        <p:spPr>
          <a:xfrm>
            <a:off x="841248" y="2852928"/>
            <a:ext cx="4846320" cy="1463040"/>
          </a:xfrm>
          <a:prstGeom prst="rect">
            <a:avLst/>
          </a:prstGeom>
          <a:noFill/>
          <a:ln/>
        </p:spPr>
        <p:txBody>
          <a:bodyPr wrap="square" lIns="0" tIns="0" rIns="0" bIns="0" rtlCol="0" anchor="t"/>
          <a:lstStyle/>
          <a:p>
            <a:pPr indent="0" marL="0">
              <a:lnSpc>
                <a:spcPct val="115000"/>
              </a:lnSpc>
              <a:buNone/>
            </a:pPr>
            <a:r>
              <a:rPr lang="en-US" sz="1550" dirty="0">
                <a:solidFill>
                  <a:srgbClr val="1A2430"/>
                </a:solidFill>
                <a:latin typeface="Calibri" pitchFamily="34" charset="0"/>
                <a:ea typeface="Calibri" pitchFamily="34" charset="-122"/>
                <a:cs typeface="Calibri" pitchFamily="34" charset="-120"/>
              </a:rPr>
              <a:t>Một notebook Kaggle huấn luyện YOLOv8s trên pkdarabi/cardetection đạt mAP@0,5 = 0,970 trên tập kiểm thử — một con số rất cao.</a:t>
            </a:r>
            <a:endParaRPr lang="en-US" sz="1550" dirty="0"/>
          </a:p>
        </p:txBody>
      </p:sp>
      <p:sp>
        <p:nvSpPr>
          <p:cNvPr id="15" name="Shape 12"/>
          <p:cNvSpPr/>
          <p:nvPr/>
        </p:nvSpPr>
        <p:spPr>
          <a:xfrm>
            <a:off x="6217920" y="1481328"/>
            <a:ext cx="5394960" cy="3063240"/>
          </a:xfrm>
          <a:prstGeom prst="roundRect">
            <a:avLst>
              <a:gd name="adj" fmla="val 2985"/>
            </a:avLst>
          </a:prstGeom>
          <a:solidFill>
            <a:srgbClr val="152238"/>
          </a:solidFill>
          <a:ln w="12700">
            <a:solidFill>
              <a:srgbClr val="E6ECF2"/>
            </a:solidFill>
            <a:prstDash val="solid"/>
          </a:ln>
          <a:effectLst>
            <a:outerShdw sx="100000" sy="100000" kx="0" ky="0" algn="bl" rotWithShape="0" blurRad="114300" dist="25400" dir="5400000">
              <a:srgbClr val="9FB0C0">
                <a:alpha val="22000"/>
              </a:srgbClr>
            </a:outerShdw>
          </a:effectLst>
        </p:spPr>
      </p:sp>
      <p:sp>
        <p:nvSpPr>
          <p:cNvPr id="16" name="Shape 13"/>
          <p:cNvSpPr/>
          <p:nvPr/>
        </p:nvSpPr>
        <p:spPr>
          <a:xfrm>
            <a:off x="6510528" y="1755648"/>
            <a:ext cx="1188720" cy="402336"/>
          </a:xfrm>
          <a:prstGeom prst="roundRect">
            <a:avLst>
              <a:gd name="adj" fmla="val 13636"/>
            </a:avLst>
          </a:prstGeom>
          <a:solidFill>
            <a:srgbClr val="2C4160"/>
          </a:solidFill>
          <a:ln w="12700">
            <a:solidFill>
              <a:srgbClr val="333333"/>
            </a:solidFill>
            <a:prstDash val="solid"/>
          </a:ln>
        </p:spPr>
      </p:sp>
      <p:sp>
        <p:nvSpPr>
          <p:cNvPr id="17" name="Text 14"/>
          <p:cNvSpPr/>
          <p:nvPr/>
        </p:nvSpPr>
        <p:spPr>
          <a:xfrm>
            <a:off x="6510528" y="1755648"/>
            <a:ext cx="1188720" cy="402336"/>
          </a:xfrm>
          <a:prstGeom prst="rect">
            <a:avLst/>
          </a:prstGeom>
          <a:noFill/>
          <a:ln/>
        </p:spPr>
        <p:txBody>
          <a:bodyPr wrap="square" lIns="0" tIns="0" rIns="0" bIns="0" rtlCol="0" anchor="ctr"/>
          <a:lstStyle/>
          <a:p>
            <a:pPr algn="ctr" indent="0" marL="0">
              <a:buNone/>
            </a:pPr>
            <a:r>
              <a:rPr lang="en-US" sz="1000" b="1" dirty="0">
                <a:solidFill>
                  <a:srgbClr val="F4A261"/>
                </a:solidFill>
                <a:latin typeface="Calibri" pitchFamily="34" charset="0"/>
                <a:ea typeface="Calibri" pitchFamily="34" charset="-122"/>
                <a:cs typeface="Calibri" pitchFamily="34" charset="-120"/>
              </a:rPr>
              <a:t>CÂU HỎI</a:t>
            </a:r>
            <a:endParaRPr lang="en-US" sz="1000" dirty="0"/>
          </a:p>
        </p:txBody>
      </p:sp>
      <p:sp>
        <p:nvSpPr>
          <p:cNvPr id="18" name="Text 15"/>
          <p:cNvSpPr/>
          <p:nvPr/>
        </p:nvSpPr>
        <p:spPr>
          <a:xfrm>
            <a:off x="6510528" y="2322576"/>
            <a:ext cx="4754880" cy="402336"/>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Câu hỏi của đề tài</a:t>
            </a:r>
            <a:endParaRPr lang="en-US" sz="2000" dirty="0"/>
          </a:p>
        </p:txBody>
      </p:sp>
      <p:sp>
        <p:nvSpPr>
          <p:cNvPr id="19" name="Text 16"/>
          <p:cNvSpPr/>
          <p:nvPr/>
        </p:nvSpPr>
        <p:spPr>
          <a:xfrm>
            <a:off x="6510528" y="2852928"/>
            <a:ext cx="4846320" cy="1463040"/>
          </a:xfrm>
          <a:prstGeom prst="rect">
            <a:avLst/>
          </a:prstGeom>
          <a:noFill/>
          <a:ln/>
        </p:spPr>
        <p:txBody>
          <a:bodyPr wrap="square" lIns="0" tIns="0" rIns="0" bIns="0" rtlCol="0" anchor="t"/>
          <a:lstStyle/>
          <a:p>
            <a:pPr indent="0" marL="0">
              <a:lnSpc>
                <a:spcPct val="115000"/>
              </a:lnSpc>
              <a:buNone/>
            </a:pPr>
            <a:r>
              <a:rPr lang="en-US" sz="1550" dirty="0">
                <a:solidFill>
                  <a:srgbClr val="D6E0EA"/>
                </a:solidFill>
                <a:latin typeface="Calibri" pitchFamily="34" charset="0"/>
                <a:ea typeface="Calibri" pitchFamily="34" charset="-122"/>
                <a:cs typeface="Calibri" pitchFamily="34" charset="-120"/>
              </a:rPr>
              <a:t>Con số đó có bị rò rỉ dữ liệu nâng đỡ không? Có đồng đều giữa các lớp không? Điểm yếu thực sự nằm ở đâu?</a:t>
            </a:r>
            <a:endParaRPr lang="en-US" sz="1550" dirty="0"/>
          </a:p>
        </p:txBody>
      </p:sp>
      <p:sp>
        <p:nvSpPr>
          <p:cNvPr id="20" name="Shape 17"/>
          <p:cNvSpPr/>
          <p:nvPr/>
        </p:nvSpPr>
        <p:spPr>
          <a:xfrm>
            <a:off x="548640" y="4864608"/>
            <a:ext cx="11064240" cy="896112"/>
          </a:xfrm>
          <a:prstGeom prst="roundRect">
            <a:avLst>
              <a:gd name="adj" fmla="val 10204"/>
            </a:avLst>
          </a:prstGeom>
          <a:solidFill>
            <a:srgbClr val="1C7293"/>
          </a:solidFill>
          <a:ln w="12700">
            <a:solidFill>
              <a:srgbClr val="333333"/>
            </a:solidFill>
            <a:prstDash val="solid"/>
          </a:ln>
          <a:effectLst>
            <a:outerShdw sx="100000" sy="100000" kx="0" ky="0" algn="bl" rotWithShape="0" blurRad="101600" dist="25400" dir="5400000">
              <a:srgbClr val="6E7C8A">
                <a:alpha val="30000"/>
              </a:srgbClr>
            </a:outerShdw>
          </a:effectLst>
        </p:spPr>
      </p:sp>
      <p:sp>
        <p:nvSpPr>
          <p:cNvPr id="21" name="Shape 18"/>
          <p:cNvSpPr/>
          <p:nvPr/>
        </p:nvSpPr>
        <p:spPr>
          <a:xfrm>
            <a:off x="804672" y="5230368"/>
            <a:ext cx="164592" cy="164592"/>
          </a:xfrm>
          <a:prstGeom prst="ellipse">
            <a:avLst/>
          </a:prstGeom>
          <a:solidFill>
            <a:srgbClr val="F4A261"/>
          </a:solidFill>
          <a:ln w="12700">
            <a:solidFill>
              <a:srgbClr val="333333"/>
            </a:solidFill>
            <a:prstDash val="solid"/>
          </a:ln>
        </p:spPr>
      </p:sp>
      <p:sp>
        <p:nvSpPr>
          <p:cNvPr id="22" name="Text 19"/>
          <p:cNvSpPr/>
          <p:nvPr/>
        </p:nvSpPr>
        <p:spPr>
          <a:xfrm>
            <a:off x="1133856" y="4937760"/>
            <a:ext cx="10222992" cy="749808"/>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Cách tiếp cận: xem mô hình đã huấn luyện là CÔNG CỤ ĐO cố định — không huấn luyện lại, chỉ phân tích lại kết quả (results-only).</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10789920" y="-1234440"/>
            <a:ext cx="2743200" cy="2743200"/>
          </a:xfrm>
          <a:prstGeom prst="ellipse">
            <a:avLst/>
          </a:prstGeom>
          <a:solidFill>
            <a:srgbClr val="EAF1F6"/>
          </a:solidFill>
          <a:ln w="12700">
            <a:solidFill>
              <a:srgbClr val="333333"/>
            </a:solidFill>
            <a:prstDash val="solid"/>
          </a:ln>
        </p:spPr>
      </p:sp>
      <p:sp>
        <p:nvSpPr>
          <p:cNvPr id="4" name="Shape 1"/>
          <p:cNvSpPr/>
          <p:nvPr/>
        </p:nvSpPr>
        <p:spPr>
          <a:xfrm>
            <a:off x="11475720" y="182880"/>
            <a:ext cx="822960" cy="822960"/>
          </a:xfrm>
          <a:prstGeom prst="ellipse">
            <a:avLst/>
          </a:prstGeom>
          <a:solidFill>
            <a:srgbClr val="DCE8F0"/>
          </a:solidFill>
          <a:ln w="12700">
            <a:solidFill>
              <a:srgbClr val="333333"/>
            </a:solidFill>
            <a:prstDash val="solid"/>
          </a:ln>
        </p:spPr>
      </p:sp>
      <p:sp>
        <p:nvSpPr>
          <p:cNvPr id="5" name="Shape 2"/>
          <p:cNvSpPr/>
          <p:nvPr/>
        </p:nvSpPr>
        <p:spPr>
          <a:xfrm>
            <a:off x="548640" y="6382512"/>
            <a:ext cx="11064240" cy="0"/>
          </a:xfrm>
          <a:prstGeom prst="line">
            <a:avLst/>
          </a:prstGeom>
          <a:noFill/>
          <a:ln w="12700">
            <a:solidFill>
              <a:srgbClr val="DDE3EA"/>
            </a:solidFill>
            <a:prstDash val="solid"/>
          </a:ln>
        </p:spPr>
      </p:sp>
      <p:sp>
        <p:nvSpPr>
          <p:cNvPr id="6" name="Text 3"/>
          <p:cNvSpPr/>
          <p:nvPr/>
        </p:nvSpPr>
        <p:spPr>
          <a:xfrm>
            <a:off x="548640" y="6419088"/>
            <a:ext cx="8686800" cy="274320"/>
          </a:xfrm>
          <a:prstGeom prst="rect">
            <a:avLst/>
          </a:prstGeom>
          <a:noFill/>
          <a:ln/>
        </p:spPr>
        <p:txBody>
          <a:bodyPr wrap="square" lIns="0" tIns="0" rIns="0" bIns="0" rtlCol="0" anchor="ctr"/>
          <a:lstStyle/>
          <a:p>
            <a:pPr indent="0" marL="0">
              <a:buNone/>
            </a:pPr>
            <a:r>
              <a:rPr lang="en-US" sz="900" dirty="0">
                <a:solidFill>
                  <a:srgbClr val="9AA7B4"/>
                </a:solidFill>
                <a:latin typeface="Calibri" pitchFamily="34" charset="0"/>
                <a:ea typeface="Calibri" pitchFamily="34" charset="-122"/>
                <a:cs typeface="Calibri" pitchFamily="34" charset="-120"/>
              </a:rPr>
              <a:t>Kiểm định độ tin cậy YOLOv8 · Nhóm KHMT836016/34/36</a:t>
            </a:r>
            <a:endParaRPr lang="en-US" sz="900" dirty="0"/>
          </a:p>
        </p:txBody>
      </p:sp>
      <p:sp>
        <p:nvSpPr>
          <p:cNvPr id="7" name="Text 4"/>
          <p:cNvSpPr/>
          <p:nvPr/>
        </p:nvSpPr>
        <p:spPr>
          <a:xfrm>
            <a:off x="11064240" y="6419088"/>
            <a:ext cx="548640" cy="274320"/>
          </a:xfrm>
          <a:prstGeom prst="rect">
            <a:avLst/>
          </a:prstGeom>
          <a:noFill/>
          <a:ln/>
        </p:spPr>
        <p:txBody>
          <a:bodyPr wrap="square" lIns="0" tIns="0" rIns="0" bIns="0" rtlCol="0" anchor="ctr"/>
          <a:lstStyle/>
          <a:p>
            <a:pPr algn="r" indent="0" marL="0">
              <a:buNone/>
            </a:pPr>
            <a:r>
              <a:rPr lang="en-US" sz="1000" b="1" dirty="0">
                <a:solidFill>
                  <a:srgbClr val="1C7293"/>
                </a:solidFill>
                <a:latin typeface="Calibri" pitchFamily="34" charset="0"/>
                <a:ea typeface="Calibri" pitchFamily="34" charset="-122"/>
                <a:cs typeface="Calibri" pitchFamily="34" charset="-120"/>
              </a:rPr>
              <a:t>6</a:t>
            </a:r>
            <a:endParaRPr lang="en-US" sz="1000" dirty="0"/>
          </a:p>
        </p:txBody>
      </p:sp>
      <p:sp>
        <p:nvSpPr>
          <p:cNvPr id="8" name="Shape 5"/>
          <p:cNvSpPr/>
          <p:nvPr/>
        </p:nvSpPr>
        <p:spPr>
          <a:xfrm>
            <a:off x="548640" y="457200"/>
            <a:ext cx="155448" cy="457200"/>
          </a:xfrm>
          <a:prstGeom prst="roundRect">
            <a:avLst>
              <a:gd name="adj" fmla="val 17647"/>
            </a:avLst>
          </a:prstGeom>
          <a:solidFill>
            <a:srgbClr val="1C7293"/>
          </a:solidFill>
          <a:ln w="12700">
            <a:solidFill>
              <a:srgbClr val="333333"/>
            </a:solidFill>
            <a:prstDash val="solid"/>
          </a:ln>
        </p:spPr>
      </p:sp>
      <p:sp>
        <p:nvSpPr>
          <p:cNvPr id="9" name="Text 6"/>
          <p:cNvSpPr/>
          <p:nvPr/>
        </p:nvSpPr>
        <p:spPr>
          <a:xfrm>
            <a:off x="877824" y="365760"/>
            <a:ext cx="10735056" cy="713232"/>
          </a:xfrm>
          <a:prstGeom prst="rect">
            <a:avLst/>
          </a:prstGeom>
          <a:noFill/>
          <a:ln/>
        </p:spPr>
        <p:txBody>
          <a:bodyPr wrap="square" lIns="0" tIns="0" rIns="0" bIns="0" rtlCol="0" anchor="ctr"/>
          <a:lstStyle/>
          <a:p>
            <a:pPr indent="0" marL="0">
              <a:buNone/>
            </a:pPr>
            <a:r>
              <a:rPr lang="en-US" sz="2900" b="1" dirty="0">
                <a:solidFill>
                  <a:srgbClr val="1A2430"/>
                </a:solidFill>
                <a:latin typeface="Cambria" pitchFamily="34" charset="0"/>
                <a:ea typeface="Cambria" pitchFamily="34" charset="-122"/>
                <a:cs typeface="Cambria" pitchFamily="34" charset="-120"/>
              </a:rPr>
              <a:t>Định vị đề tài — hai hướng tiếp cận</a:t>
            </a:r>
            <a:endParaRPr lang="en-US" sz="29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481328"/>
          <a:ext cx="11064240" cy="914400"/>
        </p:xfrm>
        <a:graphic>
          <a:graphicData uri="http://schemas.openxmlformats.org/drawingml/2006/table">
            <a:tbl>
              <a:tblPr/>
              <a:tblGrid>
                <a:gridCol w="2377440"/>
                <a:gridCol w="4160520"/>
                <a:gridCol w="4526280"/>
              </a:tblGrid>
              <a:tr h="566928">
                <a:tc>
                  <a:txBody>
                    <a:bodyPr/>
                    <a:lstStyle/>
                    <a:p>
                      <a:pPr indent="0" marL="0">
                        <a:buNone/>
                      </a:pPr>
                      <a:endParaRPr lang="en-US" sz="1200" dirty="0">
                        <a:latin typeface="Calibri" charset="0"/>
                        <a:ea typeface="Calibri" charset="0"/>
                        <a:cs typeface="Calibri" charset="0"/>
                      </a:endParaRPr>
                    </a:p>
                  </a:txBody>
                  <a:tcPr marL="54864" marR="54864" marT="54864" marB="54864" anchor="ctr">
                    <a:lnL w="12700" cap="flat" cmpd="sng" algn="ctr">
                      <a:solidFill>
                        <a:srgbClr val="DCE3EB"/>
                      </a:solidFill>
                      <a:prstDash val="solid"/>
                      <a:round/>
                      <a:headEnd type="none" w="med" len="med"/>
                      <a:tailEnd type="none" w="med" len="med"/>
                    </a:lnL>
                    <a:lnR w="12700" cap="flat" cmpd="sng" algn="ctr">
                      <a:solidFill>
                        <a:srgbClr val="DCE3EB"/>
                      </a:solidFill>
                      <a:prstDash val="solid"/>
                      <a:round/>
                      <a:headEnd type="none" w="med" len="med"/>
                      <a:tailEnd type="none" w="med" len="med"/>
                    </a:lnR>
                    <a:lnT w="12700" cap="flat" cmpd="sng" algn="ctr">
                      <a:solidFill>
                        <a:srgbClr val="DCE3EB"/>
                      </a:solidFill>
                      <a:prstDash val="solid"/>
                      <a:round/>
                      <a:headEnd type="none" w="med" len="med"/>
                      <a:tailEnd type="none" w="med" len="med"/>
                    </a:lnT>
                    <a:lnB w="12700" cap="flat" cmpd="sng" algn="ctr">
                      <a:solidFill>
                        <a:srgbClr val="DCE3EB"/>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Hướng model-centric</a:t>
                      </a:r>
                      <a:endParaRPr lang="en-US" sz="1400" dirty="0">
                        <a:latin typeface="Calibri" charset="0"/>
                        <a:ea typeface="Calibri" charset="0"/>
                        <a:cs typeface="Calibri" charset="0"/>
                      </a:endParaRPr>
                    </a:p>
                  </a:txBody>
                  <a:tcPr marL="54864" marR="54864" marT="54864" marB="54864" anchor="ctr">
                    <a:lnL w="12700" cap="flat" cmpd="sng" algn="ctr">
                      <a:solidFill>
                        <a:srgbClr val="DCE3EB"/>
                      </a:solidFill>
                      <a:prstDash val="solid"/>
                      <a:round/>
                      <a:headEnd type="none" w="med" len="med"/>
                      <a:tailEnd type="none" w="med" len="med"/>
                    </a:lnL>
                    <a:lnR w="12700" cap="flat" cmpd="sng" algn="ctr">
                      <a:solidFill>
                        <a:srgbClr val="DCE3EB"/>
                      </a:solidFill>
                      <a:prstDash val="solid"/>
                      <a:round/>
                      <a:headEnd type="none" w="med" len="med"/>
                      <a:tailEnd type="none" w="med" len="med"/>
                    </a:lnR>
                    <a:lnT w="12700" cap="flat" cmpd="sng" algn="ctr">
                      <a:solidFill>
                        <a:srgbClr val="DCE3EB"/>
                      </a:solidFill>
                      <a:prstDash val="solid"/>
                      <a:round/>
                      <a:headEnd type="none" w="med" len="med"/>
                      <a:tailEnd type="none" w="med" len="med"/>
                    </a:lnT>
                    <a:lnB w="12700" cap="flat" cmpd="sng" algn="ctr">
                      <a:solidFill>
                        <a:srgbClr val="DCE3EB"/>
                      </a:solidFill>
                      <a:prstDash val="solid"/>
                      <a:round/>
                      <a:headEnd type="none" w="med" len="med"/>
                      <a:tailEnd type="none" w="med" len="med"/>
                    </a:lnB>
                    <a:solidFill>
                      <a:srgbClr val="5A6B7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Hướng data-centric (đề tài này)</a:t>
                      </a:r>
                      <a:endParaRPr lang="en-US" sz="1400" dirty="0">
                        <a:latin typeface="Calibri" charset="0"/>
                        <a:ea typeface="Calibri" charset="0"/>
                        <a:cs typeface="Calibri" charset="0"/>
                      </a:endParaRPr>
                    </a:p>
                  </a:txBody>
                  <a:tcPr marL="54864" marR="54864" marT="54864" marB="54864" anchor="ctr">
                    <a:lnL w="12700" cap="flat" cmpd="sng" algn="ctr">
                      <a:solidFill>
                        <a:srgbClr val="DCE3EB"/>
                      </a:solidFill>
                      <a:prstDash val="solid"/>
                      <a:round/>
                      <a:headEnd type="none" w="med" len="med"/>
                      <a:tailEnd type="none" w="med" len="med"/>
                    </a:lnL>
                    <a:lnR w="12700" cap="flat" cmpd="sng" algn="ctr">
                      <a:solidFill>
                        <a:srgbClr val="DCE3EB"/>
                      </a:solidFill>
                      <a:prstDash val="solid"/>
                      <a:round/>
                      <a:headEnd type="none" w="med" len="med"/>
                      <a:tailEnd type="none" w="med" len="med"/>
                    </a:lnR>
                    <a:lnT w="12700" cap="flat" cmpd="sng" algn="ctr">
                      <a:solidFill>
                        <a:srgbClr val="DCE3EB"/>
                      </a:solidFill>
                      <a:prstDash val="solid"/>
                      <a:round/>
                      <a:headEnd type="none" w="med" len="med"/>
                      <a:tailEnd type="none" w="med" len="med"/>
                    </a:lnT>
                    <a:lnB w="12700" cap="flat" cmpd="sng" algn="ctr">
                      <a:solidFill>
                        <a:srgbClr val="DCE3EB"/>
                      </a:solidFill>
                      <a:prstDash val="solid"/>
                      <a:round/>
                      <a:headEnd type="none" w="med" len="med"/>
                      <a:tailEnd type="none" w="med" len="med"/>
                    </a:lnB>
                    <a:solidFill>
                      <a:srgbClr val="1C7293"/>
                    </a:solidFill>
                  </a:tcPr>
                </a:tc>
              </a:tr>
              <a:tr h="566928">
                <a:tc>
                  <a:txBody>
                    <a:bodyPr/>
                    <a:lstStyle/>
                    <a:p>
                      <a:pPr indent="0" marL="0">
                        <a:buNone/>
                      </a:pPr>
                      <a:r>
                        <a:rPr lang="en-US" sz="1300" b="1" dirty="0">
                          <a:solidFill>
                            <a:srgbClr val="000000"/>
                          </a:solidFill>
                          <a:latin typeface="Calibri" pitchFamily="34" charset="0"/>
                          <a:ea typeface="Calibri" pitchFamily="34" charset="-122"/>
                          <a:cs typeface="Calibri" pitchFamily="34" charset="-120"/>
                        </a:rPr>
                        <a:t>Câu hỏi</a:t>
                      </a:r>
                      <a:endParaRPr lang="en-US" sz="1300" dirty="0">
                        <a:latin typeface="Calibri" charset="0"/>
                        <a:ea typeface="Calibri" charset="0"/>
                        <a:cs typeface="Calibri" charset="0"/>
                      </a:endParaRPr>
                    </a:p>
                  </a:txBody>
                  <a:tcPr marL="54864" marR="54864" marT="54864" marB="54864" anchor="ctr">
                    <a:lnL w="12700" cap="flat" cmpd="sng" algn="ctr">
                      <a:solidFill>
                        <a:srgbClr val="DCE3EB"/>
                      </a:solidFill>
                      <a:prstDash val="solid"/>
                      <a:round/>
                      <a:headEnd type="none" w="med" len="med"/>
                      <a:tailEnd type="none" w="med" len="med"/>
                    </a:lnL>
                    <a:lnR w="12700" cap="flat" cmpd="sng" algn="ctr">
                      <a:solidFill>
                        <a:srgbClr val="DCE3EB"/>
                      </a:solidFill>
                      <a:prstDash val="solid"/>
                      <a:round/>
                      <a:headEnd type="none" w="med" len="med"/>
                      <a:tailEnd type="none" w="med" len="med"/>
                    </a:lnR>
                    <a:lnT w="12700" cap="flat" cmpd="sng" algn="ctr">
                      <a:solidFill>
                        <a:srgbClr val="DCE3EB"/>
                      </a:solidFill>
                      <a:prstDash val="solid"/>
                      <a:round/>
                      <a:headEnd type="none" w="med" len="med"/>
                      <a:tailEnd type="none" w="med" len="med"/>
                    </a:lnT>
                    <a:lnB w="12700" cap="flat" cmpd="sng" algn="ctr">
                      <a:solidFill>
                        <a:srgbClr val="DCE3EB"/>
                      </a:solidFill>
                      <a:prstDash val="solid"/>
                      <a:round/>
                      <a:headEnd type="none" w="med" len="med"/>
                      <a:tailEnd type="none" w="med" len="med"/>
                    </a:lnB>
                    <a:solidFill>
                      <a:srgbClr val="F4F7FA"/>
                    </a:solidFill>
                  </a:tcPr>
                </a:tc>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Mô hình nào tốt hơn?</a:t>
                      </a:r>
                      <a:endParaRPr lang="en-US" sz="1300" dirty="0">
                        <a:latin typeface="Calibri" charset="0"/>
                        <a:ea typeface="Calibri" charset="0"/>
                        <a:cs typeface="Calibri" charset="0"/>
                      </a:endParaRPr>
                    </a:p>
                  </a:txBody>
                  <a:tcPr marL="54864" marR="54864" marT="54864" marB="54864" anchor="ctr">
                    <a:lnL w="12700" cap="flat" cmpd="sng" algn="ctr">
                      <a:solidFill>
                        <a:srgbClr val="DCE3EB"/>
                      </a:solidFill>
                      <a:prstDash val="solid"/>
                      <a:round/>
                      <a:headEnd type="none" w="med" len="med"/>
                      <a:tailEnd type="none" w="med" len="med"/>
                    </a:lnL>
                    <a:lnR w="12700" cap="flat" cmpd="sng" algn="ctr">
                      <a:solidFill>
                        <a:srgbClr val="DCE3EB"/>
                      </a:solidFill>
                      <a:prstDash val="solid"/>
                      <a:round/>
                      <a:headEnd type="none" w="med" len="med"/>
                      <a:tailEnd type="none" w="med" len="med"/>
                    </a:lnR>
                    <a:lnT w="12700" cap="flat" cmpd="sng" algn="ctr">
                      <a:solidFill>
                        <a:srgbClr val="DCE3EB"/>
                      </a:solidFill>
                      <a:prstDash val="solid"/>
                      <a:round/>
                      <a:headEnd type="none" w="med" len="med"/>
                      <a:tailEnd type="none" w="med" len="med"/>
                    </a:lnT>
                    <a:lnB w="12700" cap="flat" cmpd="sng" algn="ctr">
                      <a:solidFill>
                        <a:srgbClr val="DCE3EB"/>
                      </a:solidFill>
                      <a:prstDash val="solid"/>
                      <a:round/>
                      <a:headEnd type="none" w="med" len="med"/>
                      <a:tailEnd type="none" w="med" len="med"/>
                    </a:lnB>
                  </a:tcPr>
                </a:tc>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mAP 0,97 có đáng tin &amp; đồng đều?</a:t>
                      </a:r>
                      <a:endParaRPr lang="en-US" sz="1300" dirty="0">
                        <a:latin typeface="Calibri" charset="0"/>
                        <a:ea typeface="Calibri" charset="0"/>
                        <a:cs typeface="Calibri" charset="0"/>
                      </a:endParaRPr>
                    </a:p>
                  </a:txBody>
                  <a:tcPr marL="54864" marR="54864" marT="54864" marB="54864" anchor="ctr">
                    <a:lnL w="12700" cap="flat" cmpd="sng" algn="ctr">
                      <a:solidFill>
                        <a:srgbClr val="DCE3EB"/>
                      </a:solidFill>
                      <a:prstDash val="solid"/>
                      <a:round/>
                      <a:headEnd type="none" w="med" len="med"/>
                      <a:tailEnd type="none" w="med" len="med"/>
                    </a:lnL>
                    <a:lnR w="12700" cap="flat" cmpd="sng" algn="ctr">
                      <a:solidFill>
                        <a:srgbClr val="DCE3EB"/>
                      </a:solidFill>
                      <a:prstDash val="solid"/>
                      <a:round/>
                      <a:headEnd type="none" w="med" len="med"/>
                      <a:tailEnd type="none" w="med" len="med"/>
                    </a:lnR>
                    <a:lnT w="12700" cap="flat" cmpd="sng" algn="ctr">
                      <a:solidFill>
                        <a:srgbClr val="DCE3EB"/>
                      </a:solidFill>
                      <a:prstDash val="solid"/>
                      <a:round/>
                      <a:headEnd type="none" w="med" len="med"/>
                      <a:tailEnd type="none" w="med" len="med"/>
                    </a:lnT>
                    <a:lnB w="12700" cap="flat" cmpd="sng" algn="ctr">
                      <a:solidFill>
                        <a:srgbClr val="DCE3EB"/>
                      </a:solidFill>
                      <a:prstDash val="solid"/>
                      <a:round/>
                      <a:headEnd type="none" w="med" len="med"/>
                      <a:tailEnd type="none" w="med" len="med"/>
                    </a:lnB>
                    <a:solidFill>
                      <a:srgbClr val="E8F4F0"/>
                    </a:solidFill>
                  </a:tcPr>
                </a:tc>
              </a:tr>
              <a:tr h="566928">
                <a:tc>
                  <a:txBody>
                    <a:bodyPr/>
                    <a:lstStyle/>
                    <a:p>
                      <a:pPr indent="0" marL="0">
                        <a:buNone/>
                      </a:pPr>
                      <a:r>
                        <a:rPr lang="en-US" sz="1300" b="1" dirty="0">
                          <a:solidFill>
                            <a:srgbClr val="000000"/>
                          </a:solidFill>
                          <a:latin typeface="Calibri" pitchFamily="34" charset="0"/>
                          <a:ea typeface="Calibri" pitchFamily="34" charset="-122"/>
                          <a:cs typeface="Calibri" pitchFamily="34" charset="-120"/>
                        </a:rPr>
                        <a:t>Vai trò mô hình</a:t>
                      </a:r>
                      <a:endParaRPr lang="en-US" sz="1300" dirty="0">
                        <a:latin typeface="Calibri" charset="0"/>
                        <a:ea typeface="Calibri" charset="0"/>
                        <a:cs typeface="Calibri" charset="0"/>
                      </a:endParaRPr>
                    </a:p>
                  </a:txBody>
                  <a:tcPr marL="54864" marR="54864" marT="54864" marB="54864" anchor="ctr">
                    <a:lnL w="12700" cap="flat" cmpd="sng" algn="ctr">
                      <a:solidFill>
                        <a:srgbClr val="DCE3EB"/>
                      </a:solidFill>
                      <a:prstDash val="solid"/>
                      <a:round/>
                      <a:headEnd type="none" w="med" len="med"/>
                      <a:tailEnd type="none" w="med" len="med"/>
                    </a:lnL>
                    <a:lnR w="12700" cap="flat" cmpd="sng" algn="ctr">
                      <a:solidFill>
                        <a:srgbClr val="DCE3EB"/>
                      </a:solidFill>
                      <a:prstDash val="solid"/>
                      <a:round/>
                      <a:headEnd type="none" w="med" len="med"/>
                      <a:tailEnd type="none" w="med" len="med"/>
                    </a:lnR>
                    <a:lnT w="12700" cap="flat" cmpd="sng" algn="ctr">
                      <a:solidFill>
                        <a:srgbClr val="DCE3EB"/>
                      </a:solidFill>
                      <a:prstDash val="solid"/>
                      <a:round/>
                      <a:headEnd type="none" w="med" len="med"/>
                      <a:tailEnd type="none" w="med" len="med"/>
                    </a:lnT>
                    <a:lnB w="12700" cap="flat" cmpd="sng" algn="ctr">
                      <a:solidFill>
                        <a:srgbClr val="DCE3EB"/>
                      </a:solidFill>
                      <a:prstDash val="solid"/>
                      <a:round/>
                      <a:headEnd type="none" w="med" len="med"/>
                      <a:tailEnd type="none" w="med" len="med"/>
                    </a:lnB>
                    <a:solidFill>
                      <a:srgbClr val="F4F7FA"/>
                    </a:solidFill>
                  </a:tcPr>
                </a:tc>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Đối tượng — huấn luyện, so sánh</a:t>
                      </a:r>
                      <a:endParaRPr lang="en-US" sz="1300" dirty="0">
                        <a:latin typeface="Calibri" charset="0"/>
                        <a:ea typeface="Calibri" charset="0"/>
                        <a:cs typeface="Calibri" charset="0"/>
                      </a:endParaRPr>
                    </a:p>
                  </a:txBody>
                  <a:tcPr marL="54864" marR="54864" marT="54864" marB="54864" anchor="ctr">
                    <a:lnL w="12700" cap="flat" cmpd="sng" algn="ctr">
                      <a:solidFill>
                        <a:srgbClr val="DCE3EB"/>
                      </a:solidFill>
                      <a:prstDash val="solid"/>
                      <a:round/>
                      <a:headEnd type="none" w="med" len="med"/>
                      <a:tailEnd type="none" w="med" len="med"/>
                    </a:lnL>
                    <a:lnR w="12700" cap="flat" cmpd="sng" algn="ctr">
                      <a:solidFill>
                        <a:srgbClr val="DCE3EB"/>
                      </a:solidFill>
                      <a:prstDash val="solid"/>
                      <a:round/>
                      <a:headEnd type="none" w="med" len="med"/>
                      <a:tailEnd type="none" w="med" len="med"/>
                    </a:lnR>
                    <a:lnT w="12700" cap="flat" cmpd="sng" algn="ctr">
                      <a:solidFill>
                        <a:srgbClr val="DCE3EB"/>
                      </a:solidFill>
                      <a:prstDash val="solid"/>
                      <a:round/>
                      <a:headEnd type="none" w="med" len="med"/>
                      <a:tailEnd type="none" w="med" len="med"/>
                    </a:lnT>
                    <a:lnB w="12700" cap="flat" cmpd="sng" algn="ctr">
                      <a:solidFill>
                        <a:srgbClr val="DCE3EB"/>
                      </a:solidFill>
                      <a:prstDash val="solid"/>
                      <a:round/>
                      <a:headEnd type="none" w="med" len="med"/>
                      <a:tailEnd type="none" w="med" len="med"/>
                    </a:lnB>
                  </a:tcPr>
                </a:tc>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Công cụ đo cố định — phân tích lại</a:t>
                      </a:r>
                      <a:endParaRPr lang="en-US" sz="1300" dirty="0">
                        <a:latin typeface="Calibri" charset="0"/>
                        <a:ea typeface="Calibri" charset="0"/>
                        <a:cs typeface="Calibri" charset="0"/>
                      </a:endParaRPr>
                    </a:p>
                  </a:txBody>
                  <a:tcPr marL="54864" marR="54864" marT="54864" marB="54864" anchor="ctr">
                    <a:lnL w="12700" cap="flat" cmpd="sng" algn="ctr">
                      <a:solidFill>
                        <a:srgbClr val="DCE3EB"/>
                      </a:solidFill>
                      <a:prstDash val="solid"/>
                      <a:round/>
                      <a:headEnd type="none" w="med" len="med"/>
                      <a:tailEnd type="none" w="med" len="med"/>
                    </a:lnL>
                    <a:lnR w="12700" cap="flat" cmpd="sng" algn="ctr">
                      <a:solidFill>
                        <a:srgbClr val="DCE3EB"/>
                      </a:solidFill>
                      <a:prstDash val="solid"/>
                      <a:round/>
                      <a:headEnd type="none" w="med" len="med"/>
                      <a:tailEnd type="none" w="med" len="med"/>
                    </a:lnR>
                    <a:lnT w="12700" cap="flat" cmpd="sng" algn="ctr">
                      <a:solidFill>
                        <a:srgbClr val="DCE3EB"/>
                      </a:solidFill>
                      <a:prstDash val="solid"/>
                      <a:round/>
                      <a:headEnd type="none" w="med" len="med"/>
                      <a:tailEnd type="none" w="med" len="med"/>
                    </a:lnT>
                    <a:lnB w="12700" cap="flat" cmpd="sng" algn="ctr">
                      <a:solidFill>
                        <a:srgbClr val="DCE3EB"/>
                      </a:solidFill>
                      <a:prstDash val="solid"/>
                      <a:round/>
                      <a:headEnd type="none" w="med" len="med"/>
                      <a:tailEnd type="none" w="med" len="med"/>
                    </a:lnB>
                    <a:solidFill>
                      <a:srgbClr val="E8F4F0"/>
                    </a:solidFill>
                  </a:tcPr>
                </a:tc>
              </a:tr>
              <a:tr h="566928">
                <a:tc>
                  <a:txBody>
                    <a:bodyPr/>
                    <a:lstStyle/>
                    <a:p>
                      <a:pPr indent="0" marL="0">
                        <a:buNone/>
                      </a:pPr>
                      <a:r>
                        <a:rPr lang="en-US" sz="1300" b="1" dirty="0">
                          <a:solidFill>
                            <a:srgbClr val="000000"/>
                          </a:solidFill>
                          <a:latin typeface="Calibri" pitchFamily="34" charset="0"/>
                          <a:ea typeface="Calibri" pitchFamily="34" charset="-122"/>
                          <a:cs typeface="Calibri" pitchFamily="34" charset="-120"/>
                        </a:rPr>
                        <a:t>Đầu ra</a:t>
                      </a:r>
                      <a:endParaRPr lang="en-US" sz="1300" dirty="0">
                        <a:latin typeface="Calibri" charset="0"/>
                        <a:ea typeface="Calibri" charset="0"/>
                        <a:cs typeface="Calibri" charset="0"/>
                      </a:endParaRPr>
                    </a:p>
                  </a:txBody>
                  <a:tcPr marL="54864" marR="54864" marT="54864" marB="54864" anchor="ctr">
                    <a:lnL w="12700" cap="flat" cmpd="sng" algn="ctr">
                      <a:solidFill>
                        <a:srgbClr val="DCE3EB"/>
                      </a:solidFill>
                      <a:prstDash val="solid"/>
                      <a:round/>
                      <a:headEnd type="none" w="med" len="med"/>
                      <a:tailEnd type="none" w="med" len="med"/>
                    </a:lnL>
                    <a:lnR w="12700" cap="flat" cmpd="sng" algn="ctr">
                      <a:solidFill>
                        <a:srgbClr val="DCE3EB"/>
                      </a:solidFill>
                      <a:prstDash val="solid"/>
                      <a:round/>
                      <a:headEnd type="none" w="med" len="med"/>
                      <a:tailEnd type="none" w="med" len="med"/>
                    </a:lnR>
                    <a:lnT w="12700" cap="flat" cmpd="sng" algn="ctr">
                      <a:solidFill>
                        <a:srgbClr val="DCE3EB"/>
                      </a:solidFill>
                      <a:prstDash val="solid"/>
                      <a:round/>
                      <a:headEnd type="none" w="med" len="med"/>
                      <a:tailEnd type="none" w="med" len="med"/>
                    </a:lnT>
                    <a:lnB w="12700" cap="flat" cmpd="sng" algn="ctr">
                      <a:solidFill>
                        <a:srgbClr val="DCE3EB"/>
                      </a:solidFill>
                      <a:prstDash val="solid"/>
                      <a:round/>
                      <a:headEnd type="none" w="med" len="med"/>
                      <a:tailEnd type="none" w="med" len="med"/>
                    </a:lnB>
                    <a:solidFill>
                      <a:srgbClr val="F4F7FA"/>
                    </a:solidFill>
                  </a:tcPr>
                </a:tc>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Benchmark, mAP tổng</a:t>
                      </a:r>
                      <a:endParaRPr lang="en-US" sz="1300" dirty="0">
                        <a:latin typeface="Calibri" charset="0"/>
                        <a:ea typeface="Calibri" charset="0"/>
                        <a:cs typeface="Calibri" charset="0"/>
                      </a:endParaRPr>
                    </a:p>
                  </a:txBody>
                  <a:tcPr marL="54864" marR="54864" marT="54864" marB="54864" anchor="ctr">
                    <a:lnL w="12700" cap="flat" cmpd="sng" algn="ctr">
                      <a:solidFill>
                        <a:srgbClr val="DCE3EB"/>
                      </a:solidFill>
                      <a:prstDash val="solid"/>
                      <a:round/>
                      <a:headEnd type="none" w="med" len="med"/>
                      <a:tailEnd type="none" w="med" len="med"/>
                    </a:lnL>
                    <a:lnR w="12700" cap="flat" cmpd="sng" algn="ctr">
                      <a:solidFill>
                        <a:srgbClr val="DCE3EB"/>
                      </a:solidFill>
                      <a:prstDash val="solid"/>
                      <a:round/>
                      <a:headEnd type="none" w="med" len="med"/>
                      <a:tailEnd type="none" w="med" len="med"/>
                    </a:lnR>
                    <a:lnT w="12700" cap="flat" cmpd="sng" algn="ctr">
                      <a:solidFill>
                        <a:srgbClr val="DCE3EB"/>
                      </a:solidFill>
                      <a:prstDash val="solid"/>
                      <a:round/>
                      <a:headEnd type="none" w="med" len="med"/>
                      <a:tailEnd type="none" w="med" len="med"/>
                    </a:lnT>
                    <a:lnB w="12700" cap="flat" cmpd="sng" algn="ctr">
                      <a:solidFill>
                        <a:srgbClr val="DCE3EB"/>
                      </a:solidFill>
                      <a:prstDash val="solid"/>
                      <a:round/>
                      <a:headEnd type="none" w="med" len="med"/>
                      <a:tailEnd type="none" w="med" len="med"/>
                    </a:lnB>
                  </a:tcPr>
                </a:tc>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Bằng chứng thống kê về độ tin cậy</a:t>
                      </a:r>
                      <a:endParaRPr lang="en-US" sz="1300" dirty="0">
                        <a:latin typeface="Calibri" charset="0"/>
                        <a:ea typeface="Calibri" charset="0"/>
                        <a:cs typeface="Calibri" charset="0"/>
                      </a:endParaRPr>
                    </a:p>
                  </a:txBody>
                  <a:tcPr marL="54864" marR="54864" marT="54864" marB="54864" anchor="ctr">
                    <a:lnL w="12700" cap="flat" cmpd="sng" algn="ctr">
                      <a:solidFill>
                        <a:srgbClr val="DCE3EB"/>
                      </a:solidFill>
                      <a:prstDash val="solid"/>
                      <a:round/>
                      <a:headEnd type="none" w="med" len="med"/>
                      <a:tailEnd type="none" w="med" len="med"/>
                    </a:lnL>
                    <a:lnR w="12700" cap="flat" cmpd="sng" algn="ctr">
                      <a:solidFill>
                        <a:srgbClr val="DCE3EB"/>
                      </a:solidFill>
                      <a:prstDash val="solid"/>
                      <a:round/>
                      <a:headEnd type="none" w="med" len="med"/>
                      <a:tailEnd type="none" w="med" len="med"/>
                    </a:lnR>
                    <a:lnT w="12700" cap="flat" cmpd="sng" algn="ctr">
                      <a:solidFill>
                        <a:srgbClr val="DCE3EB"/>
                      </a:solidFill>
                      <a:prstDash val="solid"/>
                      <a:round/>
                      <a:headEnd type="none" w="med" len="med"/>
                      <a:tailEnd type="none" w="med" len="med"/>
                    </a:lnT>
                    <a:lnB w="12700" cap="flat" cmpd="sng" algn="ctr">
                      <a:solidFill>
                        <a:srgbClr val="DCE3EB"/>
                      </a:solidFill>
                      <a:prstDash val="solid"/>
                      <a:round/>
                      <a:headEnd type="none" w="med" len="med"/>
                      <a:tailEnd type="none" w="med" len="med"/>
                    </a:lnB>
                    <a:solidFill>
                      <a:srgbClr val="E8F4F0"/>
                    </a:solidFill>
                  </a:tcPr>
                </a:tc>
              </a:tr>
              <a:tr h="566928">
                <a:tc>
                  <a:txBody>
                    <a:bodyPr/>
                    <a:lstStyle/>
                    <a:p>
                      <a:pPr indent="0" marL="0">
                        <a:buNone/>
                      </a:pPr>
                      <a:r>
                        <a:rPr lang="en-US" sz="1300" b="1" dirty="0">
                          <a:solidFill>
                            <a:srgbClr val="000000"/>
                          </a:solidFill>
                          <a:latin typeface="Calibri" pitchFamily="34" charset="0"/>
                          <a:ea typeface="Calibri" pitchFamily="34" charset="-122"/>
                          <a:cs typeface="Calibri" pitchFamily="34" charset="-120"/>
                        </a:rPr>
                        <a:t>Phương pháp</a:t>
                      </a:r>
                      <a:endParaRPr lang="en-US" sz="1300" dirty="0">
                        <a:latin typeface="Calibri" charset="0"/>
                        <a:ea typeface="Calibri" charset="0"/>
                        <a:cs typeface="Calibri" charset="0"/>
                      </a:endParaRPr>
                    </a:p>
                  </a:txBody>
                  <a:tcPr marL="54864" marR="54864" marT="54864" marB="54864" anchor="ctr">
                    <a:lnL w="12700" cap="flat" cmpd="sng" algn="ctr">
                      <a:solidFill>
                        <a:srgbClr val="DCE3EB"/>
                      </a:solidFill>
                      <a:prstDash val="solid"/>
                      <a:round/>
                      <a:headEnd type="none" w="med" len="med"/>
                      <a:tailEnd type="none" w="med" len="med"/>
                    </a:lnL>
                    <a:lnR w="12700" cap="flat" cmpd="sng" algn="ctr">
                      <a:solidFill>
                        <a:srgbClr val="DCE3EB"/>
                      </a:solidFill>
                      <a:prstDash val="solid"/>
                      <a:round/>
                      <a:headEnd type="none" w="med" len="med"/>
                      <a:tailEnd type="none" w="med" len="med"/>
                    </a:lnR>
                    <a:lnT w="12700" cap="flat" cmpd="sng" algn="ctr">
                      <a:solidFill>
                        <a:srgbClr val="DCE3EB"/>
                      </a:solidFill>
                      <a:prstDash val="solid"/>
                      <a:round/>
                      <a:headEnd type="none" w="med" len="med"/>
                      <a:tailEnd type="none" w="med" len="med"/>
                    </a:lnT>
                    <a:lnB w="12700" cap="flat" cmpd="sng" algn="ctr">
                      <a:solidFill>
                        <a:srgbClr val="DCE3EB"/>
                      </a:solidFill>
                      <a:prstDash val="solid"/>
                      <a:round/>
                      <a:headEnd type="none" w="med" len="med"/>
                      <a:tailEnd type="none" w="med" len="med"/>
                    </a:lnB>
                    <a:solidFill>
                      <a:srgbClr val="F4F7FA"/>
                    </a:solidFill>
                  </a:tcPr>
                </a:tc>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Thiết kế, huấn luyện mạng</a:t>
                      </a:r>
                      <a:endParaRPr lang="en-US" sz="1300" dirty="0">
                        <a:latin typeface="Calibri" charset="0"/>
                        <a:ea typeface="Calibri" charset="0"/>
                        <a:cs typeface="Calibri" charset="0"/>
                      </a:endParaRPr>
                    </a:p>
                  </a:txBody>
                  <a:tcPr marL="54864" marR="54864" marT="54864" marB="54864" anchor="ctr">
                    <a:lnL w="12700" cap="flat" cmpd="sng" algn="ctr">
                      <a:solidFill>
                        <a:srgbClr val="DCE3EB"/>
                      </a:solidFill>
                      <a:prstDash val="solid"/>
                      <a:round/>
                      <a:headEnd type="none" w="med" len="med"/>
                      <a:tailEnd type="none" w="med" len="med"/>
                    </a:lnL>
                    <a:lnR w="12700" cap="flat" cmpd="sng" algn="ctr">
                      <a:solidFill>
                        <a:srgbClr val="DCE3EB"/>
                      </a:solidFill>
                      <a:prstDash val="solid"/>
                      <a:round/>
                      <a:headEnd type="none" w="med" len="med"/>
                      <a:tailEnd type="none" w="med" len="med"/>
                    </a:lnR>
                    <a:lnT w="12700" cap="flat" cmpd="sng" algn="ctr">
                      <a:solidFill>
                        <a:srgbClr val="DCE3EB"/>
                      </a:solidFill>
                      <a:prstDash val="solid"/>
                      <a:round/>
                      <a:headEnd type="none" w="med" len="med"/>
                      <a:tailEnd type="none" w="med" len="med"/>
                    </a:lnT>
                    <a:lnB w="12700" cap="flat" cmpd="sng" algn="ctr">
                      <a:solidFill>
                        <a:srgbClr val="DCE3EB"/>
                      </a:solidFill>
                      <a:prstDash val="solid"/>
                      <a:round/>
                      <a:headEnd type="none" w="med" len="med"/>
                      <a:tailEnd type="none" w="med" len="med"/>
                    </a:lnB>
                  </a:tcPr>
                </a:tc>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Kiểm định thống kê, phân tích rò rỉ</a:t>
                      </a:r>
                      <a:endParaRPr lang="en-US" sz="1300" dirty="0">
                        <a:latin typeface="Calibri" charset="0"/>
                        <a:ea typeface="Calibri" charset="0"/>
                        <a:cs typeface="Calibri" charset="0"/>
                      </a:endParaRPr>
                    </a:p>
                  </a:txBody>
                  <a:tcPr marL="54864" marR="54864" marT="54864" marB="54864" anchor="ctr">
                    <a:lnL w="12700" cap="flat" cmpd="sng" algn="ctr">
                      <a:solidFill>
                        <a:srgbClr val="DCE3EB"/>
                      </a:solidFill>
                      <a:prstDash val="solid"/>
                      <a:round/>
                      <a:headEnd type="none" w="med" len="med"/>
                      <a:tailEnd type="none" w="med" len="med"/>
                    </a:lnL>
                    <a:lnR w="12700" cap="flat" cmpd="sng" algn="ctr">
                      <a:solidFill>
                        <a:srgbClr val="DCE3EB"/>
                      </a:solidFill>
                      <a:prstDash val="solid"/>
                      <a:round/>
                      <a:headEnd type="none" w="med" len="med"/>
                      <a:tailEnd type="none" w="med" len="med"/>
                    </a:lnR>
                    <a:lnT w="12700" cap="flat" cmpd="sng" algn="ctr">
                      <a:solidFill>
                        <a:srgbClr val="DCE3EB"/>
                      </a:solidFill>
                      <a:prstDash val="solid"/>
                      <a:round/>
                      <a:headEnd type="none" w="med" len="med"/>
                      <a:tailEnd type="none" w="med" len="med"/>
                    </a:lnT>
                    <a:lnB w="12700" cap="flat" cmpd="sng" algn="ctr">
                      <a:solidFill>
                        <a:srgbClr val="DCE3EB"/>
                      </a:solidFill>
                      <a:prstDash val="solid"/>
                      <a:round/>
                      <a:headEnd type="none" w="med" len="med"/>
                      <a:tailEnd type="none" w="med" len="med"/>
                    </a:lnB>
                    <a:solidFill>
                      <a:srgbClr val="E8F4F0"/>
                    </a:solidFill>
                  </a:tcPr>
                </a:tc>
              </a:tr>
            </a:tbl>
          </a:graphicData>
        </a:graphic>
      </p:graphicFrame>
      <p:sp>
        <p:nvSpPr>
          <p:cNvPr id="11" name="Shape 7"/>
          <p:cNvSpPr/>
          <p:nvPr/>
        </p:nvSpPr>
        <p:spPr>
          <a:xfrm>
            <a:off x="548640" y="4681728"/>
            <a:ext cx="11064240" cy="896112"/>
          </a:xfrm>
          <a:prstGeom prst="roundRect">
            <a:avLst>
              <a:gd name="adj" fmla="val 10204"/>
            </a:avLst>
          </a:prstGeom>
          <a:solidFill>
            <a:srgbClr val="152238"/>
          </a:solidFill>
          <a:ln w="12700">
            <a:solidFill>
              <a:srgbClr val="333333"/>
            </a:solidFill>
            <a:prstDash val="solid"/>
          </a:ln>
          <a:effectLst>
            <a:outerShdw sx="100000" sy="100000" kx="0" ky="0" algn="bl" rotWithShape="0" blurRad="101600" dist="25400" dir="5400000">
              <a:srgbClr val="6E7C8A">
                <a:alpha val="30000"/>
              </a:srgbClr>
            </a:outerShdw>
          </a:effectLst>
        </p:spPr>
      </p:sp>
      <p:sp>
        <p:nvSpPr>
          <p:cNvPr id="12" name="Shape 8"/>
          <p:cNvSpPr/>
          <p:nvPr/>
        </p:nvSpPr>
        <p:spPr>
          <a:xfrm>
            <a:off x="804672" y="5047488"/>
            <a:ext cx="164592" cy="164592"/>
          </a:xfrm>
          <a:prstGeom prst="ellipse">
            <a:avLst/>
          </a:prstGeom>
          <a:solidFill>
            <a:srgbClr val="F4A261"/>
          </a:solidFill>
          <a:ln w="12700">
            <a:solidFill>
              <a:srgbClr val="333333"/>
            </a:solidFill>
            <a:prstDash val="solid"/>
          </a:ln>
        </p:spPr>
      </p:sp>
      <p:sp>
        <p:nvSpPr>
          <p:cNvPr id="13" name="Text 9"/>
          <p:cNvSpPr/>
          <p:nvPr/>
        </p:nvSpPr>
        <p:spPr>
          <a:xfrm>
            <a:off x="1133856" y="4754880"/>
            <a:ext cx="10222992" cy="749808"/>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Không chạy đua mAP, mà kiểm định độ tin cậy của mAP — đúng tinh thần data-centric của môn Phân tích dữ liệu.</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10789920" y="-1234440"/>
            <a:ext cx="2743200" cy="2743200"/>
          </a:xfrm>
          <a:prstGeom prst="ellipse">
            <a:avLst/>
          </a:prstGeom>
          <a:solidFill>
            <a:srgbClr val="EAF1F6"/>
          </a:solidFill>
          <a:ln w="12700">
            <a:solidFill>
              <a:srgbClr val="333333"/>
            </a:solidFill>
            <a:prstDash val="solid"/>
          </a:ln>
        </p:spPr>
      </p:sp>
      <p:sp>
        <p:nvSpPr>
          <p:cNvPr id="4" name="Shape 1"/>
          <p:cNvSpPr/>
          <p:nvPr/>
        </p:nvSpPr>
        <p:spPr>
          <a:xfrm>
            <a:off x="11475720" y="182880"/>
            <a:ext cx="822960" cy="822960"/>
          </a:xfrm>
          <a:prstGeom prst="ellipse">
            <a:avLst/>
          </a:prstGeom>
          <a:solidFill>
            <a:srgbClr val="DCE8F0"/>
          </a:solidFill>
          <a:ln w="12700">
            <a:solidFill>
              <a:srgbClr val="333333"/>
            </a:solidFill>
            <a:prstDash val="solid"/>
          </a:ln>
        </p:spPr>
      </p:sp>
      <p:sp>
        <p:nvSpPr>
          <p:cNvPr id="5" name="Shape 2"/>
          <p:cNvSpPr/>
          <p:nvPr/>
        </p:nvSpPr>
        <p:spPr>
          <a:xfrm>
            <a:off x="548640" y="6382512"/>
            <a:ext cx="11064240" cy="0"/>
          </a:xfrm>
          <a:prstGeom prst="line">
            <a:avLst/>
          </a:prstGeom>
          <a:noFill/>
          <a:ln w="12700">
            <a:solidFill>
              <a:srgbClr val="DDE3EA"/>
            </a:solidFill>
            <a:prstDash val="solid"/>
          </a:ln>
        </p:spPr>
      </p:sp>
      <p:sp>
        <p:nvSpPr>
          <p:cNvPr id="6" name="Text 3"/>
          <p:cNvSpPr/>
          <p:nvPr/>
        </p:nvSpPr>
        <p:spPr>
          <a:xfrm>
            <a:off x="548640" y="6419088"/>
            <a:ext cx="8686800" cy="274320"/>
          </a:xfrm>
          <a:prstGeom prst="rect">
            <a:avLst/>
          </a:prstGeom>
          <a:noFill/>
          <a:ln/>
        </p:spPr>
        <p:txBody>
          <a:bodyPr wrap="square" lIns="0" tIns="0" rIns="0" bIns="0" rtlCol="0" anchor="ctr"/>
          <a:lstStyle/>
          <a:p>
            <a:pPr indent="0" marL="0">
              <a:buNone/>
            </a:pPr>
            <a:r>
              <a:rPr lang="en-US" sz="900" dirty="0">
                <a:solidFill>
                  <a:srgbClr val="9AA7B4"/>
                </a:solidFill>
                <a:latin typeface="Calibri" pitchFamily="34" charset="0"/>
                <a:ea typeface="Calibri" pitchFamily="34" charset="-122"/>
                <a:cs typeface="Calibri" pitchFamily="34" charset="-120"/>
              </a:rPr>
              <a:t>Kiểm định độ tin cậy YOLOv8 · Nhóm KHMT836016/34/36</a:t>
            </a:r>
            <a:endParaRPr lang="en-US" sz="900" dirty="0"/>
          </a:p>
        </p:txBody>
      </p:sp>
      <p:sp>
        <p:nvSpPr>
          <p:cNvPr id="7" name="Text 4"/>
          <p:cNvSpPr/>
          <p:nvPr/>
        </p:nvSpPr>
        <p:spPr>
          <a:xfrm>
            <a:off x="11064240" y="6419088"/>
            <a:ext cx="548640" cy="274320"/>
          </a:xfrm>
          <a:prstGeom prst="rect">
            <a:avLst/>
          </a:prstGeom>
          <a:noFill/>
          <a:ln/>
        </p:spPr>
        <p:txBody>
          <a:bodyPr wrap="square" lIns="0" tIns="0" rIns="0" bIns="0" rtlCol="0" anchor="ctr"/>
          <a:lstStyle/>
          <a:p>
            <a:pPr algn="r" indent="0" marL="0">
              <a:buNone/>
            </a:pPr>
            <a:r>
              <a:rPr lang="en-US" sz="1000" b="1" dirty="0">
                <a:solidFill>
                  <a:srgbClr val="1C7293"/>
                </a:solidFill>
                <a:latin typeface="Calibri" pitchFamily="34" charset="0"/>
                <a:ea typeface="Calibri" pitchFamily="34" charset="-122"/>
                <a:cs typeface="Calibri" pitchFamily="34" charset="-120"/>
              </a:rPr>
              <a:t>7</a:t>
            </a:r>
            <a:endParaRPr lang="en-US" sz="1000" dirty="0"/>
          </a:p>
        </p:txBody>
      </p:sp>
      <p:sp>
        <p:nvSpPr>
          <p:cNvPr id="8" name="Shape 5"/>
          <p:cNvSpPr/>
          <p:nvPr/>
        </p:nvSpPr>
        <p:spPr>
          <a:xfrm>
            <a:off x="548640" y="457200"/>
            <a:ext cx="155448" cy="457200"/>
          </a:xfrm>
          <a:prstGeom prst="roundRect">
            <a:avLst>
              <a:gd name="adj" fmla="val 17647"/>
            </a:avLst>
          </a:prstGeom>
          <a:solidFill>
            <a:srgbClr val="1C7293"/>
          </a:solidFill>
          <a:ln w="12700">
            <a:solidFill>
              <a:srgbClr val="333333"/>
            </a:solidFill>
            <a:prstDash val="solid"/>
          </a:ln>
        </p:spPr>
      </p:sp>
      <p:sp>
        <p:nvSpPr>
          <p:cNvPr id="9" name="Text 6"/>
          <p:cNvSpPr/>
          <p:nvPr/>
        </p:nvSpPr>
        <p:spPr>
          <a:xfrm>
            <a:off x="877824" y="365760"/>
            <a:ext cx="10735056" cy="713232"/>
          </a:xfrm>
          <a:prstGeom prst="rect">
            <a:avLst/>
          </a:prstGeom>
          <a:noFill/>
          <a:ln/>
        </p:spPr>
        <p:txBody>
          <a:bodyPr wrap="square" lIns="0" tIns="0" rIns="0" bIns="0" rtlCol="0" anchor="ctr"/>
          <a:lstStyle/>
          <a:p>
            <a:pPr indent="0" marL="0">
              <a:buNone/>
            </a:pPr>
            <a:r>
              <a:rPr lang="en-US" sz="2900" b="1" dirty="0">
                <a:solidFill>
                  <a:srgbClr val="1A2430"/>
                </a:solidFill>
                <a:latin typeface="Cambria" pitchFamily="34" charset="0"/>
                <a:ea typeface="Cambria" pitchFamily="34" charset="-122"/>
                <a:cs typeface="Cambria" pitchFamily="34" charset="-120"/>
              </a:rPr>
              <a:t>Vì sao chọn hướng data-centric?</a:t>
            </a:r>
            <a:endParaRPr lang="en-US" sz="2900" dirty="0"/>
          </a:p>
        </p:txBody>
      </p:sp>
      <p:sp>
        <p:nvSpPr>
          <p:cNvPr id="10" name="Shape 7"/>
          <p:cNvSpPr/>
          <p:nvPr/>
        </p:nvSpPr>
        <p:spPr>
          <a:xfrm>
            <a:off x="548640" y="1481328"/>
            <a:ext cx="11064240" cy="3593592"/>
          </a:xfrm>
          <a:prstGeom prst="roundRect">
            <a:avLst>
              <a:gd name="adj" fmla="val 2545"/>
            </a:avLst>
          </a:prstGeom>
          <a:solidFill>
            <a:srgbClr val="F7FAFC"/>
          </a:solidFill>
          <a:ln w="12700">
            <a:solidFill>
              <a:srgbClr val="E6ECF2"/>
            </a:solidFill>
            <a:prstDash val="solid"/>
          </a:ln>
          <a:effectLst>
            <a:outerShdw sx="100000" sy="100000" kx="0" ky="0" algn="bl" rotWithShape="0" blurRad="114300" dist="25400" dir="5400000">
              <a:srgbClr val="9FB0C0">
                <a:alpha val="22000"/>
              </a:srgbClr>
            </a:outerShdw>
          </a:effectLst>
        </p:spPr>
      </p:sp>
      <p:sp>
        <p:nvSpPr>
          <p:cNvPr id="11" name="Shape 8"/>
          <p:cNvSpPr/>
          <p:nvPr/>
        </p:nvSpPr>
        <p:spPr>
          <a:xfrm>
            <a:off x="713232" y="1682496"/>
            <a:ext cx="82296" cy="3191256"/>
          </a:xfrm>
          <a:prstGeom prst="roundRect">
            <a:avLst>
              <a:gd name="adj" fmla="val 44444"/>
            </a:avLst>
          </a:prstGeom>
          <a:solidFill>
            <a:srgbClr val="1C7293"/>
          </a:solidFill>
          <a:ln w="12700">
            <a:solidFill>
              <a:srgbClr val="333333"/>
            </a:solidFill>
            <a:prstDash val="solid"/>
          </a:ln>
        </p:spPr>
      </p:sp>
      <p:sp>
        <p:nvSpPr>
          <p:cNvPr id="12" name="Text 9"/>
          <p:cNvSpPr/>
          <p:nvPr/>
        </p:nvSpPr>
        <p:spPr>
          <a:xfrm>
            <a:off x="1115568" y="1572768"/>
            <a:ext cx="10195560" cy="3410712"/>
          </a:xfrm>
          <a:prstGeom prst="rect">
            <a:avLst/>
          </a:prstGeom>
          <a:noFill/>
          <a:ln/>
        </p:spPr>
        <p:txBody>
          <a:bodyPr wrap="square" lIns="0" tIns="0" rIns="0" bIns="0" rtlCol="0" anchor="ctr"/>
          <a:lstStyle/>
          <a:p>
            <a:pPr marL="228600" indent="-228600">
              <a:lnSpc>
                <a:spcPct val="108000"/>
              </a:lnSpc>
              <a:spcAft>
                <a:spcPts val="1400"/>
              </a:spcAft>
              <a:buSzPct val="100000"/>
              <a:buChar char="•"/>
            </a:pPr>
            <a:r>
              <a:rPr lang="en-US" sz="1650" dirty="0">
                <a:solidFill>
                  <a:srgbClr val="1A2430"/>
                </a:solidFill>
                <a:latin typeface="Calibri" pitchFamily="34" charset="0"/>
                <a:ea typeface="Calibri" pitchFamily="34" charset="-122"/>
                <a:cs typeface="Calibri" pitchFamily="34" charset="-120"/>
              </a:rPr>
              <a:t>Khi kiến trúc mô hình đã bão hoà, cải thiện tiếp theo đến từ việc hiểu và làm sạch DỮ LIỆU (Andrew Ng).</a:t>
            </a:r>
            <a:endParaRPr lang="en-US" sz="1650" dirty="0"/>
          </a:p>
          <a:p>
            <a:pPr marL="228600" indent="-228600">
              <a:lnSpc>
                <a:spcPct val="108000"/>
              </a:lnSpc>
              <a:spcAft>
                <a:spcPts val="1400"/>
              </a:spcAft>
              <a:buSzPct val="100000"/>
              <a:buChar char="•"/>
            </a:pPr>
            <a:r>
              <a:rPr lang="en-US" sz="1650" dirty="0">
                <a:solidFill>
                  <a:srgbClr val="1A2430"/>
                </a:solidFill>
                <a:latin typeface="Calibri" pitchFamily="34" charset="0"/>
                <a:ea typeface="Calibri" pitchFamily="34" charset="-122"/>
                <a:cs typeface="Calibri" pitchFamily="34" charset="-120"/>
              </a:rPr>
              <a:t>Một mAP cao chưa chắc đáng tin nếu tập đánh giá bị rò rỉ dữ liệu.</a:t>
            </a:r>
            <a:endParaRPr lang="en-US" sz="1650" dirty="0"/>
          </a:p>
          <a:p>
            <a:pPr marL="228600" indent="-228600">
              <a:lnSpc>
                <a:spcPct val="108000"/>
              </a:lnSpc>
              <a:spcAft>
                <a:spcPts val="1400"/>
              </a:spcAft>
              <a:buSzPct val="100000"/>
              <a:buChar char="•"/>
            </a:pPr>
            <a:r>
              <a:rPr lang="en-US" sz="1650" dirty="0">
                <a:solidFill>
                  <a:srgbClr val="1A2430"/>
                </a:solidFill>
                <a:latin typeface="Calibri" pitchFamily="34" charset="0"/>
                <a:ea typeface="Calibri" pitchFamily="34" charset="-122"/>
                <a:cs typeface="Calibri" pitchFamily="34" charset="-120"/>
              </a:rPr>
              <a:t>Một mAP trung bình có thể che giấu vài lớp rất yếu — cần nhìn theo từng lớp.</a:t>
            </a:r>
            <a:endParaRPr lang="en-US" sz="1650" dirty="0"/>
          </a:p>
          <a:p>
            <a:pPr marL="228600" indent="-228600">
              <a:lnSpc>
                <a:spcPct val="108000"/>
              </a:lnSpc>
              <a:spcAft>
                <a:spcPts val="1400"/>
              </a:spcAft>
              <a:buSzPct val="100000"/>
              <a:buChar char="•"/>
            </a:pPr>
            <a:r>
              <a:rPr lang="en-US" sz="1650" dirty="0">
                <a:solidFill>
                  <a:srgbClr val="1A2430"/>
                </a:solidFill>
                <a:latin typeface="Calibri" pitchFamily="34" charset="0"/>
                <a:ea typeface="Calibri" pitchFamily="34" charset="-122"/>
                <a:cs typeface="Calibri" pitchFamily="34" charset="-120"/>
              </a:rPr>
              <a:t>Hướng data-centric giúp phát hiện đúng những rủi ro này — điều mà một báo cáo chỉ nêu mAP tổng sẽ bỏ sót.</a:t>
            </a:r>
            <a:endParaRPr lang="en-US" sz="1650" dirty="0"/>
          </a:p>
        </p:txBody>
      </p:sp>
      <p:sp>
        <p:nvSpPr>
          <p:cNvPr id="13" name="Shape 10"/>
          <p:cNvSpPr/>
          <p:nvPr/>
        </p:nvSpPr>
        <p:spPr>
          <a:xfrm>
            <a:off x="548640" y="5230368"/>
            <a:ext cx="11064240" cy="896112"/>
          </a:xfrm>
          <a:prstGeom prst="roundRect">
            <a:avLst>
              <a:gd name="adj" fmla="val 10204"/>
            </a:avLst>
          </a:prstGeom>
          <a:solidFill>
            <a:srgbClr val="152238"/>
          </a:solidFill>
          <a:ln w="12700">
            <a:solidFill>
              <a:srgbClr val="333333"/>
            </a:solidFill>
            <a:prstDash val="solid"/>
          </a:ln>
          <a:effectLst>
            <a:outerShdw sx="100000" sy="100000" kx="0" ky="0" algn="bl" rotWithShape="0" blurRad="101600" dist="25400" dir="5400000">
              <a:srgbClr val="6E7C8A">
                <a:alpha val="30000"/>
              </a:srgbClr>
            </a:outerShdw>
          </a:effectLst>
        </p:spPr>
      </p:sp>
      <p:sp>
        <p:nvSpPr>
          <p:cNvPr id="14" name="Shape 11"/>
          <p:cNvSpPr/>
          <p:nvPr/>
        </p:nvSpPr>
        <p:spPr>
          <a:xfrm>
            <a:off x="804672" y="5596128"/>
            <a:ext cx="164592" cy="164592"/>
          </a:xfrm>
          <a:prstGeom prst="ellipse">
            <a:avLst/>
          </a:prstGeom>
          <a:solidFill>
            <a:srgbClr val="F4A261"/>
          </a:solidFill>
          <a:ln w="12700">
            <a:solidFill>
              <a:srgbClr val="333333"/>
            </a:solidFill>
            <a:prstDash val="solid"/>
          </a:ln>
        </p:spPr>
      </p:sp>
      <p:sp>
        <p:nvSpPr>
          <p:cNvPr id="15" name="Text 12"/>
          <p:cNvSpPr/>
          <p:nvPr/>
        </p:nvSpPr>
        <p:spPr>
          <a:xfrm>
            <a:off x="1133856" y="5303520"/>
            <a:ext cx="10222992" cy="749808"/>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Vì vậy đề tài xem chính DỮ LIỆU và độ tin cậy của kết quả là đối tượng nghiên cứu, thay vì chạy đua thêm một mô hình.</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10789920" y="-1234440"/>
            <a:ext cx="2743200" cy="2743200"/>
          </a:xfrm>
          <a:prstGeom prst="ellipse">
            <a:avLst/>
          </a:prstGeom>
          <a:solidFill>
            <a:srgbClr val="EAF1F6"/>
          </a:solidFill>
          <a:ln w="12700">
            <a:solidFill>
              <a:srgbClr val="333333"/>
            </a:solidFill>
            <a:prstDash val="solid"/>
          </a:ln>
        </p:spPr>
      </p:sp>
      <p:sp>
        <p:nvSpPr>
          <p:cNvPr id="4" name="Shape 1"/>
          <p:cNvSpPr/>
          <p:nvPr/>
        </p:nvSpPr>
        <p:spPr>
          <a:xfrm>
            <a:off x="11475720" y="182880"/>
            <a:ext cx="822960" cy="822960"/>
          </a:xfrm>
          <a:prstGeom prst="ellipse">
            <a:avLst/>
          </a:prstGeom>
          <a:solidFill>
            <a:srgbClr val="DCE8F0"/>
          </a:solidFill>
          <a:ln w="12700">
            <a:solidFill>
              <a:srgbClr val="333333"/>
            </a:solidFill>
            <a:prstDash val="solid"/>
          </a:ln>
        </p:spPr>
      </p:sp>
      <p:sp>
        <p:nvSpPr>
          <p:cNvPr id="5" name="Shape 2"/>
          <p:cNvSpPr/>
          <p:nvPr/>
        </p:nvSpPr>
        <p:spPr>
          <a:xfrm>
            <a:off x="548640" y="6382512"/>
            <a:ext cx="11064240" cy="0"/>
          </a:xfrm>
          <a:prstGeom prst="line">
            <a:avLst/>
          </a:prstGeom>
          <a:noFill/>
          <a:ln w="12700">
            <a:solidFill>
              <a:srgbClr val="DDE3EA"/>
            </a:solidFill>
            <a:prstDash val="solid"/>
          </a:ln>
        </p:spPr>
      </p:sp>
      <p:sp>
        <p:nvSpPr>
          <p:cNvPr id="6" name="Text 3"/>
          <p:cNvSpPr/>
          <p:nvPr/>
        </p:nvSpPr>
        <p:spPr>
          <a:xfrm>
            <a:off x="548640" y="6419088"/>
            <a:ext cx="8686800" cy="274320"/>
          </a:xfrm>
          <a:prstGeom prst="rect">
            <a:avLst/>
          </a:prstGeom>
          <a:noFill/>
          <a:ln/>
        </p:spPr>
        <p:txBody>
          <a:bodyPr wrap="square" lIns="0" tIns="0" rIns="0" bIns="0" rtlCol="0" anchor="ctr"/>
          <a:lstStyle/>
          <a:p>
            <a:pPr indent="0" marL="0">
              <a:buNone/>
            </a:pPr>
            <a:r>
              <a:rPr lang="en-US" sz="900" dirty="0">
                <a:solidFill>
                  <a:srgbClr val="9AA7B4"/>
                </a:solidFill>
                <a:latin typeface="Calibri" pitchFamily="34" charset="0"/>
                <a:ea typeface="Calibri" pitchFamily="34" charset="-122"/>
                <a:cs typeface="Calibri" pitchFamily="34" charset="-120"/>
              </a:rPr>
              <a:t>Kiểm định độ tin cậy YOLOv8 · Nhóm KHMT836016/34/36</a:t>
            </a:r>
            <a:endParaRPr lang="en-US" sz="900" dirty="0"/>
          </a:p>
        </p:txBody>
      </p:sp>
      <p:sp>
        <p:nvSpPr>
          <p:cNvPr id="7" name="Text 4"/>
          <p:cNvSpPr/>
          <p:nvPr/>
        </p:nvSpPr>
        <p:spPr>
          <a:xfrm>
            <a:off x="11064240" y="6419088"/>
            <a:ext cx="548640" cy="274320"/>
          </a:xfrm>
          <a:prstGeom prst="rect">
            <a:avLst/>
          </a:prstGeom>
          <a:noFill/>
          <a:ln/>
        </p:spPr>
        <p:txBody>
          <a:bodyPr wrap="square" lIns="0" tIns="0" rIns="0" bIns="0" rtlCol="0" anchor="ctr"/>
          <a:lstStyle/>
          <a:p>
            <a:pPr algn="r" indent="0" marL="0">
              <a:buNone/>
            </a:pPr>
            <a:r>
              <a:rPr lang="en-US" sz="1000" b="1" dirty="0">
                <a:solidFill>
                  <a:srgbClr val="1C7293"/>
                </a:solidFill>
                <a:latin typeface="Calibri" pitchFamily="34" charset="0"/>
                <a:ea typeface="Calibri" pitchFamily="34" charset="-122"/>
                <a:cs typeface="Calibri" pitchFamily="34" charset="-120"/>
              </a:rPr>
              <a:t>8</a:t>
            </a:r>
            <a:endParaRPr lang="en-US" sz="1000" dirty="0"/>
          </a:p>
        </p:txBody>
      </p:sp>
      <p:sp>
        <p:nvSpPr>
          <p:cNvPr id="8" name="Shape 5"/>
          <p:cNvSpPr/>
          <p:nvPr/>
        </p:nvSpPr>
        <p:spPr>
          <a:xfrm>
            <a:off x="548640" y="457200"/>
            <a:ext cx="155448" cy="457200"/>
          </a:xfrm>
          <a:prstGeom prst="roundRect">
            <a:avLst>
              <a:gd name="adj" fmla="val 17647"/>
            </a:avLst>
          </a:prstGeom>
          <a:solidFill>
            <a:srgbClr val="1C7293"/>
          </a:solidFill>
          <a:ln w="12700">
            <a:solidFill>
              <a:srgbClr val="333333"/>
            </a:solidFill>
            <a:prstDash val="solid"/>
          </a:ln>
        </p:spPr>
      </p:sp>
      <p:sp>
        <p:nvSpPr>
          <p:cNvPr id="9" name="Text 6"/>
          <p:cNvSpPr/>
          <p:nvPr/>
        </p:nvSpPr>
        <p:spPr>
          <a:xfrm>
            <a:off x="877824" y="365760"/>
            <a:ext cx="10735056" cy="713232"/>
          </a:xfrm>
          <a:prstGeom prst="rect">
            <a:avLst/>
          </a:prstGeom>
          <a:noFill/>
          <a:ln/>
        </p:spPr>
        <p:txBody>
          <a:bodyPr wrap="square" lIns="0" tIns="0" rIns="0" bIns="0" rtlCol="0" anchor="ctr"/>
          <a:lstStyle/>
          <a:p>
            <a:pPr indent="0" marL="0">
              <a:buNone/>
            </a:pPr>
            <a:r>
              <a:rPr lang="en-US" sz="2900" b="1" dirty="0">
                <a:solidFill>
                  <a:srgbClr val="1A2430"/>
                </a:solidFill>
                <a:latin typeface="Cambria" pitchFamily="34" charset="0"/>
                <a:ea typeface="Cambria" pitchFamily="34" charset="-122"/>
                <a:cs typeface="Cambria" pitchFamily="34" charset="-120"/>
              </a:rPr>
              <a:t>Ba câu hỏi nghiên cứu</a:t>
            </a:r>
            <a:endParaRPr lang="en-US" sz="2900" dirty="0"/>
          </a:p>
        </p:txBody>
      </p:sp>
      <p:sp>
        <p:nvSpPr>
          <p:cNvPr id="10" name="Shape 7"/>
          <p:cNvSpPr/>
          <p:nvPr/>
        </p:nvSpPr>
        <p:spPr>
          <a:xfrm>
            <a:off x="548640" y="1481328"/>
            <a:ext cx="11064240" cy="1280160"/>
          </a:xfrm>
          <a:prstGeom prst="roundRect">
            <a:avLst>
              <a:gd name="adj" fmla="val 7143"/>
            </a:avLst>
          </a:prstGeom>
          <a:solidFill>
            <a:srgbClr val="F4F7FA"/>
          </a:solidFill>
          <a:ln w="12700">
            <a:solidFill>
              <a:srgbClr val="E6ECF2"/>
            </a:solidFill>
            <a:prstDash val="solid"/>
          </a:ln>
          <a:effectLst>
            <a:outerShdw sx="100000" sy="100000" kx="0" ky="0" algn="bl" rotWithShape="0" blurRad="114300" dist="25400" dir="5400000">
              <a:srgbClr val="9FB0C0">
                <a:alpha val="22000"/>
              </a:srgbClr>
            </a:outerShdw>
          </a:effectLst>
        </p:spPr>
      </p:sp>
      <p:sp>
        <p:nvSpPr>
          <p:cNvPr id="11" name="Shape 8"/>
          <p:cNvSpPr/>
          <p:nvPr/>
        </p:nvSpPr>
        <p:spPr>
          <a:xfrm>
            <a:off x="548640" y="1481328"/>
            <a:ext cx="146304" cy="1280160"/>
          </a:xfrm>
          <a:prstGeom prst="roundRect">
            <a:avLst>
              <a:gd name="adj" fmla="val 37500"/>
            </a:avLst>
          </a:prstGeom>
          <a:solidFill>
            <a:srgbClr val="F4A261"/>
          </a:solidFill>
          <a:ln w="12700">
            <a:solidFill>
              <a:srgbClr val="333333"/>
            </a:solidFill>
            <a:prstDash val="solid"/>
          </a:ln>
        </p:spPr>
      </p:sp>
      <p:sp>
        <p:nvSpPr>
          <p:cNvPr id="12" name="Shape 9"/>
          <p:cNvSpPr/>
          <p:nvPr/>
        </p:nvSpPr>
        <p:spPr>
          <a:xfrm>
            <a:off x="932688" y="1883664"/>
            <a:ext cx="512064" cy="512064"/>
          </a:xfrm>
          <a:prstGeom prst="ellipse">
            <a:avLst/>
          </a:prstGeom>
          <a:solidFill>
            <a:srgbClr val="F4A261"/>
          </a:solidFill>
          <a:ln w="12700">
            <a:solidFill>
              <a:srgbClr val="333333"/>
            </a:solidFill>
            <a:prstDash val="solid"/>
          </a:ln>
          <a:effectLst>
            <a:outerShdw sx="100000" sy="100000" kx="0" ky="0" algn="bl" rotWithShape="0" blurRad="63500" dist="12700" dir="5400000">
              <a:srgbClr val="F4A261">
                <a:alpha val="35000"/>
              </a:srgbClr>
            </a:outerShdw>
          </a:effectLst>
        </p:spPr>
      </p:sp>
      <p:sp>
        <p:nvSpPr>
          <p:cNvPr id="13" name="Text 10"/>
          <p:cNvSpPr/>
          <p:nvPr/>
        </p:nvSpPr>
        <p:spPr>
          <a:xfrm>
            <a:off x="932688" y="1883664"/>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a:t>
            </a:r>
            <a:endParaRPr lang="en-US" sz="1500" dirty="0"/>
          </a:p>
        </p:txBody>
      </p:sp>
      <p:sp>
        <p:nvSpPr>
          <p:cNvPr id="14" name="Text 11"/>
          <p:cNvSpPr/>
          <p:nvPr/>
        </p:nvSpPr>
        <p:spPr>
          <a:xfrm>
            <a:off x="1691640" y="1645920"/>
            <a:ext cx="2834640" cy="950976"/>
          </a:xfrm>
          <a:prstGeom prst="rect">
            <a:avLst/>
          </a:prstGeom>
          <a:noFill/>
          <a:ln/>
        </p:spPr>
        <p:txBody>
          <a:bodyPr wrap="square" lIns="0" tIns="0" rIns="0" bIns="0" rtlCol="0" anchor="ctr"/>
          <a:lstStyle/>
          <a:p>
            <a:pPr indent="0" marL="0">
              <a:buNone/>
            </a:pPr>
            <a:r>
              <a:rPr lang="en-US" sz="1900" b="1" dirty="0">
                <a:solidFill>
                  <a:srgbClr val="B5651D"/>
                </a:solidFill>
                <a:latin typeface="Cambria" pitchFamily="34" charset="0"/>
                <a:ea typeface="Cambria" pitchFamily="34" charset="-122"/>
                <a:cs typeface="Cambria" pitchFamily="34" charset="-120"/>
              </a:rPr>
              <a:t>Rò rỉ dữ liệu</a:t>
            </a:r>
            <a:endParaRPr lang="en-US" sz="1900" dirty="0"/>
          </a:p>
        </p:txBody>
      </p:sp>
      <p:sp>
        <p:nvSpPr>
          <p:cNvPr id="15" name="Text 12"/>
          <p:cNvSpPr/>
          <p:nvPr/>
        </p:nvSpPr>
        <p:spPr>
          <a:xfrm>
            <a:off x="4663440" y="1645920"/>
            <a:ext cx="6675120" cy="950976"/>
          </a:xfrm>
          <a:prstGeom prst="rect">
            <a:avLst/>
          </a:prstGeom>
          <a:noFill/>
          <a:ln/>
        </p:spPr>
        <p:txBody>
          <a:bodyPr wrap="square" lIns="0" tIns="0" rIns="0" bIns="0" rtlCol="0" anchor="ctr"/>
          <a:lstStyle/>
          <a:p>
            <a:pPr indent="0" marL="0">
              <a:lnSpc>
                <a:spcPct val="110000"/>
              </a:lnSpc>
              <a:buNone/>
            </a:pPr>
            <a:r>
              <a:rPr lang="en-US" sz="1500" dirty="0">
                <a:solidFill>
                  <a:srgbClr val="1A2430"/>
                </a:solidFill>
                <a:latin typeface="Calibri" pitchFamily="34" charset="0"/>
                <a:ea typeface="Calibri" pitchFamily="34" charset="-122"/>
                <a:cs typeface="Calibri" pitchFamily="34" charset="-120"/>
              </a:rPr>
              <a:t>Mức độ rò rỉ xuyên split là bao nhiêu, và nó ảnh hưởng thế nào tới độ tin cậy của mAP?</a:t>
            </a:r>
            <a:endParaRPr lang="en-US" sz="1500" dirty="0"/>
          </a:p>
        </p:txBody>
      </p:sp>
      <p:sp>
        <p:nvSpPr>
          <p:cNvPr id="16" name="Shape 13"/>
          <p:cNvSpPr/>
          <p:nvPr/>
        </p:nvSpPr>
        <p:spPr>
          <a:xfrm>
            <a:off x="548640" y="3172968"/>
            <a:ext cx="11064240" cy="1280160"/>
          </a:xfrm>
          <a:prstGeom prst="roundRect">
            <a:avLst>
              <a:gd name="adj" fmla="val 7143"/>
            </a:avLst>
          </a:prstGeom>
          <a:solidFill>
            <a:srgbClr val="F4F7FA"/>
          </a:solidFill>
          <a:ln w="12700">
            <a:solidFill>
              <a:srgbClr val="E6ECF2"/>
            </a:solidFill>
            <a:prstDash val="solid"/>
          </a:ln>
          <a:effectLst>
            <a:outerShdw sx="100000" sy="100000" kx="0" ky="0" algn="bl" rotWithShape="0" blurRad="114300" dist="25400" dir="5400000">
              <a:srgbClr val="9FB0C0">
                <a:alpha val="22000"/>
              </a:srgbClr>
            </a:outerShdw>
          </a:effectLst>
        </p:spPr>
      </p:sp>
      <p:sp>
        <p:nvSpPr>
          <p:cNvPr id="17" name="Shape 14"/>
          <p:cNvSpPr/>
          <p:nvPr/>
        </p:nvSpPr>
        <p:spPr>
          <a:xfrm>
            <a:off x="548640" y="3172968"/>
            <a:ext cx="146304" cy="1280160"/>
          </a:xfrm>
          <a:prstGeom prst="roundRect">
            <a:avLst>
              <a:gd name="adj" fmla="val 37500"/>
            </a:avLst>
          </a:prstGeom>
          <a:solidFill>
            <a:srgbClr val="E63946"/>
          </a:solidFill>
          <a:ln w="12700">
            <a:solidFill>
              <a:srgbClr val="333333"/>
            </a:solidFill>
            <a:prstDash val="solid"/>
          </a:ln>
        </p:spPr>
      </p:sp>
      <p:sp>
        <p:nvSpPr>
          <p:cNvPr id="18" name="Shape 15"/>
          <p:cNvSpPr/>
          <p:nvPr/>
        </p:nvSpPr>
        <p:spPr>
          <a:xfrm>
            <a:off x="932688" y="3575304"/>
            <a:ext cx="512064" cy="512064"/>
          </a:xfrm>
          <a:prstGeom prst="ellipse">
            <a:avLst/>
          </a:prstGeom>
          <a:solidFill>
            <a:srgbClr val="E63946"/>
          </a:solidFill>
          <a:ln w="12700">
            <a:solidFill>
              <a:srgbClr val="333333"/>
            </a:solidFill>
            <a:prstDash val="solid"/>
          </a:ln>
          <a:effectLst>
            <a:outerShdw sx="100000" sy="100000" kx="0" ky="0" algn="bl" rotWithShape="0" blurRad="63500" dist="12700" dir="5400000">
              <a:srgbClr val="E63946">
                <a:alpha val="35000"/>
              </a:srgbClr>
            </a:outerShdw>
          </a:effectLst>
        </p:spPr>
      </p:sp>
      <p:sp>
        <p:nvSpPr>
          <p:cNvPr id="19" name="Text 16"/>
          <p:cNvSpPr/>
          <p:nvPr/>
        </p:nvSpPr>
        <p:spPr>
          <a:xfrm>
            <a:off x="932688" y="3575304"/>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B</a:t>
            </a:r>
            <a:endParaRPr lang="en-US" sz="1500" dirty="0"/>
          </a:p>
        </p:txBody>
      </p:sp>
      <p:sp>
        <p:nvSpPr>
          <p:cNvPr id="20" name="Text 17"/>
          <p:cNvSpPr/>
          <p:nvPr/>
        </p:nvSpPr>
        <p:spPr>
          <a:xfrm>
            <a:off x="1691640" y="3337560"/>
            <a:ext cx="2834640" cy="950976"/>
          </a:xfrm>
          <a:prstGeom prst="rect">
            <a:avLst/>
          </a:prstGeom>
          <a:noFill/>
          <a:ln/>
        </p:spPr>
        <p:txBody>
          <a:bodyPr wrap="square" lIns="0" tIns="0" rIns="0" bIns="0" rtlCol="0" anchor="ctr"/>
          <a:lstStyle/>
          <a:p>
            <a:pPr indent="0" marL="0">
              <a:buNone/>
            </a:pPr>
            <a:r>
              <a:rPr lang="en-US" sz="1900" b="1" dirty="0">
                <a:solidFill>
                  <a:srgbClr val="E63946"/>
                </a:solidFill>
                <a:latin typeface="Cambria" pitchFamily="34" charset="0"/>
                <a:ea typeface="Cambria" pitchFamily="34" charset="-122"/>
                <a:cs typeface="Cambria" pitchFamily="34" charset="-120"/>
              </a:rPr>
              <a:t>Phân hoá lớp</a:t>
            </a:r>
            <a:endParaRPr lang="en-US" sz="1900" dirty="0"/>
          </a:p>
        </p:txBody>
      </p:sp>
      <p:sp>
        <p:nvSpPr>
          <p:cNvPr id="21" name="Text 18"/>
          <p:cNvSpPr/>
          <p:nvPr/>
        </p:nvSpPr>
        <p:spPr>
          <a:xfrm>
            <a:off x="4663440" y="3337560"/>
            <a:ext cx="6675120" cy="950976"/>
          </a:xfrm>
          <a:prstGeom prst="rect">
            <a:avLst/>
          </a:prstGeom>
          <a:noFill/>
          <a:ln/>
        </p:spPr>
        <p:txBody>
          <a:bodyPr wrap="square" lIns="0" tIns="0" rIns="0" bIns="0" rtlCol="0" anchor="ctr"/>
          <a:lstStyle/>
          <a:p>
            <a:pPr indent="0" marL="0">
              <a:lnSpc>
                <a:spcPct val="110000"/>
              </a:lnSpc>
              <a:buNone/>
            </a:pPr>
            <a:r>
              <a:rPr lang="en-US" sz="1500" dirty="0">
                <a:solidFill>
                  <a:srgbClr val="1A2430"/>
                </a:solidFill>
                <a:latin typeface="Calibri" pitchFamily="34" charset="0"/>
                <a:ea typeface="Calibri" pitchFamily="34" charset="-122"/>
                <a:cs typeface="Calibri" pitchFamily="34" charset="-120"/>
              </a:rPr>
              <a:t>Hiệu năng có đồng đều giữa các lớp không? Nếu không, khoảng cách lớn nhất nằm ở đâu?</a:t>
            </a:r>
            <a:endParaRPr lang="en-US" sz="1500" dirty="0"/>
          </a:p>
        </p:txBody>
      </p:sp>
      <p:sp>
        <p:nvSpPr>
          <p:cNvPr id="22" name="Shape 19"/>
          <p:cNvSpPr/>
          <p:nvPr/>
        </p:nvSpPr>
        <p:spPr>
          <a:xfrm>
            <a:off x="548640" y="4864608"/>
            <a:ext cx="11064240" cy="1280160"/>
          </a:xfrm>
          <a:prstGeom prst="roundRect">
            <a:avLst>
              <a:gd name="adj" fmla="val 7143"/>
            </a:avLst>
          </a:prstGeom>
          <a:solidFill>
            <a:srgbClr val="F4F7FA"/>
          </a:solidFill>
          <a:ln w="12700">
            <a:solidFill>
              <a:srgbClr val="E6ECF2"/>
            </a:solidFill>
            <a:prstDash val="solid"/>
          </a:ln>
          <a:effectLst>
            <a:outerShdw sx="100000" sy="100000" kx="0" ky="0" algn="bl" rotWithShape="0" blurRad="114300" dist="25400" dir="5400000">
              <a:srgbClr val="9FB0C0">
                <a:alpha val="22000"/>
              </a:srgbClr>
            </a:outerShdw>
          </a:effectLst>
        </p:spPr>
      </p:sp>
      <p:sp>
        <p:nvSpPr>
          <p:cNvPr id="23" name="Shape 20"/>
          <p:cNvSpPr/>
          <p:nvPr/>
        </p:nvSpPr>
        <p:spPr>
          <a:xfrm>
            <a:off x="548640" y="4864608"/>
            <a:ext cx="146304" cy="1280160"/>
          </a:xfrm>
          <a:prstGeom prst="roundRect">
            <a:avLst>
              <a:gd name="adj" fmla="val 37500"/>
            </a:avLst>
          </a:prstGeom>
          <a:solidFill>
            <a:srgbClr val="2C7A4B"/>
          </a:solidFill>
          <a:ln w="12700">
            <a:solidFill>
              <a:srgbClr val="333333"/>
            </a:solidFill>
            <a:prstDash val="solid"/>
          </a:ln>
        </p:spPr>
      </p:sp>
      <p:sp>
        <p:nvSpPr>
          <p:cNvPr id="24" name="Shape 21"/>
          <p:cNvSpPr/>
          <p:nvPr/>
        </p:nvSpPr>
        <p:spPr>
          <a:xfrm>
            <a:off x="932688" y="5266944"/>
            <a:ext cx="512064" cy="512064"/>
          </a:xfrm>
          <a:prstGeom prst="ellipse">
            <a:avLst/>
          </a:prstGeom>
          <a:solidFill>
            <a:srgbClr val="2C7A4B"/>
          </a:solidFill>
          <a:ln w="12700">
            <a:solidFill>
              <a:srgbClr val="333333"/>
            </a:solidFill>
            <a:prstDash val="solid"/>
          </a:ln>
          <a:effectLst>
            <a:outerShdw sx="100000" sy="100000" kx="0" ky="0" algn="bl" rotWithShape="0" blurRad="63500" dist="12700" dir="5400000">
              <a:srgbClr val="2C7A4B">
                <a:alpha val="35000"/>
              </a:srgbClr>
            </a:outerShdw>
          </a:effectLst>
        </p:spPr>
      </p:sp>
      <p:sp>
        <p:nvSpPr>
          <p:cNvPr id="25" name="Text 22"/>
          <p:cNvSpPr/>
          <p:nvPr/>
        </p:nvSpPr>
        <p:spPr>
          <a:xfrm>
            <a:off x="932688" y="5266944"/>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a:t>
            </a:r>
            <a:endParaRPr lang="en-US" sz="1500" dirty="0"/>
          </a:p>
        </p:txBody>
      </p:sp>
      <p:sp>
        <p:nvSpPr>
          <p:cNvPr id="26" name="Text 23"/>
          <p:cNvSpPr/>
          <p:nvPr/>
        </p:nvSpPr>
        <p:spPr>
          <a:xfrm>
            <a:off x="1691640" y="5029200"/>
            <a:ext cx="2834640" cy="950976"/>
          </a:xfrm>
          <a:prstGeom prst="rect">
            <a:avLst/>
          </a:prstGeom>
          <a:noFill/>
          <a:ln/>
        </p:spPr>
        <p:txBody>
          <a:bodyPr wrap="square" lIns="0" tIns="0" rIns="0" bIns="0" rtlCol="0" anchor="ctr"/>
          <a:lstStyle/>
          <a:p>
            <a:pPr indent="0" marL="0">
              <a:buNone/>
            </a:pPr>
            <a:r>
              <a:rPr lang="en-US" sz="1900" b="1" dirty="0">
                <a:solidFill>
                  <a:srgbClr val="2C7A4B"/>
                </a:solidFill>
                <a:latin typeface="Cambria" pitchFamily="34" charset="0"/>
                <a:ea typeface="Cambria" pitchFamily="34" charset="-122"/>
                <a:cs typeface="Cambria" pitchFamily="34" charset="-120"/>
              </a:rPr>
              <a:t>Nguyên nhân</a:t>
            </a:r>
            <a:endParaRPr lang="en-US" sz="1900" dirty="0"/>
          </a:p>
        </p:txBody>
      </p:sp>
      <p:sp>
        <p:nvSpPr>
          <p:cNvPr id="27" name="Text 24"/>
          <p:cNvSpPr/>
          <p:nvPr/>
        </p:nvSpPr>
        <p:spPr>
          <a:xfrm>
            <a:off x="4663440" y="5029200"/>
            <a:ext cx="6675120" cy="950976"/>
          </a:xfrm>
          <a:prstGeom prst="rect">
            <a:avLst/>
          </a:prstGeom>
          <a:noFill/>
          <a:ln/>
        </p:spPr>
        <p:txBody>
          <a:bodyPr wrap="square" lIns="0" tIns="0" rIns="0" bIns="0" rtlCol="0" anchor="ctr"/>
          <a:lstStyle/>
          <a:p>
            <a:pPr indent="0" marL="0">
              <a:lnSpc>
                <a:spcPct val="110000"/>
              </a:lnSpc>
              <a:buNone/>
            </a:pPr>
            <a:r>
              <a:rPr lang="en-US" sz="1500" dirty="0">
                <a:solidFill>
                  <a:srgbClr val="1A2430"/>
                </a:solidFill>
                <a:latin typeface="Calibri" pitchFamily="34" charset="0"/>
                <a:ea typeface="Calibri" pitchFamily="34" charset="-122"/>
                <a:cs typeface="Calibri" pitchFamily="34" charset="-120"/>
              </a:rPr>
              <a:t>Khoảng cách đó do độ hiếm của lớp (mất cân bằng) hay do bản chất vật thể?</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10789920" y="-1234440"/>
            <a:ext cx="2743200" cy="2743200"/>
          </a:xfrm>
          <a:prstGeom prst="ellipse">
            <a:avLst/>
          </a:prstGeom>
          <a:solidFill>
            <a:srgbClr val="EAF1F6"/>
          </a:solidFill>
          <a:ln w="12700">
            <a:solidFill>
              <a:srgbClr val="333333"/>
            </a:solidFill>
            <a:prstDash val="solid"/>
          </a:ln>
        </p:spPr>
      </p:sp>
      <p:sp>
        <p:nvSpPr>
          <p:cNvPr id="4" name="Shape 1"/>
          <p:cNvSpPr/>
          <p:nvPr/>
        </p:nvSpPr>
        <p:spPr>
          <a:xfrm>
            <a:off x="11475720" y="182880"/>
            <a:ext cx="822960" cy="822960"/>
          </a:xfrm>
          <a:prstGeom prst="ellipse">
            <a:avLst/>
          </a:prstGeom>
          <a:solidFill>
            <a:srgbClr val="DCE8F0"/>
          </a:solidFill>
          <a:ln w="12700">
            <a:solidFill>
              <a:srgbClr val="333333"/>
            </a:solidFill>
            <a:prstDash val="solid"/>
          </a:ln>
        </p:spPr>
      </p:sp>
      <p:sp>
        <p:nvSpPr>
          <p:cNvPr id="5" name="Shape 2"/>
          <p:cNvSpPr/>
          <p:nvPr/>
        </p:nvSpPr>
        <p:spPr>
          <a:xfrm>
            <a:off x="548640" y="6382512"/>
            <a:ext cx="11064240" cy="0"/>
          </a:xfrm>
          <a:prstGeom prst="line">
            <a:avLst/>
          </a:prstGeom>
          <a:noFill/>
          <a:ln w="12700">
            <a:solidFill>
              <a:srgbClr val="DDE3EA"/>
            </a:solidFill>
            <a:prstDash val="solid"/>
          </a:ln>
        </p:spPr>
      </p:sp>
      <p:sp>
        <p:nvSpPr>
          <p:cNvPr id="6" name="Text 3"/>
          <p:cNvSpPr/>
          <p:nvPr/>
        </p:nvSpPr>
        <p:spPr>
          <a:xfrm>
            <a:off x="548640" y="6419088"/>
            <a:ext cx="8686800" cy="274320"/>
          </a:xfrm>
          <a:prstGeom prst="rect">
            <a:avLst/>
          </a:prstGeom>
          <a:noFill/>
          <a:ln/>
        </p:spPr>
        <p:txBody>
          <a:bodyPr wrap="square" lIns="0" tIns="0" rIns="0" bIns="0" rtlCol="0" anchor="ctr"/>
          <a:lstStyle/>
          <a:p>
            <a:pPr indent="0" marL="0">
              <a:buNone/>
            </a:pPr>
            <a:r>
              <a:rPr lang="en-US" sz="900" dirty="0">
                <a:solidFill>
                  <a:srgbClr val="9AA7B4"/>
                </a:solidFill>
                <a:latin typeface="Calibri" pitchFamily="34" charset="0"/>
                <a:ea typeface="Calibri" pitchFamily="34" charset="-122"/>
                <a:cs typeface="Calibri" pitchFamily="34" charset="-120"/>
              </a:rPr>
              <a:t>Kiểm định độ tin cậy YOLOv8 · Nhóm KHMT836016/34/36</a:t>
            </a:r>
            <a:endParaRPr lang="en-US" sz="900" dirty="0"/>
          </a:p>
        </p:txBody>
      </p:sp>
      <p:sp>
        <p:nvSpPr>
          <p:cNvPr id="7" name="Text 4"/>
          <p:cNvSpPr/>
          <p:nvPr/>
        </p:nvSpPr>
        <p:spPr>
          <a:xfrm>
            <a:off x="11064240" y="6419088"/>
            <a:ext cx="548640" cy="274320"/>
          </a:xfrm>
          <a:prstGeom prst="rect">
            <a:avLst/>
          </a:prstGeom>
          <a:noFill/>
          <a:ln/>
        </p:spPr>
        <p:txBody>
          <a:bodyPr wrap="square" lIns="0" tIns="0" rIns="0" bIns="0" rtlCol="0" anchor="ctr"/>
          <a:lstStyle/>
          <a:p>
            <a:pPr algn="r" indent="0" marL="0">
              <a:buNone/>
            </a:pPr>
            <a:r>
              <a:rPr lang="en-US" sz="1000" b="1" dirty="0">
                <a:solidFill>
                  <a:srgbClr val="1C7293"/>
                </a:solidFill>
                <a:latin typeface="Calibri" pitchFamily="34" charset="0"/>
                <a:ea typeface="Calibri" pitchFamily="34" charset="-122"/>
                <a:cs typeface="Calibri" pitchFamily="34" charset="-120"/>
              </a:rPr>
              <a:t>9</a:t>
            </a:r>
            <a:endParaRPr lang="en-US" sz="1000" dirty="0"/>
          </a:p>
        </p:txBody>
      </p:sp>
      <p:sp>
        <p:nvSpPr>
          <p:cNvPr id="8" name="Shape 5"/>
          <p:cNvSpPr/>
          <p:nvPr/>
        </p:nvSpPr>
        <p:spPr>
          <a:xfrm>
            <a:off x="548640" y="457200"/>
            <a:ext cx="155448" cy="457200"/>
          </a:xfrm>
          <a:prstGeom prst="roundRect">
            <a:avLst>
              <a:gd name="adj" fmla="val 17647"/>
            </a:avLst>
          </a:prstGeom>
          <a:solidFill>
            <a:srgbClr val="1C7293"/>
          </a:solidFill>
          <a:ln w="12700">
            <a:solidFill>
              <a:srgbClr val="333333"/>
            </a:solidFill>
            <a:prstDash val="solid"/>
          </a:ln>
        </p:spPr>
      </p:sp>
      <p:sp>
        <p:nvSpPr>
          <p:cNvPr id="9" name="Text 6"/>
          <p:cNvSpPr/>
          <p:nvPr/>
        </p:nvSpPr>
        <p:spPr>
          <a:xfrm>
            <a:off x="877824" y="365760"/>
            <a:ext cx="10735056" cy="713232"/>
          </a:xfrm>
          <a:prstGeom prst="rect">
            <a:avLst/>
          </a:prstGeom>
          <a:noFill/>
          <a:ln/>
        </p:spPr>
        <p:txBody>
          <a:bodyPr wrap="square" lIns="0" tIns="0" rIns="0" bIns="0" rtlCol="0" anchor="ctr"/>
          <a:lstStyle/>
          <a:p>
            <a:pPr indent="0" marL="0">
              <a:buNone/>
            </a:pPr>
            <a:r>
              <a:rPr lang="en-US" sz="2900" b="1" dirty="0">
                <a:solidFill>
                  <a:srgbClr val="1A2430"/>
                </a:solidFill>
                <a:latin typeface="Cambria" pitchFamily="34" charset="0"/>
                <a:ea typeface="Cambria" pitchFamily="34" charset="-122"/>
                <a:cs typeface="Cambria" pitchFamily="34" charset="-120"/>
              </a:rPr>
              <a:t>Đóng góp của đề tài</a:t>
            </a:r>
            <a:endParaRPr lang="en-US" sz="2900" dirty="0"/>
          </a:p>
        </p:txBody>
      </p:sp>
      <p:sp>
        <p:nvSpPr>
          <p:cNvPr id="10" name="Shape 7"/>
          <p:cNvSpPr/>
          <p:nvPr/>
        </p:nvSpPr>
        <p:spPr>
          <a:xfrm>
            <a:off x="548640" y="1481328"/>
            <a:ext cx="5394960" cy="2011680"/>
          </a:xfrm>
          <a:prstGeom prst="roundRect">
            <a:avLst>
              <a:gd name="adj" fmla="val 4545"/>
            </a:avLst>
          </a:prstGeom>
          <a:solidFill>
            <a:srgbClr val="F4F7FA"/>
          </a:solidFill>
          <a:ln w="12700">
            <a:solidFill>
              <a:srgbClr val="E6ECF2"/>
            </a:solidFill>
            <a:prstDash val="solid"/>
          </a:ln>
          <a:effectLst>
            <a:outerShdw sx="100000" sy="100000" kx="0" ky="0" algn="bl" rotWithShape="0" blurRad="114300" dist="25400" dir="5400000">
              <a:srgbClr val="9FB0C0">
                <a:alpha val="22000"/>
              </a:srgbClr>
            </a:outerShdw>
          </a:effectLst>
        </p:spPr>
      </p:sp>
      <p:sp>
        <p:nvSpPr>
          <p:cNvPr id="11" name="Shape 8"/>
          <p:cNvSpPr/>
          <p:nvPr/>
        </p:nvSpPr>
        <p:spPr>
          <a:xfrm>
            <a:off x="859536" y="1810512"/>
            <a:ext cx="548640" cy="548640"/>
          </a:xfrm>
          <a:prstGeom prst="ellipse">
            <a:avLst/>
          </a:prstGeom>
          <a:solidFill>
            <a:srgbClr val="1C7293"/>
          </a:solidFill>
          <a:ln w="12700">
            <a:solidFill>
              <a:srgbClr val="333333"/>
            </a:solidFill>
            <a:prstDash val="solid"/>
          </a:ln>
          <a:effectLst>
            <a:outerShdw sx="100000" sy="100000" kx="0" ky="0" algn="bl" rotWithShape="0" blurRad="63500" dist="12700" dir="5400000">
              <a:srgbClr val="1C7293">
                <a:alpha val="35000"/>
              </a:srgbClr>
            </a:outerShdw>
          </a:effectLst>
        </p:spPr>
      </p:sp>
      <p:sp>
        <p:nvSpPr>
          <p:cNvPr id="12" name="Text 9"/>
          <p:cNvSpPr/>
          <p:nvPr/>
        </p:nvSpPr>
        <p:spPr>
          <a:xfrm>
            <a:off x="859536" y="181051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3" name="Text 10"/>
          <p:cNvSpPr/>
          <p:nvPr/>
        </p:nvSpPr>
        <p:spPr>
          <a:xfrm>
            <a:off x="1600200" y="1792224"/>
            <a:ext cx="4114800" cy="502920"/>
          </a:xfrm>
          <a:prstGeom prst="rect">
            <a:avLst/>
          </a:prstGeom>
          <a:noFill/>
          <a:ln/>
        </p:spPr>
        <p:txBody>
          <a:bodyPr wrap="square" lIns="0" tIns="0" rIns="0" bIns="0" rtlCol="0" anchor="ctr"/>
          <a:lstStyle/>
          <a:p>
            <a:pPr indent="0" marL="0">
              <a:buNone/>
            </a:pPr>
            <a:r>
              <a:rPr lang="en-US" sz="1800" b="1" dirty="0">
                <a:solidFill>
                  <a:srgbClr val="1C7293"/>
                </a:solidFill>
                <a:latin typeface="Cambria" pitchFamily="34" charset="0"/>
                <a:ea typeface="Cambria" pitchFamily="34" charset="-122"/>
                <a:cs typeface="Cambria" pitchFamily="34" charset="-120"/>
              </a:rPr>
              <a:t>Định lượng rò rỉ</a:t>
            </a:r>
            <a:endParaRPr lang="en-US" sz="1800" dirty="0"/>
          </a:p>
        </p:txBody>
      </p:sp>
      <p:sp>
        <p:nvSpPr>
          <p:cNvPr id="14" name="Text 11"/>
          <p:cNvSpPr/>
          <p:nvPr/>
        </p:nvSpPr>
        <p:spPr>
          <a:xfrm>
            <a:off x="877824" y="2441448"/>
            <a:ext cx="4754880" cy="914400"/>
          </a:xfrm>
          <a:prstGeom prst="rect">
            <a:avLst/>
          </a:prstGeom>
          <a:noFill/>
          <a:ln/>
        </p:spPr>
        <p:txBody>
          <a:bodyPr wrap="square" lIns="0" tIns="0" rIns="0" bIns="0" rtlCol="0" anchor="t"/>
          <a:lstStyle/>
          <a:p>
            <a:pPr indent="0" marL="0">
              <a:lnSpc>
                <a:spcPct val="115000"/>
              </a:lnSpc>
              <a:buNone/>
            </a:pPr>
            <a:r>
              <a:rPr lang="en-US" sz="1450" dirty="0">
                <a:solidFill>
                  <a:srgbClr val="1A2430"/>
                </a:solidFill>
                <a:latin typeface="Calibri" pitchFamily="34" charset="0"/>
                <a:ea typeface="Calibri" pitchFamily="34" charset="-122"/>
                <a:cs typeface="Calibri" pitchFamily="34" charset="-120"/>
              </a:rPr>
              <a:t>Đo phơi nhiễm rò rỉ và chỉ ra khoảng trống khử trùng của notebook.</a:t>
            </a:r>
            <a:endParaRPr lang="en-US" sz="1450" dirty="0"/>
          </a:p>
        </p:txBody>
      </p:sp>
      <p:sp>
        <p:nvSpPr>
          <p:cNvPr id="15" name="Shape 12"/>
          <p:cNvSpPr/>
          <p:nvPr/>
        </p:nvSpPr>
        <p:spPr>
          <a:xfrm>
            <a:off x="6217920" y="1481328"/>
            <a:ext cx="5394960" cy="2011680"/>
          </a:xfrm>
          <a:prstGeom prst="roundRect">
            <a:avLst>
              <a:gd name="adj" fmla="val 4545"/>
            </a:avLst>
          </a:prstGeom>
          <a:solidFill>
            <a:srgbClr val="F4F7FA"/>
          </a:solidFill>
          <a:ln w="12700">
            <a:solidFill>
              <a:srgbClr val="E6ECF2"/>
            </a:solidFill>
            <a:prstDash val="solid"/>
          </a:ln>
          <a:effectLst>
            <a:outerShdw sx="100000" sy="100000" kx="0" ky="0" algn="bl" rotWithShape="0" blurRad="114300" dist="25400" dir="5400000">
              <a:srgbClr val="9FB0C0">
                <a:alpha val="22000"/>
              </a:srgbClr>
            </a:outerShdw>
          </a:effectLst>
        </p:spPr>
      </p:sp>
      <p:sp>
        <p:nvSpPr>
          <p:cNvPr id="16" name="Shape 13"/>
          <p:cNvSpPr/>
          <p:nvPr/>
        </p:nvSpPr>
        <p:spPr>
          <a:xfrm>
            <a:off x="6528816" y="1810512"/>
            <a:ext cx="548640" cy="548640"/>
          </a:xfrm>
          <a:prstGeom prst="ellipse">
            <a:avLst/>
          </a:prstGeom>
          <a:solidFill>
            <a:srgbClr val="E63946"/>
          </a:solidFill>
          <a:ln w="12700">
            <a:solidFill>
              <a:srgbClr val="333333"/>
            </a:solidFill>
            <a:prstDash val="solid"/>
          </a:ln>
          <a:effectLst>
            <a:outerShdw sx="100000" sy="100000" kx="0" ky="0" algn="bl" rotWithShape="0" blurRad="63500" dist="12700" dir="5400000">
              <a:srgbClr val="E63946">
                <a:alpha val="35000"/>
              </a:srgbClr>
            </a:outerShdw>
          </a:effectLst>
        </p:spPr>
      </p:sp>
      <p:sp>
        <p:nvSpPr>
          <p:cNvPr id="17" name="Text 14"/>
          <p:cNvSpPr/>
          <p:nvPr/>
        </p:nvSpPr>
        <p:spPr>
          <a:xfrm>
            <a:off x="6528816" y="181051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8" name="Text 15"/>
          <p:cNvSpPr/>
          <p:nvPr/>
        </p:nvSpPr>
        <p:spPr>
          <a:xfrm>
            <a:off x="7269480" y="1792224"/>
            <a:ext cx="4114800" cy="502920"/>
          </a:xfrm>
          <a:prstGeom prst="rect">
            <a:avLst/>
          </a:prstGeom>
          <a:noFill/>
          <a:ln/>
        </p:spPr>
        <p:txBody>
          <a:bodyPr wrap="square" lIns="0" tIns="0" rIns="0" bIns="0" rtlCol="0" anchor="ctr"/>
          <a:lstStyle/>
          <a:p>
            <a:pPr indent="0" marL="0">
              <a:buNone/>
            </a:pPr>
            <a:r>
              <a:rPr lang="en-US" sz="1800" b="1" dirty="0">
                <a:solidFill>
                  <a:srgbClr val="E63946"/>
                </a:solidFill>
                <a:latin typeface="Cambria" pitchFamily="34" charset="0"/>
                <a:ea typeface="Cambria" pitchFamily="34" charset="-122"/>
                <a:cs typeface="Cambria" pitchFamily="34" charset="-120"/>
              </a:rPr>
              <a:t>Kiểm định phân hoá</a:t>
            </a:r>
            <a:endParaRPr lang="en-US" sz="1800" dirty="0"/>
          </a:p>
        </p:txBody>
      </p:sp>
      <p:sp>
        <p:nvSpPr>
          <p:cNvPr id="19" name="Text 16"/>
          <p:cNvSpPr/>
          <p:nvPr/>
        </p:nvSpPr>
        <p:spPr>
          <a:xfrm>
            <a:off x="6547104" y="2441448"/>
            <a:ext cx="4754880" cy="914400"/>
          </a:xfrm>
          <a:prstGeom prst="rect">
            <a:avLst/>
          </a:prstGeom>
          <a:noFill/>
          <a:ln/>
        </p:spPr>
        <p:txBody>
          <a:bodyPr wrap="square" lIns="0" tIns="0" rIns="0" bIns="0" rtlCol="0" anchor="t"/>
          <a:lstStyle/>
          <a:p>
            <a:pPr indent="0" marL="0">
              <a:lnSpc>
                <a:spcPct val="115000"/>
              </a:lnSpc>
              <a:buNone/>
            </a:pPr>
            <a:r>
              <a:rPr lang="en-US" sz="1450" dirty="0">
                <a:solidFill>
                  <a:srgbClr val="1A2430"/>
                </a:solidFill>
                <a:latin typeface="Calibri" pitchFamily="34" charset="0"/>
                <a:ea typeface="Calibri" pitchFamily="34" charset="-122"/>
                <a:cs typeface="Calibri" pitchFamily="34" charset="-120"/>
              </a:rPr>
              <a:t>Chứng minh đèn kém hơn biển có ý nghĩa thống kê (Mann–Whitney).</a:t>
            </a:r>
            <a:endParaRPr lang="en-US" sz="1450" dirty="0"/>
          </a:p>
        </p:txBody>
      </p:sp>
      <p:sp>
        <p:nvSpPr>
          <p:cNvPr id="20" name="Shape 17"/>
          <p:cNvSpPr/>
          <p:nvPr/>
        </p:nvSpPr>
        <p:spPr>
          <a:xfrm>
            <a:off x="548640" y="3767328"/>
            <a:ext cx="5394960" cy="2011680"/>
          </a:xfrm>
          <a:prstGeom prst="roundRect">
            <a:avLst>
              <a:gd name="adj" fmla="val 4545"/>
            </a:avLst>
          </a:prstGeom>
          <a:solidFill>
            <a:srgbClr val="F4F7FA"/>
          </a:solidFill>
          <a:ln w="12700">
            <a:solidFill>
              <a:srgbClr val="E6ECF2"/>
            </a:solidFill>
            <a:prstDash val="solid"/>
          </a:ln>
          <a:effectLst>
            <a:outerShdw sx="100000" sy="100000" kx="0" ky="0" algn="bl" rotWithShape="0" blurRad="114300" dist="25400" dir="5400000">
              <a:srgbClr val="9FB0C0">
                <a:alpha val="22000"/>
              </a:srgbClr>
            </a:outerShdw>
          </a:effectLst>
        </p:spPr>
      </p:sp>
      <p:sp>
        <p:nvSpPr>
          <p:cNvPr id="21" name="Shape 18"/>
          <p:cNvSpPr/>
          <p:nvPr/>
        </p:nvSpPr>
        <p:spPr>
          <a:xfrm>
            <a:off x="859536" y="4096512"/>
            <a:ext cx="548640" cy="548640"/>
          </a:xfrm>
          <a:prstGeom prst="ellipse">
            <a:avLst/>
          </a:prstGeom>
          <a:solidFill>
            <a:srgbClr val="2C7A4B"/>
          </a:solidFill>
          <a:ln w="12700">
            <a:solidFill>
              <a:srgbClr val="333333"/>
            </a:solidFill>
            <a:prstDash val="solid"/>
          </a:ln>
          <a:effectLst>
            <a:outerShdw sx="100000" sy="100000" kx="0" ky="0" algn="bl" rotWithShape="0" blurRad="63500" dist="12700" dir="5400000">
              <a:srgbClr val="2C7A4B">
                <a:alpha val="35000"/>
              </a:srgbClr>
            </a:outerShdw>
          </a:effectLst>
        </p:spPr>
      </p:sp>
      <p:sp>
        <p:nvSpPr>
          <p:cNvPr id="22" name="Text 19"/>
          <p:cNvSpPr/>
          <p:nvPr/>
        </p:nvSpPr>
        <p:spPr>
          <a:xfrm>
            <a:off x="859536" y="409651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3" name="Text 20"/>
          <p:cNvSpPr/>
          <p:nvPr/>
        </p:nvSpPr>
        <p:spPr>
          <a:xfrm>
            <a:off x="1600200" y="4078224"/>
            <a:ext cx="4114800" cy="502920"/>
          </a:xfrm>
          <a:prstGeom prst="rect">
            <a:avLst/>
          </a:prstGeom>
          <a:noFill/>
          <a:ln/>
        </p:spPr>
        <p:txBody>
          <a:bodyPr wrap="square" lIns="0" tIns="0" rIns="0" bIns="0" rtlCol="0" anchor="ctr"/>
          <a:lstStyle/>
          <a:p>
            <a:pPr indent="0" marL="0">
              <a:buNone/>
            </a:pPr>
            <a:r>
              <a:rPr lang="en-US" sz="1800" b="1" dirty="0">
                <a:solidFill>
                  <a:srgbClr val="2C7A4B"/>
                </a:solidFill>
                <a:latin typeface="Cambria" pitchFamily="34" charset="0"/>
                <a:ea typeface="Cambria" pitchFamily="34" charset="-122"/>
                <a:cs typeface="Cambria" pitchFamily="34" charset="-120"/>
              </a:rPr>
              <a:t>Bác bỏ giả thuyết</a:t>
            </a:r>
            <a:endParaRPr lang="en-US" sz="1800" dirty="0"/>
          </a:p>
        </p:txBody>
      </p:sp>
      <p:sp>
        <p:nvSpPr>
          <p:cNvPr id="24" name="Text 21"/>
          <p:cNvSpPr/>
          <p:nvPr/>
        </p:nvSpPr>
        <p:spPr>
          <a:xfrm>
            <a:off x="877824" y="4727448"/>
            <a:ext cx="4754880" cy="914400"/>
          </a:xfrm>
          <a:prstGeom prst="rect">
            <a:avLst/>
          </a:prstGeom>
          <a:noFill/>
          <a:ln/>
        </p:spPr>
        <p:txBody>
          <a:bodyPr wrap="square" lIns="0" tIns="0" rIns="0" bIns="0" rtlCol="0" anchor="t"/>
          <a:lstStyle/>
          <a:p>
            <a:pPr indent="0" marL="0">
              <a:lnSpc>
                <a:spcPct val="115000"/>
              </a:lnSpc>
              <a:buNone/>
            </a:pPr>
            <a:r>
              <a:rPr lang="en-US" sz="1450" dirty="0">
                <a:solidFill>
                  <a:srgbClr val="1A2430"/>
                </a:solidFill>
                <a:latin typeface="Calibri" pitchFamily="34" charset="0"/>
                <a:ea typeface="Calibri" pitchFamily="34" charset="-122"/>
                <a:cs typeface="Calibri" pitchFamily="34" charset="-120"/>
              </a:rPr>
              <a:t>Chứng minh độ hiếm KHÔNG gây ra thất bại (Spearman ≈ 0).</a:t>
            </a:r>
            <a:endParaRPr lang="en-US" sz="1450" dirty="0"/>
          </a:p>
        </p:txBody>
      </p:sp>
      <p:sp>
        <p:nvSpPr>
          <p:cNvPr id="25" name="Shape 22"/>
          <p:cNvSpPr/>
          <p:nvPr/>
        </p:nvSpPr>
        <p:spPr>
          <a:xfrm>
            <a:off x="6217920" y="3767328"/>
            <a:ext cx="5394960" cy="2011680"/>
          </a:xfrm>
          <a:prstGeom prst="roundRect">
            <a:avLst>
              <a:gd name="adj" fmla="val 4545"/>
            </a:avLst>
          </a:prstGeom>
          <a:solidFill>
            <a:srgbClr val="F4F7FA"/>
          </a:solidFill>
          <a:ln w="12700">
            <a:solidFill>
              <a:srgbClr val="E6ECF2"/>
            </a:solidFill>
            <a:prstDash val="solid"/>
          </a:ln>
          <a:effectLst>
            <a:outerShdw sx="100000" sy="100000" kx="0" ky="0" algn="bl" rotWithShape="0" blurRad="114300" dist="25400" dir="5400000">
              <a:srgbClr val="9FB0C0">
                <a:alpha val="22000"/>
              </a:srgbClr>
            </a:outerShdw>
          </a:effectLst>
        </p:spPr>
      </p:sp>
      <p:sp>
        <p:nvSpPr>
          <p:cNvPr id="26" name="Shape 23"/>
          <p:cNvSpPr/>
          <p:nvPr/>
        </p:nvSpPr>
        <p:spPr>
          <a:xfrm>
            <a:off x="6528816" y="4096512"/>
            <a:ext cx="548640" cy="548640"/>
          </a:xfrm>
          <a:prstGeom prst="ellipse">
            <a:avLst/>
          </a:prstGeom>
          <a:solidFill>
            <a:srgbClr val="1E5F8C"/>
          </a:solidFill>
          <a:ln w="12700">
            <a:solidFill>
              <a:srgbClr val="333333"/>
            </a:solidFill>
            <a:prstDash val="solid"/>
          </a:ln>
          <a:effectLst>
            <a:outerShdw sx="100000" sy="100000" kx="0" ky="0" algn="bl" rotWithShape="0" blurRad="63500" dist="12700" dir="5400000">
              <a:srgbClr val="1E5F8C">
                <a:alpha val="35000"/>
              </a:srgbClr>
            </a:outerShdw>
          </a:effectLst>
        </p:spPr>
      </p:sp>
      <p:sp>
        <p:nvSpPr>
          <p:cNvPr id="27" name="Text 24"/>
          <p:cNvSpPr/>
          <p:nvPr/>
        </p:nvSpPr>
        <p:spPr>
          <a:xfrm>
            <a:off x="6528816" y="409651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8" name="Text 25"/>
          <p:cNvSpPr/>
          <p:nvPr/>
        </p:nvSpPr>
        <p:spPr>
          <a:xfrm>
            <a:off x="7269480" y="4078224"/>
            <a:ext cx="4114800" cy="502920"/>
          </a:xfrm>
          <a:prstGeom prst="rect">
            <a:avLst/>
          </a:prstGeom>
          <a:noFill/>
          <a:ln/>
        </p:spPr>
        <p:txBody>
          <a:bodyPr wrap="square" lIns="0" tIns="0" rIns="0" bIns="0" rtlCol="0" anchor="ctr"/>
          <a:lstStyle/>
          <a:p>
            <a:pPr indent="0" marL="0">
              <a:buNone/>
            </a:pPr>
            <a:r>
              <a:rPr lang="en-US" sz="1800" b="1" dirty="0">
                <a:solidFill>
                  <a:srgbClr val="1E5F8C"/>
                </a:solidFill>
                <a:latin typeface="Cambria" pitchFamily="34" charset="0"/>
                <a:ea typeface="Cambria" pitchFamily="34" charset="-122"/>
                <a:cs typeface="Cambria" pitchFamily="34" charset="-120"/>
              </a:rPr>
              <a:t>Sản phẩm hoàn chỉnh</a:t>
            </a:r>
            <a:endParaRPr lang="en-US" sz="1800" dirty="0"/>
          </a:p>
        </p:txBody>
      </p:sp>
      <p:sp>
        <p:nvSpPr>
          <p:cNvPr id="29" name="Text 26"/>
          <p:cNvSpPr/>
          <p:nvPr/>
        </p:nvSpPr>
        <p:spPr>
          <a:xfrm>
            <a:off x="6547104" y="4727448"/>
            <a:ext cx="4754880" cy="914400"/>
          </a:xfrm>
          <a:prstGeom prst="rect">
            <a:avLst/>
          </a:prstGeom>
          <a:noFill/>
          <a:ln/>
        </p:spPr>
        <p:txBody>
          <a:bodyPr wrap="square" lIns="0" tIns="0" rIns="0" bIns="0" rtlCol="0" anchor="t"/>
          <a:lstStyle/>
          <a:p>
            <a:pPr indent="0" marL="0">
              <a:lnSpc>
                <a:spcPct val="115000"/>
              </a:lnSpc>
              <a:buNone/>
            </a:pPr>
            <a:r>
              <a:rPr lang="en-US" sz="1450" dirty="0">
                <a:solidFill>
                  <a:srgbClr val="1A2430"/>
                </a:solidFill>
                <a:latin typeface="Calibri" pitchFamily="34" charset="0"/>
                <a:ea typeface="Calibri" pitchFamily="34" charset="-122"/>
                <a:cs typeface="Calibri" pitchFamily="34" charset="-120"/>
              </a:rPr>
              <a:t>Pipeline tái lập, app demo, báo cáo Word/LaTeX và slide.</a:t>
            </a:r>
            <a:endParaRPr lang="en-US" sz="14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52238"/>
        </a:solidFill>
      </p:bgPr>
    </p:bg>
    <p:spTree>
      <p:nvGrpSpPr>
        <p:cNvPr id="1" name=""/>
        <p:cNvGrpSpPr/>
        <p:nvPr/>
      </p:nvGrpSpPr>
      <p:grpSpPr>
        <a:xfrm>
          <a:off x="0" y="0"/>
          <a:ext cx="0" cy="0"/>
          <a:chOff x="0" y="0"/>
          <a:chExt cx="0" cy="0"/>
        </a:xfrm>
      </p:grpSpPr>
      <p:sp>
        <p:nvSpPr>
          <p:cNvPr id="3" name="Shape 0"/>
          <p:cNvSpPr/>
          <p:nvPr/>
        </p:nvSpPr>
        <p:spPr>
          <a:xfrm>
            <a:off x="548640" y="2286000"/>
            <a:ext cx="749808" cy="749808"/>
          </a:xfrm>
          <a:prstGeom prst="ellipse">
            <a:avLst/>
          </a:prstGeom>
          <a:solidFill>
            <a:srgbClr val="1C7293"/>
          </a:solidFill>
          <a:ln w="12700">
            <a:solidFill>
              <a:srgbClr val="333333"/>
            </a:solidFill>
            <a:prstDash val="solid"/>
          </a:ln>
          <a:effectLst>
            <a:outerShdw sx="100000" sy="100000" kx="0" ky="0" algn="bl" rotWithShape="0" blurRad="63500" dist="12700" dir="5400000">
              <a:srgbClr val="1C7293">
                <a:alpha val="35000"/>
              </a:srgbClr>
            </a:outerShdw>
          </a:effectLst>
        </p:spPr>
      </p:sp>
      <p:sp>
        <p:nvSpPr>
          <p:cNvPr id="4" name="Text 1"/>
          <p:cNvSpPr/>
          <p:nvPr/>
        </p:nvSpPr>
        <p:spPr>
          <a:xfrm>
            <a:off x="548640" y="2286000"/>
            <a:ext cx="749808" cy="74980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5" name="Text 2"/>
          <p:cNvSpPr/>
          <p:nvPr/>
        </p:nvSpPr>
        <p:spPr>
          <a:xfrm>
            <a:off x="548640" y="3200400"/>
            <a:ext cx="11064240" cy="82296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Dữ liệu và phương pháp</a:t>
            </a:r>
            <a:endParaRPr lang="en-US" sz="3800" dirty="0"/>
          </a:p>
        </p:txBody>
      </p:sp>
      <p:sp>
        <p:nvSpPr>
          <p:cNvPr id="6" name="Text 3"/>
          <p:cNvSpPr/>
          <p:nvPr/>
        </p:nvSpPr>
        <p:spPr>
          <a:xfrm>
            <a:off x="548640" y="4041648"/>
            <a:ext cx="9784080" cy="548640"/>
          </a:xfrm>
          <a:prstGeom prst="rect">
            <a:avLst/>
          </a:prstGeom>
          <a:noFill/>
          <a:ln/>
        </p:spPr>
        <p:txBody>
          <a:bodyPr wrap="square" lIns="0" tIns="0" rIns="0" bIns="0" rtlCol="0" anchor="ctr"/>
          <a:lstStyle/>
          <a:p>
            <a:pPr indent="0" marL="0">
              <a:buNone/>
            </a:pPr>
            <a:r>
              <a:rPr lang="en-US" sz="1600" dirty="0">
                <a:solidFill>
                  <a:srgbClr val="9DB2C6"/>
                </a:solidFill>
                <a:latin typeface="Calibri" pitchFamily="34" charset="0"/>
                <a:ea typeface="Calibri" pitchFamily="34" charset="-122"/>
                <a:cs typeface="Calibri" pitchFamily="34" charset="-120"/>
              </a:rPr>
              <a:t>Bộ dữ liệu, công cụ đo YOLOv8, và quy trình phân tích 3 bước</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10789920" y="-1234440"/>
            <a:ext cx="2743200" cy="2743200"/>
          </a:xfrm>
          <a:prstGeom prst="ellipse">
            <a:avLst/>
          </a:prstGeom>
          <a:solidFill>
            <a:srgbClr val="EAF1F6"/>
          </a:solidFill>
          <a:ln w="12700">
            <a:solidFill>
              <a:srgbClr val="333333"/>
            </a:solidFill>
            <a:prstDash val="solid"/>
          </a:ln>
        </p:spPr>
      </p:sp>
      <p:sp>
        <p:nvSpPr>
          <p:cNvPr id="4" name="Shape 1"/>
          <p:cNvSpPr/>
          <p:nvPr/>
        </p:nvSpPr>
        <p:spPr>
          <a:xfrm>
            <a:off x="11475720" y="182880"/>
            <a:ext cx="822960" cy="822960"/>
          </a:xfrm>
          <a:prstGeom prst="ellipse">
            <a:avLst/>
          </a:prstGeom>
          <a:solidFill>
            <a:srgbClr val="DCE8F0"/>
          </a:solidFill>
          <a:ln w="12700">
            <a:solidFill>
              <a:srgbClr val="333333"/>
            </a:solidFill>
            <a:prstDash val="solid"/>
          </a:ln>
        </p:spPr>
      </p:sp>
      <p:sp>
        <p:nvSpPr>
          <p:cNvPr id="5" name="Shape 2"/>
          <p:cNvSpPr/>
          <p:nvPr/>
        </p:nvSpPr>
        <p:spPr>
          <a:xfrm>
            <a:off x="548640" y="6382512"/>
            <a:ext cx="11064240" cy="0"/>
          </a:xfrm>
          <a:prstGeom prst="line">
            <a:avLst/>
          </a:prstGeom>
          <a:noFill/>
          <a:ln w="12700">
            <a:solidFill>
              <a:srgbClr val="DDE3EA"/>
            </a:solidFill>
            <a:prstDash val="solid"/>
          </a:ln>
        </p:spPr>
      </p:sp>
      <p:sp>
        <p:nvSpPr>
          <p:cNvPr id="6" name="Text 3"/>
          <p:cNvSpPr/>
          <p:nvPr/>
        </p:nvSpPr>
        <p:spPr>
          <a:xfrm>
            <a:off x="548640" y="6419088"/>
            <a:ext cx="8686800" cy="274320"/>
          </a:xfrm>
          <a:prstGeom prst="rect">
            <a:avLst/>
          </a:prstGeom>
          <a:noFill/>
          <a:ln/>
        </p:spPr>
        <p:txBody>
          <a:bodyPr wrap="square" lIns="0" tIns="0" rIns="0" bIns="0" rtlCol="0" anchor="ctr"/>
          <a:lstStyle/>
          <a:p>
            <a:pPr indent="0" marL="0">
              <a:buNone/>
            </a:pPr>
            <a:r>
              <a:rPr lang="en-US" sz="900" dirty="0">
                <a:solidFill>
                  <a:srgbClr val="9AA7B4"/>
                </a:solidFill>
                <a:latin typeface="Calibri" pitchFamily="34" charset="0"/>
                <a:ea typeface="Calibri" pitchFamily="34" charset="-122"/>
                <a:cs typeface="Calibri" pitchFamily="34" charset="-120"/>
              </a:rPr>
              <a:t>Kiểm định độ tin cậy YOLOv8 · Nhóm KHMT836016/34/36</a:t>
            </a:r>
            <a:endParaRPr lang="en-US" sz="900" dirty="0"/>
          </a:p>
        </p:txBody>
      </p:sp>
      <p:sp>
        <p:nvSpPr>
          <p:cNvPr id="7" name="Text 4"/>
          <p:cNvSpPr/>
          <p:nvPr/>
        </p:nvSpPr>
        <p:spPr>
          <a:xfrm>
            <a:off x="11064240" y="6419088"/>
            <a:ext cx="548640" cy="274320"/>
          </a:xfrm>
          <a:prstGeom prst="rect">
            <a:avLst/>
          </a:prstGeom>
          <a:noFill/>
          <a:ln/>
        </p:spPr>
        <p:txBody>
          <a:bodyPr wrap="square" lIns="0" tIns="0" rIns="0" bIns="0" rtlCol="0" anchor="ctr"/>
          <a:lstStyle/>
          <a:p>
            <a:pPr algn="r" indent="0" marL="0">
              <a:buNone/>
            </a:pPr>
            <a:r>
              <a:rPr lang="en-US" sz="1000" b="1" dirty="0">
                <a:solidFill>
                  <a:srgbClr val="1C7293"/>
                </a:solidFill>
                <a:latin typeface="Calibri" pitchFamily="34" charset="0"/>
                <a:ea typeface="Calibri" pitchFamily="34" charset="-122"/>
                <a:cs typeface="Calibri" pitchFamily="34" charset="-120"/>
              </a:rPr>
              <a:t>11</a:t>
            </a:r>
            <a:endParaRPr lang="en-US" sz="1000" dirty="0"/>
          </a:p>
        </p:txBody>
      </p:sp>
      <p:sp>
        <p:nvSpPr>
          <p:cNvPr id="8" name="Shape 5"/>
          <p:cNvSpPr/>
          <p:nvPr/>
        </p:nvSpPr>
        <p:spPr>
          <a:xfrm>
            <a:off x="548640" y="457200"/>
            <a:ext cx="155448" cy="457200"/>
          </a:xfrm>
          <a:prstGeom prst="roundRect">
            <a:avLst>
              <a:gd name="adj" fmla="val 17647"/>
            </a:avLst>
          </a:prstGeom>
          <a:solidFill>
            <a:srgbClr val="1C7293"/>
          </a:solidFill>
          <a:ln w="12700">
            <a:solidFill>
              <a:srgbClr val="333333"/>
            </a:solidFill>
            <a:prstDash val="solid"/>
          </a:ln>
        </p:spPr>
      </p:sp>
      <p:sp>
        <p:nvSpPr>
          <p:cNvPr id="9" name="Text 6"/>
          <p:cNvSpPr/>
          <p:nvPr/>
        </p:nvSpPr>
        <p:spPr>
          <a:xfrm>
            <a:off x="877824" y="365760"/>
            <a:ext cx="10735056" cy="713232"/>
          </a:xfrm>
          <a:prstGeom prst="rect">
            <a:avLst/>
          </a:prstGeom>
          <a:noFill/>
          <a:ln/>
        </p:spPr>
        <p:txBody>
          <a:bodyPr wrap="square" lIns="0" tIns="0" rIns="0" bIns="0" rtlCol="0" anchor="ctr"/>
          <a:lstStyle/>
          <a:p>
            <a:pPr indent="0" marL="0">
              <a:buNone/>
            </a:pPr>
            <a:r>
              <a:rPr lang="en-US" sz="2900" b="1" dirty="0">
                <a:solidFill>
                  <a:srgbClr val="1A2430"/>
                </a:solidFill>
                <a:latin typeface="Cambria" pitchFamily="34" charset="0"/>
                <a:ea typeface="Cambria" pitchFamily="34" charset="-122"/>
                <a:cs typeface="Cambria" pitchFamily="34" charset="-120"/>
              </a:rPr>
              <a:t>Bộ dữ liệu pkdarabi/cardetection</a:t>
            </a:r>
            <a:endParaRPr lang="en-US" sz="2900" dirty="0"/>
          </a:p>
        </p:txBody>
      </p:sp>
      <p:sp>
        <p:nvSpPr>
          <p:cNvPr id="10" name="Text 7"/>
          <p:cNvSpPr/>
          <p:nvPr/>
        </p:nvSpPr>
        <p:spPr>
          <a:xfrm>
            <a:off x="877824" y="1024128"/>
            <a:ext cx="10735056" cy="365760"/>
          </a:xfrm>
          <a:prstGeom prst="rect">
            <a:avLst/>
          </a:prstGeom>
          <a:noFill/>
          <a:ln/>
        </p:spPr>
        <p:txBody>
          <a:bodyPr wrap="square" lIns="0" tIns="0" rIns="0" bIns="0" rtlCol="0" anchor="ctr"/>
          <a:lstStyle/>
          <a:p>
            <a:pPr indent="0" marL="0">
              <a:buNone/>
            </a:pPr>
            <a:r>
              <a:rPr lang="en-US" sz="1350" dirty="0">
                <a:solidFill>
                  <a:srgbClr val="5A6B7D"/>
                </a:solidFill>
                <a:latin typeface="Calibri" pitchFamily="34" charset="0"/>
                <a:ea typeface="Calibri" pitchFamily="34" charset="-122"/>
                <a:cs typeface="Calibri" pitchFamily="34" charset="-120"/>
              </a:rPr>
              <a:t>15 lớp · nhãn rất sạch (0 lỗi) · chia sẵn train/valid/test</a:t>
            </a:r>
            <a:endParaRPr lang="en-US" sz="1350" dirty="0"/>
          </a:p>
        </p:txBody>
      </p:sp>
      <p:sp>
        <p:nvSpPr>
          <p:cNvPr id="11" name="Shape 8"/>
          <p:cNvSpPr/>
          <p:nvPr/>
        </p:nvSpPr>
        <p:spPr>
          <a:xfrm>
            <a:off x="548640" y="1627632"/>
            <a:ext cx="2606040" cy="1554480"/>
          </a:xfrm>
          <a:prstGeom prst="roundRect">
            <a:avLst>
              <a:gd name="adj" fmla="val 5882"/>
            </a:avLst>
          </a:prstGeom>
          <a:solidFill>
            <a:srgbClr val="F4F7FA"/>
          </a:solidFill>
          <a:ln w="12700">
            <a:solidFill>
              <a:srgbClr val="E6ECF2"/>
            </a:solidFill>
            <a:prstDash val="solid"/>
          </a:ln>
          <a:effectLst>
            <a:outerShdw sx="100000" sy="100000" kx="0" ky="0" algn="bl" rotWithShape="0" blurRad="114300" dist="25400" dir="5400000">
              <a:srgbClr val="9FB0C0">
                <a:alpha val="22000"/>
              </a:srgbClr>
            </a:outerShdw>
          </a:effectLst>
        </p:spPr>
      </p:sp>
      <p:sp>
        <p:nvSpPr>
          <p:cNvPr id="12" name="Text 9"/>
          <p:cNvSpPr/>
          <p:nvPr/>
        </p:nvSpPr>
        <p:spPr>
          <a:xfrm>
            <a:off x="548640" y="1764792"/>
            <a:ext cx="2606040" cy="914400"/>
          </a:xfrm>
          <a:prstGeom prst="rect">
            <a:avLst/>
          </a:prstGeom>
          <a:noFill/>
          <a:ln/>
        </p:spPr>
        <p:txBody>
          <a:bodyPr wrap="square" lIns="0" tIns="0" rIns="0" bIns="0" rtlCol="0" anchor="ctr"/>
          <a:lstStyle/>
          <a:p>
            <a:pPr algn="ctr" indent="0" marL="0">
              <a:buNone/>
            </a:pPr>
            <a:r>
              <a:rPr lang="en-US" sz="4200" b="1" dirty="0">
                <a:solidFill>
                  <a:srgbClr val="1C7293"/>
                </a:solidFill>
                <a:latin typeface="Cambria" pitchFamily="34" charset="0"/>
                <a:ea typeface="Cambria" pitchFamily="34" charset="-122"/>
                <a:cs typeface="Cambria" pitchFamily="34" charset="-120"/>
              </a:rPr>
              <a:t>4,969</a:t>
            </a:r>
            <a:endParaRPr lang="en-US" sz="4200" dirty="0"/>
          </a:p>
        </p:txBody>
      </p:sp>
      <p:sp>
        <p:nvSpPr>
          <p:cNvPr id="13" name="Text 10"/>
          <p:cNvSpPr/>
          <p:nvPr/>
        </p:nvSpPr>
        <p:spPr>
          <a:xfrm>
            <a:off x="548640" y="2660904"/>
            <a:ext cx="2606040" cy="548640"/>
          </a:xfrm>
          <a:prstGeom prst="rect">
            <a:avLst/>
          </a:prstGeom>
          <a:noFill/>
          <a:ln/>
        </p:spPr>
        <p:txBody>
          <a:bodyPr wrap="square" lIns="0" tIns="0" rIns="0" bIns="0" rtlCol="0" anchor="t"/>
          <a:lstStyle/>
          <a:p>
            <a:pPr algn="ctr" indent="0" marL="0">
              <a:buNone/>
            </a:pPr>
            <a:r>
              <a:rPr lang="en-US" sz="1250" dirty="0">
                <a:solidFill>
                  <a:srgbClr val="5A6B7D"/>
                </a:solidFill>
                <a:latin typeface="Calibri" pitchFamily="34" charset="0"/>
                <a:ea typeface="Calibri" pitchFamily="34" charset="-122"/>
                <a:cs typeface="Calibri" pitchFamily="34" charset="-120"/>
              </a:rPr>
              <a:t>ảnh</a:t>
            </a:r>
            <a:endParaRPr lang="en-US" sz="1250" dirty="0"/>
          </a:p>
        </p:txBody>
      </p:sp>
      <p:sp>
        <p:nvSpPr>
          <p:cNvPr id="14" name="Shape 11"/>
          <p:cNvSpPr/>
          <p:nvPr/>
        </p:nvSpPr>
        <p:spPr>
          <a:xfrm>
            <a:off x="3337560" y="1627632"/>
            <a:ext cx="2606040" cy="1554480"/>
          </a:xfrm>
          <a:prstGeom prst="roundRect">
            <a:avLst>
              <a:gd name="adj" fmla="val 5882"/>
            </a:avLst>
          </a:prstGeom>
          <a:solidFill>
            <a:srgbClr val="F4F7FA"/>
          </a:solidFill>
          <a:ln w="12700">
            <a:solidFill>
              <a:srgbClr val="E6ECF2"/>
            </a:solidFill>
            <a:prstDash val="solid"/>
          </a:ln>
          <a:effectLst>
            <a:outerShdw sx="100000" sy="100000" kx="0" ky="0" algn="bl" rotWithShape="0" blurRad="114300" dist="25400" dir="5400000">
              <a:srgbClr val="9FB0C0">
                <a:alpha val="22000"/>
              </a:srgbClr>
            </a:outerShdw>
          </a:effectLst>
        </p:spPr>
      </p:sp>
      <p:sp>
        <p:nvSpPr>
          <p:cNvPr id="15" name="Text 12"/>
          <p:cNvSpPr/>
          <p:nvPr/>
        </p:nvSpPr>
        <p:spPr>
          <a:xfrm>
            <a:off x="3337560" y="1764792"/>
            <a:ext cx="2606040" cy="914400"/>
          </a:xfrm>
          <a:prstGeom prst="rect">
            <a:avLst/>
          </a:prstGeom>
          <a:noFill/>
          <a:ln/>
        </p:spPr>
        <p:txBody>
          <a:bodyPr wrap="square" lIns="0" tIns="0" rIns="0" bIns="0" rtlCol="0" anchor="ctr"/>
          <a:lstStyle/>
          <a:p>
            <a:pPr algn="ctr" indent="0" marL="0">
              <a:buNone/>
            </a:pPr>
            <a:r>
              <a:rPr lang="en-US" sz="4200" b="1" dirty="0">
                <a:solidFill>
                  <a:srgbClr val="1C7293"/>
                </a:solidFill>
                <a:latin typeface="Cambria" pitchFamily="34" charset="0"/>
                <a:ea typeface="Cambria" pitchFamily="34" charset="-122"/>
                <a:cs typeface="Cambria" pitchFamily="34" charset="-120"/>
              </a:rPr>
              <a:t>6,012</a:t>
            </a:r>
            <a:endParaRPr lang="en-US" sz="4200" dirty="0"/>
          </a:p>
        </p:txBody>
      </p:sp>
      <p:sp>
        <p:nvSpPr>
          <p:cNvPr id="16" name="Text 13"/>
          <p:cNvSpPr/>
          <p:nvPr/>
        </p:nvSpPr>
        <p:spPr>
          <a:xfrm>
            <a:off x="3337560" y="2660904"/>
            <a:ext cx="2606040" cy="548640"/>
          </a:xfrm>
          <a:prstGeom prst="rect">
            <a:avLst/>
          </a:prstGeom>
          <a:noFill/>
          <a:ln/>
        </p:spPr>
        <p:txBody>
          <a:bodyPr wrap="square" lIns="0" tIns="0" rIns="0" bIns="0" rtlCol="0" anchor="t"/>
          <a:lstStyle/>
          <a:p>
            <a:pPr algn="ctr" indent="0" marL="0">
              <a:buNone/>
            </a:pPr>
            <a:r>
              <a:rPr lang="en-US" sz="1250" dirty="0">
                <a:solidFill>
                  <a:srgbClr val="5A6B7D"/>
                </a:solidFill>
                <a:latin typeface="Calibri" pitchFamily="34" charset="0"/>
                <a:ea typeface="Calibri" pitchFamily="34" charset="-122"/>
                <a:cs typeface="Calibri" pitchFamily="34" charset="-120"/>
              </a:rPr>
              <a:t>đối tượng</a:t>
            </a:r>
            <a:endParaRPr lang="en-US" sz="1250" dirty="0"/>
          </a:p>
        </p:txBody>
      </p:sp>
      <p:sp>
        <p:nvSpPr>
          <p:cNvPr id="17" name="Shape 14"/>
          <p:cNvSpPr/>
          <p:nvPr/>
        </p:nvSpPr>
        <p:spPr>
          <a:xfrm>
            <a:off x="6126480" y="1627632"/>
            <a:ext cx="2606040" cy="1554480"/>
          </a:xfrm>
          <a:prstGeom prst="roundRect">
            <a:avLst>
              <a:gd name="adj" fmla="val 5882"/>
            </a:avLst>
          </a:prstGeom>
          <a:solidFill>
            <a:srgbClr val="F4F7FA"/>
          </a:solidFill>
          <a:ln w="12700">
            <a:solidFill>
              <a:srgbClr val="E6ECF2"/>
            </a:solidFill>
            <a:prstDash val="solid"/>
          </a:ln>
          <a:effectLst>
            <a:outerShdw sx="100000" sy="100000" kx="0" ky="0" algn="bl" rotWithShape="0" blurRad="114300" dist="25400" dir="5400000">
              <a:srgbClr val="9FB0C0">
                <a:alpha val="22000"/>
              </a:srgbClr>
            </a:outerShdw>
          </a:effectLst>
        </p:spPr>
      </p:sp>
      <p:sp>
        <p:nvSpPr>
          <p:cNvPr id="18" name="Text 15"/>
          <p:cNvSpPr/>
          <p:nvPr/>
        </p:nvSpPr>
        <p:spPr>
          <a:xfrm>
            <a:off x="6126480" y="1764792"/>
            <a:ext cx="2606040" cy="914400"/>
          </a:xfrm>
          <a:prstGeom prst="rect">
            <a:avLst/>
          </a:prstGeom>
          <a:noFill/>
          <a:ln/>
        </p:spPr>
        <p:txBody>
          <a:bodyPr wrap="square" lIns="0" tIns="0" rIns="0" bIns="0" rtlCol="0" anchor="ctr"/>
          <a:lstStyle/>
          <a:p>
            <a:pPr algn="ctr" indent="0" marL="0">
              <a:buNone/>
            </a:pPr>
            <a:r>
              <a:rPr lang="en-US" sz="4200" b="1" dirty="0">
                <a:solidFill>
                  <a:srgbClr val="1C7293"/>
                </a:solidFill>
                <a:latin typeface="Cambria" pitchFamily="34" charset="0"/>
                <a:ea typeface="Cambria" pitchFamily="34" charset="-122"/>
                <a:cs typeface="Cambria" pitchFamily="34" charset="-120"/>
              </a:rPr>
              <a:t>15</a:t>
            </a:r>
            <a:endParaRPr lang="en-US" sz="4200" dirty="0"/>
          </a:p>
        </p:txBody>
      </p:sp>
      <p:sp>
        <p:nvSpPr>
          <p:cNvPr id="19" name="Text 16"/>
          <p:cNvSpPr/>
          <p:nvPr/>
        </p:nvSpPr>
        <p:spPr>
          <a:xfrm>
            <a:off x="6126480" y="2660904"/>
            <a:ext cx="2606040" cy="548640"/>
          </a:xfrm>
          <a:prstGeom prst="rect">
            <a:avLst/>
          </a:prstGeom>
          <a:noFill/>
          <a:ln/>
        </p:spPr>
        <p:txBody>
          <a:bodyPr wrap="square" lIns="0" tIns="0" rIns="0" bIns="0" rtlCol="0" anchor="t"/>
          <a:lstStyle/>
          <a:p>
            <a:pPr algn="ctr" indent="0" marL="0">
              <a:buNone/>
            </a:pPr>
            <a:r>
              <a:rPr lang="en-US" sz="1250" dirty="0">
                <a:solidFill>
                  <a:srgbClr val="5A6B7D"/>
                </a:solidFill>
                <a:latin typeface="Calibri" pitchFamily="34" charset="0"/>
                <a:ea typeface="Calibri" pitchFamily="34" charset="-122"/>
                <a:cs typeface="Calibri" pitchFamily="34" charset="-120"/>
              </a:rPr>
              <a:t>lớp</a:t>
            </a:r>
            <a:endParaRPr lang="en-US" sz="1250" dirty="0"/>
          </a:p>
        </p:txBody>
      </p:sp>
      <p:sp>
        <p:nvSpPr>
          <p:cNvPr id="20" name="Shape 17"/>
          <p:cNvSpPr/>
          <p:nvPr/>
        </p:nvSpPr>
        <p:spPr>
          <a:xfrm>
            <a:off x="8915400" y="1627632"/>
            <a:ext cx="2606040" cy="1554480"/>
          </a:xfrm>
          <a:prstGeom prst="roundRect">
            <a:avLst>
              <a:gd name="adj" fmla="val 5882"/>
            </a:avLst>
          </a:prstGeom>
          <a:solidFill>
            <a:srgbClr val="F4F7FA"/>
          </a:solidFill>
          <a:ln w="12700">
            <a:solidFill>
              <a:srgbClr val="E6ECF2"/>
            </a:solidFill>
            <a:prstDash val="solid"/>
          </a:ln>
          <a:effectLst>
            <a:outerShdw sx="100000" sy="100000" kx="0" ky="0" algn="bl" rotWithShape="0" blurRad="114300" dist="25400" dir="5400000">
              <a:srgbClr val="9FB0C0">
                <a:alpha val="22000"/>
              </a:srgbClr>
            </a:outerShdw>
          </a:effectLst>
        </p:spPr>
      </p:sp>
      <p:sp>
        <p:nvSpPr>
          <p:cNvPr id="21" name="Text 18"/>
          <p:cNvSpPr/>
          <p:nvPr/>
        </p:nvSpPr>
        <p:spPr>
          <a:xfrm>
            <a:off x="8915400" y="1764792"/>
            <a:ext cx="2606040" cy="914400"/>
          </a:xfrm>
          <a:prstGeom prst="rect">
            <a:avLst/>
          </a:prstGeom>
          <a:noFill/>
          <a:ln/>
        </p:spPr>
        <p:txBody>
          <a:bodyPr wrap="square" lIns="0" tIns="0" rIns="0" bIns="0" rtlCol="0" anchor="ctr"/>
          <a:lstStyle/>
          <a:p>
            <a:pPr algn="ctr" indent="0" marL="0">
              <a:buNone/>
            </a:pPr>
            <a:r>
              <a:rPr lang="en-US" sz="4200" b="1" dirty="0">
                <a:solidFill>
                  <a:srgbClr val="1C7293"/>
                </a:solidFill>
                <a:latin typeface="Cambria" pitchFamily="34" charset="0"/>
                <a:ea typeface="Cambria" pitchFamily="34" charset="-122"/>
                <a:cs typeface="Cambria" pitchFamily="34" charset="-120"/>
              </a:rPr>
              <a:t>35,8</a:t>
            </a:r>
            <a:endParaRPr lang="en-US" sz="4200" dirty="0"/>
          </a:p>
        </p:txBody>
      </p:sp>
      <p:sp>
        <p:nvSpPr>
          <p:cNvPr id="22" name="Text 19"/>
          <p:cNvSpPr/>
          <p:nvPr/>
        </p:nvSpPr>
        <p:spPr>
          <a:xfrm>
            <a:off x="8915400" y="2660904"/>
            <a:ext cx="2606040" cy="548640"/>
          </a:xfrm>
          <a:prstGeom prst="rect">
            <a:avLst/>
          </a:prstGeom>
          <a:noFill/>
          <a:ln/>
        </p:spPr>
        <p:txBody>
          <a:bodyPr wrap="square" lIns="0" tIns="0" rIns="0" bIns="0" rtlCol="0" anchor="t"/>
          <a:lstStyle/>
          <a:p>
            <a:pPr algn="ctr" indent="0" marL="0">
              <a:buNone/>
            </a:pPr>
            <a:r>
              <a:rPr lang="en-US" sz="1250" dirty="0">
                <a:solidFill>
                  <a:srgbClr val="5A6B7D"/>
                </a:solidFill>
                <a:latin typeface="Calibri" pitchFamily="34" charset="0"/>
                <a:ea typeface="Calibri" pitchFamily="34" charset="-122"/>
                <a:cs typeface="Calibri" pitchFamily="34" charset="-120"/>
              </a:rPr>
              <a:t>imbalance ratio</a:t>
            </a:r>
            <a:endParaRPr lang="en-US" sz="1250" dirty="0"/>
          </a:p>
        </p:txBody>
      </p:sp>
      <p:sp>
        <p:nvSpPr>
          <p:cNvPr id="23" name="Shape 20"/>
          <p:cNvSpPr/>
          <p:nvPr/>
        </p:nvSpPr>
        <p:spPr>
          <a:xfrm>
            <a:off x="548640" y="3547872"/>
            <a:ext cx="11064240" cy="896112"/>
          </a:xfrm>
          <a:prstGeom prst="roundRect">
            <a:avLst>
              <a:gd name="adj" fmla="val 10204"/>
            </a:avLst>
          </a:prstGeom>
          <a:solidFill>
            <a:srgbClr val="152238"/>
          </a:solidFill>
          <a:ln w="12700">
            <a:solidFill>
              <a:srgbClr val="333333"/>
            </a:solidFill>
            <a:prstDash val="solid"/>
          </a:ln>
          <a:effectLst>
            <a:outerShdw sx="100000" sy="100000" kx="0" ky="0" algn="bl" rotWithShape="0" blurRad="101600" dist="25400" dir="5400000">
              <a:srgbClr val="6E7C8A">
                <a:alpha val="30000"/>
              </a:srgbClr>
            </a:outerShdw>
          </a:effectLst>
        </p:spPr>
      </p:sp>
      <p:sp>
        <p:nvSpPr>
          <p:cNvPr id="24" name="Shape 21"/>
          <p:cNvSpPr/>
          <p:nvPr/>
        </p:nvSpPr>
        <p:spPr>
          <a:xfrm>
            <a:off x="804672" y="3913632"/>
            <a:ext cx="164592" cy="164592"/>
          </a:xfrm>
          <a:prstGeom prst="ellipse">
            <a:avLst/>
          </a:prstGeom>
          <a:solidFill>
            <a:srgbClr val="F4A261"/>
          </a:solidFill>
          <a:ln w="12700">
            <a:solidFill>
              <a:srgbClr val="333333"/>
            </a:solidFill>
            <a:prstDash val="solid"/>
          </a:ln>
        </p:spPr>
      </p:sp>
      <p:sp>
        <p:nvSpPr>
          <p:cNvPr id="25" name="Text 22"/>
          <p:cNvSpPr/>
          <p:nvPr/>
        </p:nvSpPr>
        <p:spPr>
          <a:xfrm>
            <a:off x="1133856" y="3621024"/>
            <a:ext cx="10222992" cy="749808"/>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Chất lượng nhãn rất sạch: 0 file thiếu · 0 đối tượng lỗi · 0 dòng sai định dạng. Vấn đề (nếu có) nằm ở phân bố và cách chia tập, không ở nhãn.</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10789920" y="-1234440"/>
            <a:ext cx="2743200" cy="2743200"/>
          </a:xfrm>
          <a:prstGeom prst="ellipse">
            <a:avLst/>
          </a:prstGeom>
          <a:solidFill>
            <a:srgbClr val="EAF1F6"/>
          </a:solidFill>
          <a:ln w="12700">
            <a:solidFill>
              <a:srgbClr val="333333"/>
            </a:solidFill>
            <a:prstDash val="solid"/>
          </a:ln>
        </p:spPr>
      </p:sp>
      <p:sp>
        <p:nvSpPr>
          <p:cNvPr id="4" name="Shape 1"/>
          <p:cNvSpPr/>
          <p:nvPr/>
        </p:nvSpPr>
        <p:spPr>
          <a:xfrm>
            <a:off x="11475720" y="182880"/>
            <a:ext cx="822960" cy="822960"/>
          </a:xfrm>
          <a:prstGeom prst="ellipse">
            <a:avLst/>
          </a:prstGeom>
          <a:solidFill>
            <a:srgbClr val="DCE8F0"/>
          </a:solidFill>
          <a:ln w="12700">
            <a:solidFill>
              <a:srgbClr val="333333"/>
            </a:solidFill>
            <a:prstDash val="solid"/>
          </a:ln>
        </p:spPr>
      </p:sp>
      <p:sp>
        <p:nvSpPr>
          <p:cNvPr id="5" name="Shape 2"/>
          <p:cNvSpPr/>
          <p:nvPr/>
        </p:nvSpPr>
        <p:spPr>
          <a:xfrm>
            <a:off x="548640" y="6382512"/>
            <a:ext cx="11064240" cy="0"/>
          </a:xfrm>
          <a:prstGeom prst="line">
            <a:avLst/>
          </a:prstGeom>
          <a:noFill/>
          <a:ln w="12700">
            <a:solidFill>
              <a:srgbClr val="DDE3EA"/>
            </a:solidFill>
            <a:prstDash val="solid"/>
          </a:ln>
        </p:spPr>
      </p:sp>
      <p:sp>
        <p:nvSpPr>
          <p:cNvPr id="6" name="Text 3"/>
          <p:cNvSpPr/>
          <p:nvPr/>
        </p:nvSpPr>
        <p:spPr>
          <a:xfrm>
            <a:off x="548640" y="6419088"/>
            <a:ext cx="8686800" cy="274320"/>
          </a:xfrm>
          <a:prstGeom prst="rect">
            <a:avLst/>
          </a:prstGeom>
          <a:noFill/>
          <a:ln/>
        </p:spPr>
        <p:txBody>
          <a:bodyPr wrap="square" lIns="0" tIns="0" rIns="0" bIns="0" rtlCol="0" anchor="ctr"/>
          <a:lstStyle/>
          <a:p>
            <a:pPr indent="0" marL="0">
              <a:buNone/>
            </a:pPr>
            <a:r>
              <a:rPr lang="en-US" sz="900" dirty="0">
                <a:solidFill>
                  <a:srgbClr val="9AA7B4"/>
                </a:solidFill>
                <a:latin typeface="Calibri" pitchFamily="34" charset="0"/>
                <a:ea typeface="Calibri" pitchFamily="34" charset="-122"/>
                <a:cs typeface="Calibri" pitchFamily="34" charset="-120"/>
              </a:rPr>
              <a:t>Kiểm định độ tin cậy YOLOv8 · Nhóm KHMT836016/34/36</a:t>
            </a:r>
            <a:endParaRPr lang="en-US" sz="900" dirty="0"/>
          </a:p>
        </p:txBody>
      </p:sp>
      <p:sp>
        <p:nvSpPr>
          <p:cNvPr id="7" name="Text 4"/>
          <p:cNvSpPr/>
          <p:nvPr/>
        </p:nvSpPr>
        <p:spPr>
          <a:xfrm>
            <a:off x="11064240" y="6419088"/>
            <a:ext cx="548640" cy="274320"/>
          </a:xfrm>
          <a:prstGeom prst="rect">
            <a:avLst/>
          </a:prstGeom>
          <a:noFill/>
          <a:ln/>
        </p:spPr>
        <p:txBody>
          <a:bodyPr wrap="square" lIns="0" tIns="0" rIns="0" bIns="0" rtlCol="0" anchor="ctr"/>
          <a:lstStyle/>
          <a:p>
            <a:pPr algn="r" indent="0" marL="0">
              <a:buNone/>
            </a:pPr>
            <a:r>
              <a:rPr lang="en-US" sz="1000" b="1" dirty="0">
                <a:solidFill>
                  <a:srgbClr val="1C7293"/>
                </a:solidFill>
                <a:latin typeface="Calibri" pitchFamily="34" charset="0"/>
                <a:ea typeface="Calibri" pitchFamily="34" charset="-122"/>
                <a:cs typeface="Calibri" pitchFamily="34" charset="-120"/>
              </a:rPr>
              <a:t>12</a:t>
            </a:r>
            <a:endParaRPr lang="en-US" sz="1000" dirty="0"/>
          </a:p>
        </p:txBody>
      </p:sp>
      <p:sp>
        <p:nvSpPr>
          <p:cNvPr id="8" name="Shape 5"/>
          <p:cNvSpPr/>
          <p:nvPr/>
        </p:nvSpPr>
        <p:spPr>
          <a:xfrm>
            <a:off x="548640" y="457200"/>
            <a:ext cx="155448" cy="457200"/>
          </a:xfrm>
          <a:prstGeom prst="roundRect">
            <a:avLst>
              <a:gd name="adj" fmla="val 17647"/>
            </a:avLst>
          </a:prstGeom>
          <a:solidFill>
            <a:srgbClr val="1C7293"/>
          </a:solidFill>
          <a:ln w="12700">
            <a:solidFill>
              <a:srgbClr val="333333"/>
            </a:solidFill>
            <a:prstDash val="solid"/>
          </a:ln>
        </p:spPr>
      </p:sp>
      <p:sp>
        <p:nvSpPr>
          <p:cNvPr id="9" name="Text 6"/>
          <p:cNvSpPr/>
          <p:nvPr/>
        </p:nvSpPr>
        <p:spPr>
          <a:xfrm>
            <a:off x="877824" y="365760"/>
            <a:ext cx="10735056" cy="713232"/>
          </a:xfrm>
          <a:prstGeom prst="rect">
            <a:avLst/>
          </a:prstGeom>
          <a:noFill/>
          <a:ln/>
        </p:spPr>
        <p:txBody>
          <a:bodyPr wrap="square" lIns="0" tIns="0" rIns="0" bIns="0" rtlCol="0" anchor="ctr"/>
          <a:lstStyle/>
          <a:p>
            <a:pPr indent="0" marL="0">
              <a:buNone/>
            </a:pPr>
            <a:r>
              <a:rPr lang="en-US" sz="2900" b="1" dirty="0">
                <a:solidFill>
                  <a:srgbClr val="1A2430"/>
                </a:solidFill>
                <a:latin typeface="Cambria" pitchFamily="34" charset="0"/>
                <a:ea typeface="Cambria" pitchFamily="34" charset="-122"/>
                <a:cs typeface="Cambria" pitchFamily="34" charset="-120"/>
              </a:rPr>
              <a:t>15 lớp — hai nhóm bản chất khác nhau</a:t>
            </a:r>
            <a:endParaRPr lang="en-US" sz="2900" dirty="0"/>
          </a:p>
        </p:txBody>
      </p:sp>
      <p:sp>
        <p:nvSpPr>
          <p:cNvPr id="10" name="Shape 7"/>
          <p:cNvSpPr/>
          <p:nvPr/>
        </p:nvSpPr>
        <p:spPr>
          <a:xfrm>
            <a:off x="548640" y="1481328"/>
            <a:ext cx="5394960" cy="3108960"/>
          </a:xfrm>
          <a:prstGeom prst="roundRect">
            <a:avLst>
              <a:gd name="adj" fmla="val 2941"/>
            </a:avLst>
          </a:prstGeom>
          <a:solidFill>
            <a:srgbClr val="FDEEEE"/>
          </a:solidFill>
          <a:ln w="12700">
            <a:solidFill>
              <a:srgbClr val="E6ECF2"/>
            </a:solidFill>
            <a:prstDash val="solid"/>
          </a:ln>
          <a:effectLst>
            <a:outerShdw sx="100000" sy="100000" kx="0" ky="0" algn="bl" rotWithShape="0" blurRad="114300" dist="25400" dir="5400000">
              <a:srgbClr val="9FB0C0">
                <a:alpha val="22000"/>
              </a:srgbClr>
            </a:outerShdw>
          </a:effectLst>
        </p:spPr>
      </p:sp>
      <p:sp>
        <p:nvSpPr>
          <p:cNvPr id="11" name="Text 8"/>
          <p:cNvSpPr/>
          <p:nvPr/>
        </p:nvSpPr>
        <p:spPr>
          <a:xfrm>
            <a:off x="822960" y="1700784"/>
            <a:ext cx="4754880" cy="365760"/>
          </a:xfrm>
          <a:prstGeom prst="rect">
            <a:avLst/>
          </a:prstGeom>
          <a:noFill/>
          <a:ln/>
        </p:spPr>
        <p:txBody>
          <a:bodyPr wrap="square" lIns="0" tIns="0" rIns="0" bIns="0" rtlCol="0" anchor="ctr"/>
          <a:lstStyle/>
          <a:p>
            <a:pPr indent="0" marL="0">
              <a:buNone/>
            </a:pPr>
            <a:r>
              <a:rPr lang="en-US" sz="1800" b="1" dirty="0">
                <a:solidFill>
                  <a:srgbClr val="E63946"/>
                </a:solidFill>
                <a:latin typeface="Cambria" pitchFamily="34" charset="0"/>
                <a:ea typeface="Cambria" pitchFamily="34" charset="-122"/>
                <a:cs typeface="Cambria" pitchFamily="34" charset="-120"/>
              </a:rPr>
              <a:t>Đèn tín hiệu (2 lớp)</a:t>
            </a:r>
            <a:endParaRPr lang="en-US" sz="1800" dirty="0"/>
          </a:p>
        </p:txBody>
      </p:sp>
      <p:sp>
        <p:nvSpPr>
          <p:cNvPr id="12" name="Text 9"/>
          <p:cNvSpPr/>
          <p:nvPr/>
        </p:nvSpPr>
        <p:spPr>
          <a:xfrm>
            <a:off x="859536" y="2139696"/>
            <a:ext cx="4800600" cy="2286000"/>
          </a:xfrm>
          <a:prstGeom prst="rect">
            <a:avLst/>
          </a:prstGeom>
          <a:noFill/>
          <a:ln/>
        </p:spPr>
        <p:txBody>
          <a:bodyPr wrap="square" lIns="0" tIns="0" rIns="0" bIns="0" rtlCol="0" anchor="t"/>
          <a:lstStyle/>
          <a:p>
            <a:pPr marL="228600" indent="-228600">
              <a:lnSpc>
                <a:spcPct val="108000"/>
              </a:lnSpc>
              <a:spcAft>
                <a:spcPts val="800"/>
              </a:spcAft>
              <a:buSzPct val="100000"/>
              <a:buChar char="•"/>
            </a:pPr>
            <a:r>
              <a:rPr lang="en-US" sz="1400" dirty="0">
                <a:solidFill>
                  <a:srgbClr val="1A2430"/>
                </a:solidFill>
                <a:latin typeface="Calibri" pitchFamily="34" charset="0"/>
                <a:ea typeface="Calibri" pitchFamily="34" charset="-122"/>
                <a:cs typeface="Calibri" pitchFamily="34" charset="-120"/>
              </a:rPr>
              <a:t>Green Light</a:t>
            </a:r>
            <a:endParaRPr lang="en-US" sz="1400" dirty="0"/>
          </a:p>
          <a:p>
            <a:pPr marL="228600" indent="-228600">
              <a:lnSpc>
                <a:spcPct val="108000"/>
              </a:lnSpc>
              <a:spcAft>
                <a:spcPts val="800"/>
              </a:spcAft>
              <a:buSzPct val="100000"/>
              <a:buChar char="•"/>
            </a:pPr>
            <a:r>
              <a:rPr lang="en-US" sz="1400" dirty="0">
                <a:solidFill>
                  <a:srgbClr val="1A2430"/>
                </a:solidFill>
                <a:latin typeface="Calibri" pitchFamily="34" charset="0"/>
                <a:ea typeface="Calibri" pitchFamily="34" charset="-122"/>
                <a:cs typeface="Calibri" pitchFamily="34" charset="-120"/>
              </a:rPr>
              <a:t>Red Light — lớp PHỔ BIẾN NHẤT toàn corpus (787 đối tượng)</a:t>
            </a:r>
            <a:endParaRPr lang="en-US" sz="1400" dirty="0"/>
          </a:p>
          <a:p>
            <a:pPr marL="228600" indent="-228600">
              <a:lnSpc>
                <a:spcPct val="108000"/>
              </a:lnSpc>
              <a:spcAft>
                <a:spcPts val="800"/>
              </a:spcAft>
              <a:buSzPct val="100000"/>
              <a:buChar char="•"/>
            </a:pPr>
            <a:r>
              <a:rPr lang="en-US" sz="1400" dirty="0">
                <a:solidFill>
                  <a:srgbClr val="1A2430"/>
                </a:solidFill>
                <a:latin typeface="Calibri" pitchFamily="34" charset="0"/>
                <a:ea typeface="Calibri" pitchFamily="34" charset="-122"/>
                <a:cs typeface="Calibri" pitchFamily="34" charset="-120"/>
              </a:rPr>
              <a:t>Đặc điểm: thường nhỏ, ở xa, độ tương phản thấp</a:t>
            </a:r>
            <a:endParaRPr lang="en-US" sz="1400" dirty="0"/>
          </a:p>
          <a:p>
            <a:pPr marL="228600" indent="-228600">
              <a:lnSpc>
                <a:spcPct val="108000"/>
              </a:lnSpc>
              <a:spcAft>
                <a:spcPts val="800"/>
              </a:spcAft>
              <a:buSzPct val="100000"/>
              <a:buChar char="•"/>
            </a:pPr>
            <a:r>
              <a:rPr lang="en-US" sz="1400" dirty="0">
                <a:solidFill>
                  <a:srgbClr val="1A2430"/>
                </a:solidFill>
                <a:latin typeface="Calibri" pitchFamily="34" charset="0"/>
                <a:ea typeface="Calibri" pitchFamily="34" charset="-122"/>
                <a:cs typeface="Calibri" pitchFamily="34" charset="-120"/>
              </a:rPr>
              <a:t>Hai màu đỏ/xanh dễ nhầm về hình học</a:t>
            </a:r>
            <a:endParaRPr lang="en-US" sz="1400" dirty="0"/>
          </a:p>
        </p:txBody>
      </p:sp>
      <p:sp>
        <p:nvSpPr>
          <p:cNvPr id="13" name="Shape 10"/>
          <p:cNvSpPr/>
          <p:nvPr/>
        </p:nvSpPr>
        <p:spPr>
          <a:xfrm>
            <a:off x="6217920" y="1481328"/>
            <a:ext cx="5394960" cy="3108960"/>
          </a:xfrm>
          <a:prstGeom prst="roundRect">
            <a:avLst>
              <a:gd name="adj" fmla="val 2941"/>
            </a:avLst>
          </a:prstGeom>
          <a:solidFill>
            <a:srgbClr val="E8F4F0"/>
          </a:solidFill>
          <a:ln w="12700">
            <a:solidFill>
              <a:srgbClr val="E6ECF2"/>
            </a:solidFill>
            <a:prstDash val="solid"/>
          </a:ln>
          <a:effectLst>
            <a:outerShdw sx="100000" sy="100000" kx="0" ky="0" algn="bl" rotWithShape="0" blurRad="114300" dist="25400" dir="5400000">
              <a:srgbClr val="9FB0C0">
                <a:alpha val="22000"/>
              </a:srgbClr>
            </a:outerShdw>
          </a:effectLst>
        </p:spPr>
      </p:sp>
      <p:sp>
        <p:nvSpPr>
          <p:cNvPr id="14" name="Text 11"/>
          <p:cNvSpPr/>
          <p:nvPr/>
        </p:nvSpPr>
        <p:spPr>
          <a:xfrm>
            <a:off x="6492240" y="1700784"/>
            <a:ext cx="4754880" cy="365760"/>
          </a:xfrm>
          <a:prstGeom prst="rect">
            <a:avLst/>
          </a:prstGeom>
          <a:noFill/>
          <a:ln/>
        </p:spPr>
        <p:txBody>
          <a:bodyPr wrap="square" lIns="0" tIns="0" rIns="0" bIns="0" rtlCol="0" anchor="ctr"/>
          <a:lstStyle/>
          <a:p>
            <a:pPr indent="0" marL="0">
              <a:buNone/>
            </a:pPr>
            <a:r>
              <a:rPr lang="en-US" sz="1800" b="1" dirty="0">
                <a:solidFill>
                  <a:srgbClr val="1C7293"/>
                </a:solidFill>
                <a:latin typeface="Cambria" pitchFamily="34" charset="0"/>
                <a:ea typeface="Cambria" pitchFamily="34" charset="-122"/>
                <a:cs typeface="Cambria" pitchFamily="34" charset="-120"/>
              </a:rPr>
              <a:t>Biển báo (13 lớp)</a:t>
            </a:r>
            <a:endParaRPr lang="en-US" sz="1800" dirty="0"/>
          </a:p>
        </p:txBody>
      </p:sp>
      <p:sp>
        <p:nvSpPr>
          <p:cNvPr id="15" name="Text 12"/>
          <p:cNvSpPr/>
          <p:nvPr/>
        </p:nvSpPr>
        <p:spPr>
          <a:xfrm>
            <a:off x="6528816" y="2139696"/>
            <a:ext cx="4800600" cy="2286000"/>
          </a:xfrm>
          <a:prstGeom prst="rect">
            <a:avLst/>
          </a:prstGeom>
          <a:noFill/>
          <a:ln/>
        </p:spPr>
        <p:txBody>
          <a:bodyPr wrap="square" lIns="0" tIns="0" rIns="0" bIns="0" rtlCol="0" anchor="t"/>
          <a:lstStyle/>
          <a:p>
            <a:pPr marL="228600" indent="-228600">
              <a:lnSpc>
                <a:spcPct val="108000"/>
              </a:lnSpc>
              <a:spcAft>
                <a:spcPts val="800"/>
              </a:spcAft>
              <a:buSzPct val="100000"/>
              <a:buChar char="•"/>
            </a:pPr>
            <a:r>
              <a:rPr lang="en-US" sz="1400" dirty="0">
                <a:solidFill>
                  <a:srgbClr val="1A2430"/>
                </a:solidFill>
                <a:latin typeface="Calibri" pitchFamily="34" charset="0"/>
                <a:ea typeface="Calibri" pitchFamily="34" charset="-122"/>
                <a:cs typeface="Calibri" pitchFamily="34" charset="-120"/>
              </a:rPr>
              <a:t>12 biển giới hạn tốc độ (10–120) + biển Stop</a:t>
            </a:r>
            <a:endParaRPr lang="en-US" sz="1400" dirty="0"/>
          </a:p>
          <a:p>
            <a:pPr marL="228600" indent="-228600">
              <a:lnSpc>
                <a:spcPct val="108000"/>
              </a:lnSpc>
              <a:spcAft>
                <a:spcPts val="800"/>
              </a:spcAft>
              <a:buSzPct val="100000"/>
              <a:buChar char="•"/>
            </a:pPr>
            <a:r>
              <a:rPr lang="en-US" sz="1400" dirty="0">
                <a:solidFill>
                  <a:srgbClr val="1A2430"/>
                </a:solidFill>
                <a:latin typeface="Calibri" pitchFamily="34" charset="0"/>
                <a:ea typeface="Calibri" pitchFamily="34" charset="-122"/>
                <a:cs typeface="Calibri" pitchFamily="34" charset="-120"/>
              </a:rPr>
              <a:t>Đặc điểm: chữ số/ký hiệu rõ, hình dạng chuẩn</a:t>
            </a:r>
            <a:endParaRPr lang="en-US" sz="1400" dirty="0"/>
          </a:p>
          <a:p>
            <a:pPr marL="228600" indent="-228600">
              <a:lnSpc>
                <a:spcPct val="108000"/>
              </a:lnSpc>
              <a:spcAft>
                <a:spcPts val="800"/>
              </a:spcAft>
              <a:buSzPct val="100000"/>
              <a:buChar char="•"/>
            </a:pPr>
            <a:r>
              <a:rPr lang="en-US" sz="1400" dirty="0">
                <a:solidFill>
                  <a:srgbClr val="1A2430"/>
                </a:solidFill>
                <a:latin typeface="Calibri" pitchFamily="34" charset="0"/>
                <a:ea typeface="Calibri" pitchFamily="34" charset="-122"/>
                <a:cs typeface="Calibri" pitchFamily="34" charset="-120"/>
              </a:rPr>
              <a:t>Kích thước thường lớn hơn đèn</a:t>
            </a:r>
            <a:endParaRPr lang="en-US" sz="1400" dirty="0"/>
          </a:p>
          <a:p>
            <a:pPr marL="228600" indent="-228600">
              <a:lnSpc>
                <a:spcPct val="108000"/>
              </a:lnSpc>
              <a:spcAft>
                <a:spcPts val="800"/>
              </a:spcAft>
              <a:buSzPct val="100000"/>
              <a:buChar char="•"/>
            </a:pPr>
            <a:r>
              <a:rPr lang="en-US" sz="1400" dirty="0">
                <a:solidFill>
                  <a:srgbClr val="1A2430"/>
                </a:solidFill>
                <a:latin typeface="Calibri" pitchFamily="34" charset="0"/>
                <a:ea typeface="Calibri" pitchFamily="34" charset="-122"/>
                <a:cs typeface="Calibri" pitchFamily="34" charset="-120"/>
              </a:rPr>
              <a:t>Rarest: Speed Limit 10 (chỉ 22 đối tượng)</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10789920" y="-1234440"/>
            <a:ext cx="2743200" cy="2743200"/>
          </a:xfrm>
          <a:prstGeom prst="ellipse">
            <a:avLst/>
          </a:prstGeom>
          <a:solidFill>
            <a:srgbClr val="EAF1F6"/>
          </a:solidFill>
          <a:ln w="12700">
            <a:solidFill>
              <a:srgbClr val="333333"/>
            </a:solidFill>
            <a:prstDash val="solid"/>
          </a:ln>
        </p:spPr>
      </p:sp>
      <p:sp>
        <p:nvSpPr>
          <p:cNvPr id="4" name="Shape 1"/>
          <p:cNvSpPr/>
          <p:nvPr/>
        </p:nvSpPr>
        <p:spPr>
          <a:xfrm>
            <a:off x="11475720" y="182880"/>
            <a:ext cx="822960" cy="822960"/>
          </a:xfrm>
          <a:prstGeom prst="ellipse">
            <a:avLst/>
          </a:prstGeom>
          <a:solidFill>
            <a:srgbClr val="DCE8F0"/>
          </a:solidFill>
          <a:ln w="12700">
            <a:solidFill>
              <a:srgbClr val="333333"/>
            </a:solidFill>
            <a:prstDash val="solid"/>
          </a:ln>
        </p:spPr>
      </p:sp>
      <p:sp>
        <p:nvSpPr>
          <p:cNvPr id="5" name="Shape 2"/>
          <p:cNvSpPr/>
          <p:nvPr/>
        </p:nvSpPr>
        <p:spPr>
          <a:xfrm>
            <a:off x="548640" y="6382512"/>
            <a:ext cx="11064240" cy="0"/>
          </a:xfrm>
          <a:prstGeom prst="line">
            <a:avLst/>
          </a:prstGeom>
          <a:noFill/>
          <a:ln w="12700">
            <a:solidFill>
              <a:srgbClr val="DDE3EA"/>
            </a:solidFill>
            <a:prstDash val="solid"/>
          </a:ln>
        </p:spPr>
      </p:sp>
      <p:sp>
        <p:nvSpPr>
          <p:cNvPr id="6" name="Text 3"/>
          <p:cNvSpPr/>
          <p:nvPr/>
        </p:nvSpPr>
        <p:spPr>
          <a:xfrm>
            <a:off x="548640" y="6419088"/>
            <a:ext cx="8686800" cy="274320"/>
          </a:xfrm>
          <a:prstGeom prst="rect">
            <a:avLst/>
          </a:prstGeom>
          <a:noFill/>
          <a:ln/>
        </p:spPr>
        <p:txBody>
          <a:bodyPr wrap="square" lIns="0" tIns="0" rIns="0" bIns="0" rtlCol="0" anchor="ctr"/>
          <a:lstStyle/>
          <a:p>
            <a:pPr indent="0" marL="0">
              <a:buNone/>
            </a:pPr>
            <a:r>
              <a:rPr lang="en-US" sz="900" dirty="0">
                <a:solidFill>
                  <a:srgbClr val="9AA7B4"/>
                </a:solidFill>
                <a:latin typeface="Calibri" pitchFamily="34" charset="0"/>
                <a:ea typeface="Calibri" pitchFamily="34" charset="-122"/>
                <a:cs typeface="Calibri" pitchFamily="34" charset="-120"/>
              </a:rPr>
              <a:t>Kiểm định độ tin cậy YOLOv8 · Nhóm KHMT836016/34/36</a:t>
            </a:r>
            <a:endParaRPr lang="en-US" sz="900" dirty="0"/>
          </a:p>
        </p:txBody>
      </p:sp>
      <p:sp>
        <p:nvSpPr>
          <p:cNvPr id="7" name="Text 4"/>
          <p:cNvSpPr/>
          <p:nvPr/>
        </p:nvSpPr>
        <p:spPr>
          <a:xfrm>
            <a:off x="11064240" y="6419088"/>
            <a:ext cx="548640" cy="274320"/>
          </a:xfrm>
          <a:prstGeom prst="rect">
            <a:avLst/>
          </a:prstGeom>
          <a:noFill/>
          <a:ln/>
        </p:spPr>
        <p:txBody>
          <a:bodyPr wrap="square" lIns="0" tIns="0" rIns="0" bIns="0" rtlCol="0" anchor="ctr"/>
          <a:lstStyle/>
          <a:p>
            <a:pPr algn="r" indent="0" marL="0">
              <a:buNone/>
            </a:pPr>
            <a:r>
              <a:rPr lang="en-US" sz="1000" b="1" dirty="0">
                <a:solidFill>
                  <a:srgbClr val="1C7293"/>
                </a:solidFill>
                <a:latin typeface="Calibri" pitchFamily="34" charset="0"/>
                <a:ea typeface="Calibri" pitchFamily="34" charset="-122"/>
                <a:cs typeface="Calibri" pitchFamily="34" charset="-120"/>
              </a:rPr>
              <a:t>13</a:t>
            </a:r>
            <a:endParaRPr lang="en-US" sz="1000" dirty="0"/>
          </a:p>
        </p:txBody>
      </p:sp>
      <p:sp>
        <p:nvSpPr>
          <p:cNvPr id="8" name="Shape 5"/>
          <p:cNvSpPr/>
          <p:nvPr/>
        </p:nvSpPr>
        <p:spPr>
          <a:xfrm>
            <a:off x="548640" y="457200"/>
            <a:ext cx="155448" cy="457200"/>
          </a:xfrm>
          <a:prstGeom prst="roundRect">
            <a:avLst>
              <a:gd name="adj" fmla="val 17647"/>
            </a:avLst>
          </a:prstGeom>
          <a:solidFill>
            <a:srgbClr val="1C7293"/>
          </a:solidFill>
          <a:ln w="12700">
            <a:solidFill>
              <a:srgbClr val="333333"/>
            </a:solidFill>
            <a:prstDash val="solid"/>
          </a:ln>
        </p:spPr>
      </p:sp>
      <p:sp>
        <p:nvSpPr>
          <p:cNvPr id="9" name="Text 6"/>
          <p:cNvSpPr/>
          <p:nvPr/>
        </p:nvSpPr>
        <p:spPr>
          <a:xfrm>
            <a:off x="877824" y="365760"/>
            <a:ext cx="10735056" cy="713232"/>
          </a:xfrm>
          <a:prstGeom prst="rect">
            <a:avLst/>
          </a:prstGeom>
          <a:noFill/>
          <a:ln/>
        </p:spPr>
        <p:txBody>
          <a:bodyPr wrap="square" lIns="0" tIns="0" rIns="0" bIns="0" rtlCol="0" anchor="ctr"/>
          <a:lstStyle/>
          <a:p>
            <a:pPr indent="0" marL="0">
              <a:buNone/>
            </a:pPr>
            <a:r>
              <a:rPr lang="en-US" sz="2900" b="1" dirty="0">
                <a:solidFill>
                  <a:srgbClr val="1A2430"/>
                </a:solidFill>
                <a:latin typeface="Cambria" pitchFamily="34" charset="0"/>
                <a:ea typeface="Cambria" pitchFamily="34" charset="-122"/>
                <a:cs typeface="Cambria" pitchFamily="34" charset="-120"/>
              </a:rPr>
              <a:t>Thống kê theo split</a:t>
            </a:r>
            <a:endParaRPr lang="en-US" sz="29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481328"/>
          <a:ext cx="11064240" cy="914400"/>
        </p:xfrm>
        <a:graphic>
          <a:graphicData uri="http://schemas.openxmlformats.org/drawingml/2006/table">
            <a:tbl>
              <a:tblPr/>
              <a:tblGrid>
                <a:gridCol w="2011680"/>
                <a:gridCol w="2011680"/>
                <a:gridCol w="2377440"/>
                <a:gridCol w="2194560"/>
                <a:gridCol w="2468880"/>
              </a:tblGrid>
              <a:tr h="457200">
                <a:tc>
                  <a:txBody>
                    <a:bodyPr/>
                    <a:lstStyle/>
                    <a:p>
                      <a:pPr algn="l" indent="0" marL="0">
                        <a:buNone/>
                      </a:pPr>
                      <a:r>
                        <a:rPr lang="en-US" sz="1450" b="1" dirty="0">
                          <a:solidFill>
                            <a:srgbClr val="FFFFFF"/>
                          </a:solidFill>
                          <a:latin typeface="Calibri" pitchFamily="34" charset="0"/>
                          <a:ea typeface="Calibri" pitchFamily="34" charset="-122"/>
                          <a:cs typeface="Calibri" pitchFamily="34" charset="-120"/>
                        </a:rPr>
                        <a:t>Split</a:t>
                      </a:r>
                      <a:endParaRPr lang="en-US" sz="1450" dirty="0">
                        <a:latin typeface="Calibri" charset="0"/>
                        <a:ea typeface="Calibri" charset="0"/>
                        <a:cs typeface="Calibri" charset="0"/>
                      </a:endParaRPr>
                    </a:p>
                  </a:txBody>
                  <a:tcPr marL="45720" marR="45720" marT="45720" marB="45720" anchor="ctr">
                    <a:lnL w="12700" cap="flat" cmpd="sng" algn="ctr">
                      <a:solidFill>
                        <a:srgbClr val="DCE3EB"/>
                      </a:solidFill>
                      <a:prstDash val="solid"/>
                      <a:round/>
                      <a:headEnd type="none" w="med" len="med"/>
                      <a:tailEnd type="none" w="med" len="med"/>
                    </a:lnL>
                    <a:lnR w="12700" cap="flat" cmpd="sng" algn="ctr">
                      <a:solidFill>
                        <a:srgbClr val="DCE3EB"/>
                      </a:solidFill>
                      <a:prstDash val="solid"/>
                      <a:round/>
                      <a:headEnd type="none" w="med" len="med"/>
                      <a:tailEnd type="none" w="med" len="med"/>
                    </a:lnR>
                    <a:lnT w="12700" cap="flat" cmpd="sng" algn="ctr">
                      <a:solidFill>
                        <a:srgbClr val="DCE3EB"/>
                      </a:solidFill>
                      <a:prstDash val="solid"/>
                      <a:round/>
                      <a:headEnd type="none" w="med" len="med"/>
                      <a:tailEnd type="none" w="med" len="med"/>
                    </a:lnT>
                    <a:lnB w="12700" cap="flat" cmpd="sng" algn="ctr">
                      <a:solidFill>
                        <a:srgbClr val="DCE3EB"/>
                      </a:solidFill>
                      <a:prstDash val="solid"/>
                      <a:round/>
                      <a:headEnd type="none" w="med" len="med"/>
                      <a:tailEnd type="none" w="med" len="med"/>
                    </a:lnB>
                    <a:solidFill>
                      <a:srgbClr val="152238"/>
                    </a:solidFill>
                  </a:tcPr>
                </a:tc>
                <a:tc>
                  <a:txBody>
                    <a:bodyPr/>
                    <a:lstStyle/>
                    <a:p>
                      <a:pPr algn="ctr" indent="0" marL="0">
                        <a:buNone/>
                      </a:pPr>
                      <a:r>
                        <a:rPr lang="en-US" sz="1450" b="1" dirty="0">
                          <a:solidFill>
                            <a:srgbClr val="FFFFFF"/>
                          </a:solidFill>
                          <a:latin typeface="Calibri" pitchFamily="34" charset="0"/>
                          <a:ea typeface="Calibri" pitchFamily="34" charset="-122"/>
                          <a:cs typeface="Calibri" pitchFamily="34" charset="-120"/>
                        </a:rPr>
                        <a:t>Số ảnh</a:t>
                      </a:r>
                      <a:endParaRPr lang="en-US" sz="1450" dirty="0">
                        <a:latin typeface="Calibri" charset="0"/>
                        <a:ea typeface="Calibri" charset="0"/>
                        <a:cs typeface="Calibri" charset="0"/>
                      </a:endParaRPr>
                    </a:p>
                  </a:txBody>
                  <a:tcPr marL="45720" marR="45720" marT="45720" marB="45720" anchor="ctr">
                    <a:lnL w="12700" cap="flat" cmpd="sng" algn="ctr">
                      <a:solidFill>
                        <a:srgbClr val="DCE3EB"/>
                      </a:solidFill>
                      <a:prstDash val="solid"/>
                      <a:round/>
                      <a:headEnd type="none" w="med" len="med"/>
                      <a:tailEnd type="none" w="med" len="med"/>
                    </a:lnL>
                    <a:lnR w="12700" cap="flat" cmpd="sng" algn="ctr">
                      <a:solidFill>
                        <a:srgbClr val="DCE3EB"/>
                      </a:solidFill>
                      <a:prstDash val="solid"/>
                      <a:round/>
                      <a:headEnd type="none" w="med" len="med"/>
                      <a:tailEnd type="none" w="med" len="med"/>
                    </a:lnR>
                    <a:lnT w="12700" cap="flat" cmpd="sng" algn="ctr">
                      <a:solidFill>
                        <a:srgbClr val="DCE3EB"/>
                      </a:solidFill>
                      <a:prstDash val="solid"/>
                      <a:round/>
                      <a:headEnd type="none" w="med" len="med"/>
                      <a:tailEnd type="none" w="med" len="med"/>
                    </a:lnT>
                    <a:lnB w="12700" cap="flat" cmpd="sng" algn="ctr">
                      <a:solidFill>
                        <a:srgbClr val="DCE3EB"/>
                      </a:solidFill>
                      <a:prstDash val="solid"/>
                      <a:round/>
                      <a:headEnd type="none" w="med" len="med"/>
                      <a:tailEnd type="none" w="med" len="med"/>
                    </a:lnB>
                    <a:solidFill>
                      <a:srgbClr val="152238"/>
                    </a:solidFill>
                  </a:tcPr>
                </a:tc>
                <a:tc>
                  <a:txBody>
                    <a:bodyPr/>
                    <a:lstStyle/>
                    <a:p>
                      <a:pPr algn="ctr" indent="0" marL="0">
                        <a:buNone/>
                      </a:pPr>
                      <a:r>
                        <a:rPr lang="en-US" sz="1450" b="1" dirty="0">
                          <a:solidFill>
                            <a:srgbClr val="FFFFFF"/>
                          </a:solidFill>
                          <a:latin typeface="Calibri" pitchFamily="34" charset="0"/>
                          <a:ea typeface="Calibri" pitchFamily="34" charset="-122"/>
                          <a:cs typeface="Calibri" pitchFamily="34" charset="-120"/>
                        </a:rPr>
                        <a:t>Số đối tượng</a:t>
                      </a:r>
                      <a:endParaRPr lang="en-US" sz="1450" dirty="0">
                        <a:latin typeface="Calibri" charset="0"/>
                        <a:ea typeface="Calibri" charset="0"/>
                        <a:cs typeface="Calibri" charset="0"/>
                      </a:endParaRPr>
                    </a:p>
                  </a:txBody>
                  <a:tcPr marL="45720" marR="45720" marT="45720" marB="45720" anchor="ctr">
                    <a:lnL w="12700" cap="flat" cmpd="sng" algn="ctr">
                      <a:solidFill>
                        <a:srgbClr val="DCE3EB"/>
                      </a:solidFill>
                      <a:prstDash val="solid"/>
                      <a:round/>
                      <a:headEnd type="none" w="med" len="med"/>
                      <a:tailEnd type="none" w="med" len="med"/>
                    </a:lnL>
                    <a:lnR w="12700" cap="flat" cmpd="sng" algn="ctr">
                      <a:solidFill>
                        <a:srgbClr val="DCE3EB"/>
                      </a:solidFill>
                      <a:prstDash val="solid"/>
                      <a:round/>
                      <a:headEnd type="none" w="med" len="med"/>
                      <a:tailEnd type="none" w="med" len="med"/>
                    </a:lnR>
                    <a:lnT w="12700" cap="flat" cmpd="sng" algn="ctr">
                      <a:solidFill>
                        <a:srgbClr val="DCE3EB"/>
                      </a:solidFill>
                      <a:prstDash val="solid"/>
                      <a:round/>
                      <a:headEnd type="none" w="med" len="med"/>
                      <a:tailEnd type="none" w="med" len="med"/>
                    </a:lnT>
                    <a:lnB w="12700" cap="flat" cmpd="sng" algn="ctr">
                      <a:solidFill>
                        <a:srgbClr val="DCE3EB"/>
                      </a:solidFill>
                      <a:prstDash val="solid"/>
                      <a:round/>
                      <a:headEnd type="none" w="med" len="med"/>
                      <a:tailEnd type="none" w="med" len="med"/>
                    </a:lnB>
                    <a:solidFill>
                      <a:srgbClr val="152238"/>
                    </a:solidFill>
                  </a:tcPr>
                </a:tc>
                <a:tc>
                  <a:txBody>
                    <a:bodyPr/>
                    <a:lstStyle/>
                    <a:p>
                      <a:pPr algn="ctr" indent="0" marL="0">
                        <a:buNone/>
                      </a:pPr>
                      <a:r>
                        <a:rPr lang="en-US" sz="1450" b="1" dirty="0">
                          <a:solidFill>
                            <a:srgbClr val="FFFFFF"/>
                          </a:solidFill>
                          <a:latin typeface="Calibri" pitchFamily="34" charset="0"/>
                          <a:ea typeface="Calibri" pitchFamily="34" charset="-122"/>
                          <a:cs typeface="Calibri" pitchFamily="34" charset="-120"/>
                        </a:rPr>
                        <a:t>Đối tượng/ảnh</a:t>
                      </a:r>
                      <a:endParaRPr lang="en-US" sz="1450" dirty="0">
                        <a:latin typeface="Calibri" charset="0"/>
                        <a:ea typeface="Calibri" charset="0"/>
                        <a:cs typeface="Calibri" charset="0"/>
                      </a:endParaRPr>
                    </a:p>
                  </a:txBody>
                  <a:tcPr marL="45720" marR="45720" marT="45720" marB="45720" anchor="ctr">
                    <a:lnL w="12700" cap="flat" cmpd="sng" algn="ctr">
                      <a:solidFill>
                        <a:srgbClr val="DCE3EB"/>
                      </a:solidFill>
                      <a:prstDash val="solid"/>
                      <a:round/>
                      <a:headEnd type="none" w="med" len="med"/>
                      <a:tailEnd type="none" w="med" len="med"/>
                    </a:lnL>
                    <a:lnR w="12700" cap="flat" cmpd="sng" algn="ctr">
                      <a:solidFill>
                        <a:srgbClr val="DCE3EB"/>
                      </a:solidFill>
                      <a:prstDash val="solid"/>
                      <a:round/>
                      <a:headEnd type="none" w="med" len="med"/>
                      <a:tailEnd type="none" w="med" len="med"/>
                    </a:lnR>
                    <a:lnT w="12700" cap="flat" cmpd="sng" algn="ctr">
                      <a:solidFill>
                        <a:srgbClr val="DCE3EB"/>
                      </a:solidFill>
                      <a:prstDash val="solid"/>
                      <a:round/>
                      <a:headEnd type="none" w="med" len="med"/>
                      <a:tailEnd type="none" w="med" len="med"/>
                    </a:lnT>
                    <a:lnB w="12700" cap="flat" cmpd="sng" algn="ctr">
                      <a:solidFill>
                        <a:srgbClr val="DCE3EB"/>
                      </a:solidFill>
                      <a:prstDash val="solid"/>
                      <a:round/>
                      <a:headEnd type="none" w="med" len="med"/>
                      <a:tailEnd type="none" w="med" len="med"/>
                    </a:lnB>
                    <a:solidFill>
                      <a:srgbClr val="152238"/>
                    </a:solidFill>
                  </a:tcPr>
                </a:tc>
                <a:tc>
                  <a:txBody>
                    <a:bodyPr/>
                    <a:lstStyle/>
                    <a:p>
                      <a:pPr algn="ctr" indent="0" marL="0">
                        <a:buNone/>
                      </a:pPr>
                      <a:r>
                        <a:rPr lang="en-US" sz="1450" b="1" dirty="0">
                          <a:solidFill>
                            <a:srgbClr val="FFFFFF"/>
                          </a:solidFill>
                          <a:latin typeface="Calibri" pitchFamily="34" charset="0"/>
                          <a:ea typeface="Calibri" pitchFamily="34" charset="-122"/>
                          <a:cs typeface="Calibri" pitchFamily="34" charset="-120"/>
                        </a:rPr>
                        <a:t>Diện tích bbox (px)</a:t>
                      </a:r>
                      <a:endParaRPr lang="en-US" sz="1450" dirty="0">
                        <a:latin typeface="Calibri" charset="0"/>
                        <a:ea typeface="Calibri" charset="0"/>
                        <a:cs typeface="Calibri" charset="0"/>
                      </a:endParaRPr>
                    </a:p>
                  </a:txBody>
                  <a:tcPr marL="45720" marR="45720" marT="45720" marB="45720" anchor="ctr">
                    <a:lnL w="12700" cap="flat" cmpd="sng" algn="ctr">
                      <a:solidFill>
                        <a:srgbClr val="DCE3EB"/>
                      </a:solidFill>
                      <a:prstDash val="solid"/>
                      <a:round/>
                      <a:headEnd type="none" w="med" len="med"/>
                      <a:tailEnd type="none" w="med" len="med"/>
                    </a:lnL>
                    <a:lnR w="12700" cap="flat" cmpd="sng" algn="ctr">
                      <a:solidFill>
                        <a:srgbClr val="DCE3EB"/>
                      </a:solidFill>
                      <a:prstDash val="solid"/>
                      <a:round/>
                      <a:headEnd type="none" w="med" len="med"/>
                      <a:tailEnd type="none" w="med" len="med"/>
                    </a:lnR>
                    <a:lnT w="12700" cap="flat" cmpd="sng" algn="ctr">
                      <a:solidFill>
                        <a:srgbClr val="DCE3EB"/>
                      </a:solidFill>
                      <a:prstDash val="solid"/>
                      <a:round/>
                      <a:headEnd type="none" w="med" len="med"/>
                      <a:tailEnd type="none" w="med" len="med"/>
                    </a:lnT>
                    <a:lnB w="12700" cap="flat" cmpd="sng" algn="ctr">
                      <a:solidFill>
                        <a:srgbClr val="DCE3EB"/>
                      </a:solidFill>
                      <a:prstDash val="solid"/>
                      <a:round/>
                      <a:headEnd type="none" w="med" len="med"/>
                      <a:tailEnd type="none" w="med" len="med"/>
                    </a:lnB>
                    <a:solidFill>
                      <a:srgbClr val="152238"/>
                    </a:solidFill>
                  </a:tcPr>
                </a:tc>
              </a:tr>
              <a:tr h="457200">
                <a:tc>
                  <a:txBody>
                    <a:bodyPr/>
                    <a:lstStyle/>
                    <a:p>
                      <a:pPr algn="l" indent="0" marL="0">
                        <a:buNone/>
                      </a:pPr>
                      <a:r>
                        <a:rPr lang="en-US" sz="1400" dirty="0">
                          <a:solidFill>
                            <a:srgbClr val="1A2430"/>
                          </a:solidFill>
                          <a:latin typeface="Calibri" pitchFamily="34" charset="0"/>
                          <a:ea typeface="Calibri" pitchFamily="34" charset="-122"/>
                          <a:cs typeface="Calibri" pitchFamily="34" charset="-120"/>
                        </a:rPr>
                        <a:t>train</a:t>
                      </a:r>
                      <a:endParaRPr lang="en-US" sz="1400" dirty="0">
                        <a:latin typeface="Calibri" charset="0"/>
                        <a:ea typeface="Calibri" charset="0"/>
                        <a:cs typeface="Calibri" charset="0"/>
                      </a:endParaRPr>
                    </a:p>
                  </a:txBody>
                  <a:tcPr marL="45720" marR="45720" marT="45720" marB="45720" anchor="ctr">
                    <a:lnL w="12700" cap="flat" cmpd="sng" algn="ctr">
                      <a:solidFill>
                        <a:srgbClr val="DCE3EB"/>
                      </a:solidFill>
                      <a:prstDash val="solid"/>
                      <a:round/>
                      <a:headEnd type="none" w="med" len="med"/>
                      <a:tailEnd type="none" w="med" len="med"/>
                    </a:lnL>
                    <a:lnR w="12700" cap="flat" cmpd="sng" algn="ctr">
                      <a:solidFill>
                        <a:srgbClr val="DCE3EB"/>
                      </a:solidFill>
                      <a:prstDash val="solid"/>
                      <a:round/>
                      <a:headEnd type="none" w="med" len="med"/>
                      <a:tailEnd type="none" w="med" len="med"/>
                    </a:lnR>
                    <a:lnT w="12700" cap="flat" cmpd="sng" algn="ctr">
                      <a:solidFill>
                        <a:srgbClr val="DCE3EB"/>
                      </a:solidFill>
                      <a:prstDash val="solid"/>
                      <a:round/>
                      <a:headEnd type="none" w="med" len="med"/>
                      <a:tailEnd type="none" w="med" len="med"/>
                    </a:lnT>
                    <a:lnB w="12700" cap="flat" cmpd="sng" algn="ctr">
                      <a:solidFill>
                        <a:srgbClr val="DCE3EB"/>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A2430"/>
                          </a:solidFill>
                          <a:latin typeface="Calibri" pitchFamily="34" charset="0"/>
                          <a:ea typeface="Calibri" pitchFamily="34" charset="-122"/>
                          <a:cs typeface="Calibri" pitchFamily="34" charset="-120"/>
                        </a:rPr>
                        <a:t>3,530</a:t>
                      </a:r>
                      <a:endParaRPr lang="en-US" sz="1400" dirty="0">
                        <a:latin typeface="Calibri" charset="0"/>
                        <a:ea typeface="Calibri" charset="0"/>
                        <a:cs typeface="Calibri" charset="0"/>
                      </a:endParaRPr>
                    </a:p>
                  </a:txBody>
                  <a:tcPr marL="45720" marR="45720" marT="45720" marB="45720" anchor="ctr">
                    <a:lnL w="12700" cap="flat" cmpd="sng" algn="ctr">
                      <a:solidFill>
                        <a:srgbClr val="DCE3EB"/>
                      </a:solidFill>
                      <a:prstDash val="solid"/>
                      <a:round/>
                      <a:headEnd type="none" w="med" len="med"/>
                      <a:tailEnd type="none" w="med" len="med"/>
                    </a:lnL>
                    <a:lnR w="12700" cap="flat" cmpd="sng" algn="ctr">
                      <a:solidFill>
                        <a:srgbClr val="DCE3EB"/>
                      </a:solidFill>
                      <a:prstDash val="solid"/>
                      <a:round/>
                      <a:headEnd type="none" w="med" len="med"/>
                      <a:tailEnd type="none" w="med" len="med"/>
                    </a:lnR>
                    <a:lnT w="12700" cap="flat" cmpd="sng" algn="ctr">
                      <a:solidFill>
                        <a:srgbClr val="DCE3EB"/>
                      </a:solidFill>
                      <a:prstDash val="solid"/>
                      <a:round/>
                      <a:headEnd type="none" w="med" len="med"/>
                      <a:tailEnd type="none" w="med" len="med"/>
                    </a:lnT>
                    <a:lnB w="12700" cap="flat" cmpd="sng" algn="ctr">
                      <a:solidFill>
                        <a:srgbClr val="DCE3EB"/>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A2430"/>
                          </a:solidFill>
                          <a:latin typeface="Calibri" pitchFamily="34" charset="0"/>
                          <a:ea typeface="Calibri" pitchFamily="34" charset="-122"/>
                          <a:cs typeface="Calibri" pitchFamily="34" charset="-120"/>
                        </a:rPr>
                        <a:t>4,298</a:t>
                      </a:r>
                      <a:endParaRPr lang="en-US" sz="1400" dirty="0">
                        <a:latin typeface="Calibri" charset="0"/>
                        <a:ea typeface="Calibri" charset="0"/>
                        <a:cs typeface="Calibri" charset="0"/>
                      </a:endParaRPr>
                    </a:p>
                  </a:txBody>
                  <a:tcPr marL="45720" marR="45720" marT="45720" marB="45720" anchor="ctr">
                    <a:lnL w="12700" cap="flat" cmpd="sng" algn="ctr">
                      <a:solidFill>
                        <a:srgbClr val="DCE3EB"/>
                      </a:solidFill>
                      <a:prstDash val="solid"/>
                      <a:round/>
                      <a:headEnd type="none" w="med" len="med"/>
                      <a:tailEnd type="none" w="med" len="med"/>
                    </a:lnL>
                    <a:lnR w="12700" cap="flat" cmpd="sng" algn="ctr">
                      <a:solidFill>
                        <a:srgbClr val="DCE3EB"/>
                      </a:solidFill>
                      <a:prstDash val="solid"/>
                      <a:round/>
                      <a:headEnd type="none" w="med" len="med"/>
                      <a:tailEnd type="none" w="med" len="med"/>
                    </a:lnR>
                    <a:lnT w="12700" cap="flat" cmpd="sng" algn="ctr">
                      <a:solidFill>
                        <a:srgbClr val="DCE3EB"/>
                      </a:solidFill>
                      <a:prstDash val="solid"/>
                      <a:round/>
                      <a:headEnd type="none" w="med" len="med"/>
                      <a:tailEnd type="none" w="med" len="med"/>
                    </a:lnT>
                    <a:lnB w="12700" cap="flat" cmpd="sng" algn="ctr">
                      <a:solidFill>
                        <a:srgbClr val="DCE3EB"/>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A2430"/>
                          </a:solidFill>
                          <a:latin typeface="Calibri" pitchFamily="34" charset="0"/>
                          <a:ea typeface="Calibri" pitchFamily="34" charset="-122"/>
                          <a:cs typeface="Calibri" pitchFamily="34" charset="-120"/>
                        </a:rPr>
                        <a:t>1,22</a:t>
                      </a:r>
                      <a:endParaRPr lang="en-US" sz="1400" dirty="0">
                        <a:latin typeface="Calibri" charset="0"/>
                        <a:ea typeface="Calibri" charset="0"/>
                        <a:cs typeface="Calibri" charset="0"/>
                      </a:endParaRPr>
                    </a:p>
                  </a:txBody>
                  <a:tcPr marL="45720" marR="45720" marT="45720" marB="45720" anchor="ctr">
                    <a:lnL w="12700" cap="flat" cmpd="sng" algn="ctr">
                      <a:solidFill>
                        <a:srgbClr val="DCE3EB"/>
                      </a:solidFill>
                      <a:prstDash val="solid"/>
                      <a:round/>
                      <a:headEnd type="none" w="med" len="med"/>
                      <a:tailEnd type="none" w="med" len="med"/>
                    </a:lnL>
                    <a:lnR w="12700" cap="flat" cmpd="sng" algn="ctr">
                      <a:solidFill>
                        <a:srgbClr val="DCE3EB"/>
                      </a:solidFill>
                      <a:prstDash val="solid"/>
                      <a:round/>
                      <a:headEnd type="none" w="med" len="med"/>
                      <a:tailEnd type="none" w="med" len="med"/>
                    </a:lnR>
                    <a:lnT w="12700" cap="flat" cmpd="sng" algn="ctr">
                      <a:solidFill>
                        <a:srgbClr val="DCE3EB"/>
                      </a:solidFill>
                      <a:prstDash val="solid"/>
                      <a:round/>
                      <a:headEnd type="none" w="med" len="med"/>
                      <a:tailEnd type="none" w="med" len="med"/>
                    </a:lnT>
                    <a:lnB w="12700" cap="flat" cmpd="sng" algn="ctr">
                      <a:solidFill>
                        <a:srgbClr val="DCE3EB"/>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A2430"/>
                          </a:solidFill>
                          <a:latin typeface="Calibri" pitchFamily="34" charset="0"/>
                          <a:ea typeface="Calibri" pitchFamily="34" charset="-122"/>
                          <a:cs typeface="Calibri" pitchFamily="34" charset="-120"/>
                        </a:rPr>
                        <a:t>8,803</a:t>
                      </a:r>
                      <a:endParaRPr lang="en-US" sz="1400" dirty="0">
                        <a:latin typeface="Calibri" charset="0"/>
                        <a:ea typeface="Calibri" charset="0"/>
                        <a:cs typeface="Calibri" charset="0"/>
                      </a:endParaRPr>
                    </a:p>
                  </a:txBody>
                  <a:tcPr marL="45720" marR="45720" marT="45720" marB="45720" anchor="ctr">
                    <a:lnL w="12700" cap="flat" cmpd="sng" algn="ctr">
                      <a:solidFill>
                        <a:srgbClr val="DCE3EB"/>
                      </a:solidFill>
                      <a:prstDash val="solid"/>
                      <a:round/>
                      <a:headEnd type="none" w="med" len="med"/>
                      <a:tailEnd type="none" w="med" len="med"/>
                    </a:lnL>
                    <a:lnR w="12700" cap="flat" cmpd="sng" algn="ctr">
                      <a:solidFill>
                        <a:srgbClr val="DCE3EB"/>
                      </a:solidFill>
                      <a:prstDash val="solid"/>
                      <a:round/>
                      <a:headEnd type="none" w="med" len="med"/>
                      <a:tailEnd type="none" w="med" len="med"/>
                    </a:lnR>
                    <a:lnT w="12700" cap="flat" cmpd="sng" algn="ctr">
                      <a:solidFill>
                        <a:srgbClr val="DCE3EB"/>
                      </a:solidFill>
                      <a:prstDash val="solid"/>
                      <a:round/>
                      <a:headEnd type="none" w="med" len="med"/>
                      <a:tailEnd type="none" w="med" len="med"/>
                    </a:lnT>
                    <a:lnB w="12700" cap="flat" cmpd="sng" algn="ctr">
                      <a:solidFill>
                        <a:srgbClr val="DCE3EB"/>
                      </a:solidFill>
                      <a:prstDash val="solid"/>
                      <a:round/>
                      <a:headEnd type="none" w="med" len="med"/>
                      <a:tailEnd type="none" w="med" len="med"/>
                    </a:lnB>
                    <a:solidFill>
                      <a:srgbClr val="FFFFFF"/>
                    </a:solidFill>
                  </a:tcPr>
                </a:tc>
              </a:tr>
              <a:tr h="457200">
                <a:tc>
                  <a:txBody>
                    <a:bodyPr/>
                    <a:lstStyle/>
                    <a:p>
                      <a:pPr algn="l" indent="0" marL="0">
                        <a:buNone/>
                      </a:pPr>
                      <a:r>
                        <a:rPr lang="en-US" sz="1400" dirty="0">
                          <a:solidFill>
                            <a:srgbClr val="1A2430"/>
                          </a:solidFill>
                          <a:latin typeface="Calibri" pitchFamily="34" charset="0"/>
                          <a:ea typeface="Calibri" pitchFamily="34" charset="-122"/>
                          <a:cs typeface="Calibri" pitchFamily="34" charset="-120"/>
                        </a:rPr>
                        <a:t>valid</a:t>
                      </a:r>
                      <a:endParaRPr lang="en-US" sz="1400" dirty="0">
                        <a:latin typeface="Calibri" charset="0"/>
                        <a:ea typeface="Calibri" charset="0"/>
                        <a:cs typeface="Calibri" charset="0"/>
                      </a:endParaRPr>
                    </a:p>
                  </a:txBody>
                  <a:tcPr marL="45720" marR="45720" marT="45720" marB="45720" anchor="ctr">
                    <a:lnL w="12700" cap="flat" cmpd="sng" algn="ctr">
                      <a:solidFill>
                        <a:srgbClr val="DCE3EB"/>
                      </a:solidFill>
                      <a:prstDash val="solid"/>
                      <a:round/>
                      <a:headEnd type="none" w="med" len="med"/>
                      <a:tailEnd type="none" w="med" len="med"/>
                    </a:lnL>
                    <a:lnR w="12700" cap="flat" cmpd="sng" algn="ctr">
                      <a:solidFill>
                        <a:srgbClr val="DCE3EB"/>
                      </a:solidFill>
                      <a:prstDash val="solid"/>
                      <a:round/>
                      <a:headEnd type="none" w="med" len="med"/>
                      <a:tailEnd type="none" w="med" len="med"/>
                    </a:lnR>
                    <a:lnT w="12700" cap="flat" cmpd="sng" algn="ctr">
                      <a:solidFill>
                        <a:srgbClr val="DCE3EB"/>
                      </a:solidFill>
                      <a:prstDash val="solid"/>
                      <a:round/>
                      <a:headEnd type="none" w="med" len="med"/>
                      <a:tailEnd type="none" w="med" len="med"/>
                    </a:lnT>
                    <a:lnB w="12700" cap="flat" cmpd="sng" algn="ctr">
                      <a:solidFill>
                        <a:srgbClr val="DCE3EB"/>
                      </a:solidFill>
                      <a:prstDash val="solid"/>
                      <a:round/>
                      <a:headEnd type="none" w="med" len="med"/>
                      <a:tailEnd type="none" w="med" len="med"/>
                    </a:lnB>
                    <a:solidFill>
                      <a:srgbClr val="EEF3F7"/>
                    </a:solidFill>
                  </a:tcPr>
                </a:tc>
                <a:tc>
                  <a:txBody>
                    <a:bodyPr/>
                    <a:lstStyle/>
                    <a:p>
                      <a:pPr algn="ctr" indent="0" marL="0">
                        <a:buNone/>
                      </a:pPr>
                      <a:r>
                        <a:rPr lang="en-US" sz="1400" dirty="0">
                          <a:solidFill>
                            <a:srgbClr val="1A2430"/>
                          </a:solidFill>
                          <a:latin typeface="Calibri" pitchFamily="34" charset="0"/>
                          <a:ea typeface="Calibri" pitchFamily="34" charset="-122"/>
                          <a:cs typeface="Calibri" pitchFamily="34" charset="-120"/>
                        </a:rPr>
                        <a:t>801</a:t>
                      </a:r>
                      <a:endParaRPr lang="en-US" sz="1400" dirty="0">
                        <a:latin typeface="Calibri" charset="0"/>
                        <a:ea typeface="Calibri" charset="0"/>
                        <a:cs typeface="Calibri" charset="0"/>
                      </a:endParaRPr>
                    </a:p>
                  </a:txBody>
                  <a:tcPr marL="45720" marR="45720" marT="45720" marB="45720" anchor="ctr">
                    <a:lnL w="12700" cap="flat" cmpd="sng" algn="ctr">
                      <a:solidFill>
                        <a:srgbClr val="DCE3EB"/>
                      </a:solidFill>
                      <a:prstDash val="solid"/>
                      <a:round/>
                      <a:headEnd type="none" w="med" len="med"/>
                      <a:tailEnd type="none" w="med" len="med"/>
                    </a:lnL>
                    <a:lnR w="12700" cap="flat" cmpd="sng" algn="ctr">
                      <a:solidFill>
                        <a:srgbClr val="DCE3EB"/>
                      </a:solidFill>
                      <a:prstDash val="solid"/>
                      <a:round/>
                      <a:headEnd type="none" w="med" len="med"/>
                      <a:tailEnd type="none" w="med" len="med"/>
                    </a:lnR>
                    <a:lnT w="12700" cap="flat" cmpd="sng" algn="ctr">
                      <a:solidFill>
                        <a:srgbClr val="DCE3EB"/>
                      </a:solidFill>
                      <a:prstDash val="solid"/>
                      <a:round/>
                      <a:headEnd type="none" w="med" len="med"/>
                      <a:tailEnd type="none" w="med" len="med"/>
                    </a:lnT>
                    <a:lnB w="12700" cap="flat" cmpd="sng" algn="ctr">
                      <a:solidFill>
                        <a:srgbClr val="DCE3EB"/>
                      </a:solidFill>
                      <a:prstDash val="solid"/>
                      <a:round/>
                      <a:headEnd type="none" w="med" len="med"/>
                      <a:tailEnd type="none" w="med" len="med"/>
                    </a:lnB>
                    <a:solidFill>
                      <a:srgbClr val="EEF3F7"/>
                    </a:solidFill>
                  </a:tcPr>
                </a:tc>
                <a:tc>
                  <a:txBody>
                    <a:bodyPr/>
                    <a:lstStyle/>
                    <a:p>
                      <a:pPr algn="ctr" indent="0" marL="0">
                        <a:buNone/>
                      </a:pPr>
                      <a:r>
                        <a:rPr lang="en-US" sz="1400" dirty="0">
                          <a:solidFill>
                            <a:srgbClr val="1A2430"/>
                          </a:solidFill>
                          <a:latin typeface="Calibri" pitchFamily="34" charset="0"/>
                          <a:ea typeface="Calibri" pitchFamily="34" charset="-122"/>
                          <a:cs typeface="Calibri" pitchFamily="34" charset="-120"/>
                        </a:rPr>
                        <a:t>944</a:t>
                      </a:r>
                      <a:endParaRPr lang="en-US" sz="1400" dirty="0">
                        <a:latin typeface="Calibri" charset="0"/>
                        <a:ea typeface="Calibri" charset="0"/>
                        <a:cs typeface="Calibri" charset="0"/>
                      </a:endParaRPr>
                    </a:p>
                  </a:txBody>
                  <a:tcPr marL="45720" marR="45720" marT="45720" marB="45720" anchor="ctr">
                    <a:lnL w="12700" cap="flat" cmpd="sng" algn="ctr">
                      <a:solidFill>
                        <a:srgbClr val="DCE3EB"/>
                      </a:solidFill>
                      <a:prstDash val="solid"/>
                      <a:round/>
                      <a:headEnd type="none" w="med" len="med"/>
                      <a:tailEnd type="none" w="med" len="med"/>
                    </a:lnL>
                    <a:lnR w="12700" cap="flat" cmpd="sng" algn="ctr">
                      <a:solidFill>
                        <a:srgbClr val="DCE3EB"/>
                      </a:solidFill>
                      <a:prstDash val="solid"/>
                      <a:round/>
                      <a:headEnd type="none" w="med" len="med"/>
                      <a:tailEnd type="none" w="med" len="med"/>
                    </a:lnR>
                    <a:lnT w="12700" cap="flat" cmpd="sng" algn="ctr">
                      <a:solidFill>
                        <a:srgbClr val="DCE3EB"/>
                      </a:solidFill>
                      <a:prstDash val="solid"/>
                      <a:round/>
                      <a:headEnd type="none" w="med" len="med"/>
                      <a:tailEnd type="none" w="med" len="med"/>
                    </a:lnT>
                    <a:lnB w="12700" cap="flat" cmpd="sng" algn="ctr">
                      <a:solidFill>
                        <a:srgbClr val="DCE3EB"/>
                      </a:solidFill>
                      <a:prstDash val="solid"/>
                      <a:round/>
                      <a:headEnd type="none" w="med" len="med"/>
                      <a:tailEnd type="none" w="med" len="med"/>
                    </a:lnB>
                    <a:solidFill>
                      <a:srgbClr val="EEF3F7"/>
                    </a:solidFill>
                  </a:tcPr>
                </a:tc>
                <a:tc>
                  <a:txBody>
                    <a:bodyPr/>
                    <a:lstStyle/>
                    <a:p>
                      <a:pPr algn="ctr" indent="0" marL="0">
                        <a:buNone/>
                      </a:pPr>
                      <a:r>
                        <a:rPr lang="en-US" sz="1400" dirty="0">
                          <a:solidFill>
                            <a:srgbClr val="1A2430"/>
                          </a:solidFill>
                          <a:latin typeface="Calibri" pitchFamily="34" charset="0"/>
                          <a:ea typeface="Calibri" pitchFamily="34" charset="-122"/>
                          <a:cs typeface="Calibri" pitchFamily="34" charset="-120"/>
                        </a:rPr>
                        <a:t>1,18</a:t>
                      </a:r>
                      <a:endParaRPr lang="en-US" sz="1400" dirty="0">
                        <a:latin typeface="Calibri" charset="0"/>
                        <a:ea typeface="Calibri" charset="0"/>
                        <a:cs typeface="Calibri" charset="0"/>
                      </a:endParaRPr>
                    </a:p>
                  </a:txBody>
                  <a:tcPr marL="45720" marR="45720" marT="45720" marB="45720" anchor="ctr">
                    <a:lnL w="12700" cap="flat" cmpd="sng" algn="ctr">
                      <a:solidFill>
                        <a:srgbClr val="DCE3EB"/>
                      </a:solidFill>
                      <a:prstDash val="solid"/>
                      <a:round/>
                      <a:headEnd type="none" w="med" len="med"/>
                      <a:tailEnd type="none" w="med" len="med"/>
                    </a:lnL>
                    <a:lnR w="12700" cap="flat" cmpd="sng" algn="ctr">
                      <a:solidFill>
                        <a:srgbClr val="DCE3EB"/>
                      </a:solidFill>
                      <a:prstDash val="solid"/>
                      <a:round/>
                      <a:headEnd type="none" w="med" len="med"/>
                      <a:tailEnd type="none" w="med" len="med"/>
                    </a:lnR>
                    <a:lnT w="12700" cap="flat" cmpd="sng" algn="ctr">
                      <a:solidFill>
                        <a:srgbClr val="DCE3EB"/>
                      </a:solidFill>
                      <a:prstDash val="solid"/>
                      <a:round/>
                      <a:headEnd type="none" w="med" len="med"/>
                      <a:tailEnd type="none" w="med" len="med"/>
                    </a:lnT>
                    <a:lnB w="12700" cap="flat" cmpd="sng" algn="ctr">
                      <a:solidFill>
                        <a:srgbClr val="DCE3EB"/>
                      </a:solidFill>
                      <a:prstDash val="solid"/>
                      <a:round/>
                      <a:headEnd type="none" w="med" len="med"/>
                      <a:tailEnd type="none" w="med" len="med"/>
                    </a:lnB>
                    <a:solidFill>
                      <a:srgbClr val="EEF3F7"/>
                    </a:solidFill>
                  </a:tcPr>
                </a:tc>
                <a:tc>
                  <a:txBody>
                    <a:bodyPr/>
                    <a:lstStyle/>
                    <a:p>
                      <a:pPr algn="ctr" indent="0" marL="0">
                        <a:buNone/>
                      </a:pPr>
                      <a:r>
                        <a:rPr lang="en-US" sz="1400" dirty="0">
                          <a:solidFill>
                            <a:srgbClr val="1A2430"/>
                          </a:solidFill>
                          <a:latin typeface="Calibri" pitchFamily="34" charset="0"/>
                          <a:ea typeface="Calibri" pitchFamily="34" charset="-122"/>
                          <a:cs typeface="Calibri" pitchFamily="34" charset="-120"/>
                        </a:rPr>
                        <a:t>22,928</a:t>
                      </a:r>
                      <a:endParaRPr lang="en-US" sz="1400" dirty="0">
                        <a:latin typeface="Calibri" charset="0"/>
                        <a:ea typeface="Calibri" charset="0"/>
                        <a:cs typeface="Calibri" charset="0"/>
                      </a:endParaRPr>
                    </a:p>
                  </a:txBody>
                  <a:tcPr marL="45720" marR="45720" marT="45720" marB="45720" anchor="ctr">
                    <a:lnL w="12700" cap="flat" cmpd="sng" algn="ctr">
                      <a:solidFill>
                        <a:srgbClr val="DCE3EB"/>
                      </a:solidFill>
                      <a:prstDash val="solid"/>
                      <a:round/>
                      <a:headEnd type="none" w="med" len="med"/>
                      <a:tailEnd type="none" w="med" len="med"/>
                    </a:lnL>
                    <a:lnR w="12700" cap="flat" cmpd="sng" algn="ctr">
                      <a:solidFill>
                        <a:srgbClr val="DCE3EB"/>
                      </a:solidFill>
                      <a:prstDash val="solid"/>
                      <a:round/>
                      <a:headEnd type="none" w="med" len="med"/>
                      <a:tailEnd type="none" w="med" len="med"/>
                    </a:lnR>
                    <a:lnT w="12700" cap="flat" cmpd="sng" algn="ctr">
                      <a:solidFill>
                        <a:srgbClr val="DCE3EB"/>
                      </a:solidFill>
                      <a:prstDash val="solid"/>
                      <a:round/>
                      <a:headEnd type="none" w="med" len="med"/>
                      <a:tailEnd type="none" w="med" len="med"/>
                    </a:lnT>
                    <a:lnB w="12700" cap="flat" cmpd="sng" algn="ctr">
                      <a:solidFill>
                        <a:srgbClr val="DCE3EB"/>
                      </a:solidFill>
                      <a:prstDash val="solid"/>
                      <a:round/>
                      <a:headEnd type="none" w="med" len="med"/>
                      <a:tailEnd type="none" w="med" len="med"/>
                    </a:lnB>
                    <a:solidFill>
                      <a:srgbClr val="EEF3F7"/>
                    </a:solidFill>
                  </a:tcPr>
                </a:tc>
              </a:tr>
              <a:tr h="457200">
                <a:tc>
                  <a:txBody>
                    <a:bodyPr/>
                    <a:lstStyle/>
                    <a:p>
                      <a:pPr algn="l" indent="0" marL="0">
                        <a:buNone/>
                      </a:pPr>
                      <a:r>
                        <a:rPr lang="en-US" sz="1400" dirty="0">
                          <a:solidFill>
                            <a:srgbClr val="1A2430"/>
                          </a:solidFill>
                          <a:latin typeface="Calibri" pitchFamily="34" charset="0"/>
                          <a:ea typeface="Calibri" pitchFamily="34" charset="-122"/>
                          <a:cs typeface="Calibri" pitchFamily="34" charset="-120"/>
                        </a:rPr>
                        <a:t>test</a:t>
                      </a:r>
                      <a:endParaRPr lang="en-US" sz="1400" dirty="0">
                        <a:latin typeface="Calibri" charset="0"/>
                        <a:ea typeface="Calibri" charset="0"/>
                        <a:cs typeface="Calibri" charset="0"/>
                      </a:endParaRPr>
                    </a:p>
                  </a:txBody>
                  <a:tcPr marL="45720" marR="45720" marT="45720" marB="45720" anchor="ctr">
                    <a:lnL w="12700" cap="flat" cmpd="sng" algn="ctr">
                      <a:solidFill>
                        <a:srgbClr val="DCE3EB"/>
                      </a:solidFill>
                      <a:prstDash val="solid"/>
                      <a:round/>
                      <a:headEnd type="none" w="med" len="med"/>
                      <a:tailEnd type="none" w="med" len="med"/>
                    </a:lnL>
                    <a:lnR w="12700" cap="flat" cmpd="sng" algn="ctr">
                      <a:solidFill>
                        <a:srgbClr val="DCE3EB"/>
                      </a:solidFill>
                      <a:prstDash val="solid"/>
                      <a:round/>
                      <a:headEnd type="none" w="med" len="med"/>
                      <a:tailEnd type="none" w="med" len="med"/>
                    </a:lnR>
                    <a:lnT w="12700" cap="flat" cmpd="sng" algn="ctr">
                      <a:solidFill>
                        <a:srgbClr val="DCE3EB"/>
                      </a:solidFill>
                      <a:prstDash val="solid"/>
                      <a:round/>
                      <a:headEnd type="none" w="med" len="med"/>
                      <a:tailEnd type="none" w="med" len="med"/>
                    </a:lnT>
                    <a:lnB w="12700" cap="flat" cmpd="sng" algn="ctr">
                      <a:solidFill>
                        <a:srgbClr val="DCE3EB"/>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A2430"/>
                          </a:solidFill>
                          <a:latin typeface="Calibri" pitchFamily="34" charset="0"/>
                          <a:ea typeface="Calibri" pitchFamily="34" charset="-122"/>
                          <a:cs typeface="Calibri" pitchFamily="34" charset="-120"/>
                        </a:rPr>
                        <a:t>638</a:t>
                      </a:r>
                      <a:endParaRPr lang="en-US" sz="1400" dirty="0">
                        <a:latin typeface="Calibri" charset="0"/>
                        <a:ea typeface="Calibri" charset="0"/>
                        <a:cs typeface="Calibri" charset="0"/>
                      </a:endParaRPr>
                    </a:p>
                  </a:txBody>
                  <a:tcPr marL="45720" marR="45720" marT="45720" marB="45720" anchor="ctr">
                    <a:lnL w="12700" cap="flat" cmpd="sng" algn="ctr">
                      <a:solidFill>
                        <a:srgbClr val="DCE3EB"/>
                      </a:solidFill>
                      <a:prstDash val="solid"/>
                      <a:round/>
                      <a:headEnd type="none" w="med" len="med"/>
                      <a:tailEnd type="none" w="med" len="med"/>
                    </a:lnL>
                    <a:lnR w="12700" cap="flat" cmpd="sng" algn="ctr">
                      <a:solidFill>
                        <a:srgbClr val="DCE3EB"/>
                      </a:solidFill>
                      <a:prstDash val="solid"/>
                      <a:round/>
                      <a:headEnd type="none" w="med" len="med"/>
                      <a:tailEnd type="none" w="med" len="med"/>
                    </a:lnR>
                    <a:lnT w="12700" cap="flat" cmpd="sng" algn="ctr">
                      <a:solidFill>
                        <a:srgbClr val="DCE3EB"/>
                      </a:solidFill>
                      <a:prstDash val="solid"/>
                      <a:round/>
                      <a:headEnd type="none" w="med" len="med"/>
                      <a:tailEnd type="none" w="med" len="med"/>
                    </a:lnT>
                    <a:lnB w="12700" cap="flat" cmpd="sng" algn="ctr">
                      <a:solidFill>
                        <a:srgbClr val="DCE3EB"/>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A2430"/>
                          </a:solidFill>
                          <a:latin typeface="Calibri" pitchFamily="34" charset="0"/>
                          <a:ea typeface="Calibri" pitchFamily="34" charset="-122"/>
                          <a:cs typeface="Calibri" pitchFamily="34" charset="-120"/>
                        </a:rPr>
                        <a:t>770</a:t>
                      </a:r>
                      <a:endParaRPr lang="en-US" sz="1400" dirty="0">
                        <a:latin typeface="Calibri" charset="0"/>
                        <a:ea typeface="Calibri" charset="0"/>
                        <a:cs typeface="Calibri" charset="0"/>
                      </a:endParaRPr>
                    </a:p>
                  </a:txBody>
                  <a:tcPr marL="45720" marR="45720" marT="45720" marB="45720" anchor="ctr">
                    <a:lnL w="12700" cap="flat" cmpd="sng" algn="ctr">
                      <a:solidFill>
                        <a:srgbClr val="DCE3EB"/>
                      </a:solidFill>
                      <a:prstDash val="solid"/>
                      <a:round/>
                      <a:headEnd type="none" w="med" len="med"/>
                      <a:tailEnd type="none" w="med" len="med"/>
                    </a:lnL>
                    <a:lnR w="12700" cap="flat" cmpd="sng" algn="ctr">
                      <a:solidFill>
                        <a:srgbClr val="DCE3EB"/>
                      </a:solidFill>
                      <a:prstDash val="solid"/>
                      <a:round/>
                      <a:headEnd type="none" w="med" len="med"/>
                      <a:tailEnd type="none" w="med" len="med"/>
                    </a:lnR>
                    <a:lnT w="12700" cap="flat" cmpd="sng" algn="ctr">
                      <a:solidFill>
                        <a:srgbClr val="DCE3EB"/>
                      </a:solidFill>
                      <a:prstDash val="solid"/>
                      <a:round/>
                      <a:headEnd type="none" w="med" len="med"/>
                      <a:tailEnd type="none" w="med" len="med"/>
                    </a:lnT>
                    <a:lnB w="12700" cap="flat" cmpd="sng" algn="ctr">
                      <a:solidFill>
                        <a:srgbClr val="DCE3EB"/>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A2430"/>
                          </a:solidFill>
                          <a:latin typeface="Calibri" pitchFamily="34" charset="0"/>
                          <a:ea typeface="Calibri" pitchFamily="34" charset="-122"/>
                          <a:cs typeface="Calibri" pitchFamily="34" charset="-120"/>
                        </a:rPr>
                        <a:t>1,21</a:t>
                      </a:r>
                      <a:endParaRPr lang="en-US" sz="1400" dirty="0">
                        <a:latin typeface="Calibri" charset="0"/>
                        <a:ea typeface="Calibri" charset="0"/>
                        <a:cs typeface="Calibri" charset="0"/>
                      </a:endParaRPr>
                    </a:p>
                  </a:txBody>
                  <a:tcPr marL="45720" marR="45720" marT="45720" marB="45720" anchor="ctr">
                    <a:lnL w="12700" cap="flat" cmpd="sng" algn="ctr">
                      <a:solidFill>
                        <a:srgbClr val="DCE3EB"/>
                      </a:solidFill>
                      <a:prstDash val="solid"/>
                      <a:round/>
                      <a:headEnd type="none" w="med" len="med"/>
                      <a:tailEnd type="none" w="med" len="med"/>
                    </a:lnL>
                    <a:lnR w="12700" cap="flat" cmpd="sng" algn="ctr">
                      <a:solidFill>
                        <a:srgbClr val="DCE3EB"/>
                      </a:solidFill>
                      <a:prstDash val="solid"/>
                      <a:round/>
                      <a:headEnd type="none" w="med" len="med"/>
                      <a:tailEnd type="none" w="med" len="med"/>
                    </a:lnR>
                    <a:lnT w="12700" cap="flat" cmpd="sng" algn="ctr">
                      <a:solidFill>
                        <a:srgbClr val="DCE3EB"/>
                      </a:solidFill>
                      <a:prstDash val="solid"/>
                      <a:round/>
                      <a:headEnd type="none" w="med" len="med"/>
                      <a:tailEnd type="none" w="med" len="med"/>
                    </a:lnT>
                    <a:lnB w="12700" cap="flat" cmpd="sng" algn="ctr">
                      <a:solidFill>
                        <a:srgbClr val="DCE3EB"/>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A2430"/>
                          </a:solidFill>
                          <a:latin typeface="Calibri" pitchFamily="34" charset="0"/>
                          <a:ea typeface="Calibri" pitchFamily="34" charset="-122"/>
                          <a:cs typeface="Calibri" pitchFamily="34" charset="-120"/>
                        </a:rPr>
                        <a:t>8,532</a:t>
                      </a:r>
                      <a:endParaRPr lang="en-US" sz="1400" dirty="0">
                        <a:latin typeface="Calibri" charset="0"/>
                        <a:ea typeface="Calibri" charset="0"/>
                        <a:cs typeface="Calibri" charset="0"/>
                      </a:endParaRPr>
                    </a:p>
                  </a:txBody>
                  <a:tcPr marL="45720" marR="45720" marT="45720" marB="45720" anchor="ctr">
                    <a:lnL w="12700" cap="flat" cmpd="sng" algn="ctr">
                      <a:solidFill>
                        <a:srgbClr val="DCE3EB"/>
                      </a:solidFill>
                      <a:prstDash val="solid"/>
                      <a:round/>
                      <a:headEnd type="none" w="med" len="med"/>
                      <a:tailEnd type="none" w="med" len="med"/>
                    </a:lnL>
                    <a:lnR w="12700" cap="flat" cmpd="sng" algn="ctr">
                      <a:solidFill>
                        <a:srgbClr val="DCE3EB"/>
                      </a:solidFill>
                      <a:prstDash val="solid"/>
                      <a:round/>
                      <a:headEnd type="none" w="med" len="med"/>
                      <a:tailEnd type="none" w="med" len="med"/>
                    </a:lnR>
                    <a:lnT w="12700" cap="flat" cmpd="sng" algn="ctr">
                      <a:solidFill>
                        <a:srgbClr val="DCE3EB"/>
                      </a:solidFill>
                      <a:prstDash val="solid"/>
                      <a:round/>
                      <a:headEnd type="none" w="med" len="med"/>
                      <a:tailEnd type="none" w="med" len="med"/>
                    </a:lnT>
                    <a:lnB w="12700" cap="flat" cmpd="sng" algn="ctr">
                      <a:solidFill>
                        <a:srgbClr val="DCE3EB"/>
                      </a:solidFill>
                      <a:prstDash val="solid"/>
                      <a:round/>
                      <a:headEnd type="none" w="med" len="med"/>
                      <a:tailEnd type="none" w="med" len="med"/>
                    </a:lnB>
                    <a:solidFill>
                      <a:srgbClr val="FFFFFF"/>
                    </a:solidFill>
                  </a:tcPr>
                </a:tc>
              </a:tr>
            </a:tbl>
          </a:graphicData>
        </a:graphic>
      </p:graphicFrame>
      <p:sp>
        <p:nvSpPr>
          <p:cNvPr id="11" name="Shape 7"/>
          <p:cNvSpPr/>
          <p:nvPr/>
        </p:nvSpPr>
        <p:spPr>
          <a:xfrm>
            <a:off x="548640" y="3767328"/>
            <a:ext cx="11064240" cy="896112"/>
          </a:xfrm>
          <a:prstGeom prst="roundRect">
            <a:avLst>
              <a:gd name="adj" fmla="val 10204"/>
            </a:avLst>
          </a:prstGeom>
          <a:solidFill>
            <a:srgbClr val="152238"/>
          </a:solidFill>
          <a:ln w="12700">
            <a:solidFill>
              <a:srgbClr val="333333"/>
            </a:solidFill>
            <a:prstDash val="solid"/>
          </a:ln>
          <a:effectLst>
            <a:outerShdw sx="100000" sy="100000" kx="0" ky="0" algn="bl" rotWithShape="0" blurRad="101600" dist="25400" dir="5400000">
              <a:srgbClr val="6E7C8A">
                <a:alpha val="30000"/>
              </a:srgbClr>
            </a:outerShdw>
          </a:effectLst>
        </p:spPr>
      </p:sp>
      <p:sp>
        <p:nvSpPr>
          <p:cNvPr id="12" name="Shape 8"/>
          <p:cNvSpPr/>
          <p:nvPr/>
        </p:nvSpPr>
        <p:spPr>
          <a:xfrm>
            <a:off x="804672" y="4133088"/>
            <a:ext cx="164592" cy="164592"/>
          </a:xfrm>
          <a:prstGeom prst="ellipse">
            <a:avLst/>
          </a:prstGeom>
          <a:solidFill>
            <a:srgbClr val="F4A261"/>
          </a:solidFill>
          <a:ln w="12700">
            <a:solidFill>
              <a:srgbClr val="333333"/>
            </a:solidFill>
            <a:prstDash val="solid"/>
          </a:ln>
        </p:spPr>
      </p:sp>
      <p:sp>
        <p:nvSpPr>
          <p:cNvPr id="13" name="Text 9"/>
          <p:cNvSpPr/>
          <p:nvPr/>
        </p:nvSpPr>
        <p:spPr>
          <a:xfrm>
            <a:off x="1133856" y="3840480"/>
            <a:ext cx="10222992" cy="749808"/>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Độ dịch phân phối lớp giữa các split rất nhỏ (Jensen–Shannon ≤ 0,008 bit) → chênh lệch hiệu năng KHÔNG đến từ việc các tập có phân phối khác nhau.</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10789920" y="-1234440"/>
            <a:ext cx="2743200" cy="2743200"/>
          </a:xfrm>
          <a:prstGeom prst="ellipse">
            <a:avLst/>
          </a:prstGeom>
          <a:solidFill>
            <a:srgbClr val="EAF1F6"/>
          </a:solidFill>
          <a:ln w="12700">
            <a:solidFill>
              <a:srgbClr val="333333"/>
            </a:solidFill>
            <a:prstDash val="solid"/>
          </a:ln>
        </p:spPr>
      </p:sp>
      <p:sp>
        <p:nvSpPr>
          <p:cNvPr id="4" name="Shape 1"/>
          <p:cNvSpPr/>
          <p:nvPr/>
        </p:nvSpPr>
        <p:spPr>
          <a:xfrm>
            <a:off x="11475720" y="182880"/>
            <a:ext cx="822960" cy="822960"/>
          </a:xfrm>
          <a:prstGeom prst="ellipse">
            <a:avLst/>
          </a:prstGeom>
          <a:solidFill>
            <a:srgbClr val="DCE8F0"/>
          </a:solidFill>
          <a:ln w="12700">
            <a:solidFill>
              <a:srgbClr val="333333"/>
            </a:solidFill>
            <a:prstDash val="solid"/>
          </a:ln>
        </p:spPr>
      </p:sp>
      <p:sp>
        <p:nvSpPr>
          <p:cNvPr id="5" name="Shape 2"/>
          <p:cNvSpPr/>
          <p:nvPr/>
        </p:nvSpPr>
        <p:spPr>
          <a:xfrm>
            <a:off x="548640" y="6382512"/>
            <a:ext cx="11064240" cy="0"/>
          </a:xfrm>
          <a:prstGeom prst="line">
            <a:avLst/>
          </a:prstGeom>
          <a:noFill/>
          <a:ln w="12700">
            <a:solidFill>
              <a:srgbClr val="DDE3EA"/>
            </a:solidFill>
            <a:prstDash val="solid"/>
          </a:ln>
        </p:spPr>
      </p:sp>
      <p:sp>
        <p:nvSpPr>
          <p:cNvPr id="6" name="Text 3"/>
          <p:cNvSpPr/>
          <p:nvPr/>
        </p:nvSpPr>
        <p:spPr>
          <a:xfrm>
            <a:off x="548640" y="6419088"/>
            <a:ext cx="8686800" cy="274320"/>
          </a:xfrm>
          <a:prstGeom prst="rect">
            <a:avLst/>
          </a:prstGeom>
          <a:noFill/>
          <a:ln/>
        </p:spPr>
        <p:txBody>
          <a:bodyPr wrap="square" lIns="0" tIns="0" rIns="0" bIns="0" rtlCol="0" anchor="ctr"/>
          <a:lstStyle/>
          <a:p>
            <a:pPr indent="0" marL="0">
              <a:buNone/>
            </a:pPr>
            <a:r>
              <a:rPr lang="en-US" sz="900" dirty="0">
                <a:solidFill>
                  <a:srgbClr val="9AA7B4"/>
                </a:solidFill>
                <a:latin typeface="Calibri" pitchFamily="34" charset="0"/>
                <a:ea typeface="Calibri" pitchFamily="34" charset="-122"/>
                <a:cs typeface="Calibri" pitchFamily="34" charset="-120"/>
              </a:rPr>
              <a:t>Kiểm định độ tin cậy YOLOv8 · Nhóm KHMT836016/34/36</a:t>
            </a:r>
            <a:endParaRPr lang="en-US" sz="900" dirty="0"/>
          </a:p>
        </p:txBody>
      </p:sp>
      <p:sp>
        <p:nvSpPr>
          <p:cNvPr id="7" name="Text 4"/>
          <p:cNvSpPr/>
          <p:nvPr/>
        </p:nvSpPr>
        <p:spPr>
          <a:xfrm>
            <a:off x="11064240" y="6419088"/>
            <a:ext cx="548640" cy="274320"/>
          </a:xfrm>
          <a:prstGeom prst="rect">
            <a:avLst/>
          </a:prstGeom>
          <a:noFill/>
          <a:ln/>
        </p:spPr>
        <p:txBody>
          <a:bodyPr wrap="square" lIns="0" tIns="0" rIns="0" bIns="0" rtlCol="0" anchor="ctr"/>
          <a:lstStyle/>
          <a:p>
            <a:pPr algn="r" indent="0" marL="0">
              <a:buNone/>
            </a:pPr>
            <a:r>
              <a:rPr lang="en-US" sz="1000" b="1" dirty="0">
                <a:solidFill>
                  <a:srgbClr val="1C7293"/>
                </a:solidFill>
                <a:latin typeface="Calibri" pitchFamily="34" charset="0"/>
                <a:ea typeface="Calibri" pitchFamily="34" charset="-122"/>
                <a:cs typeface="Calibri" pitchFamily="34" charset="-120"/>
              </a:rPr>
              <a:t>14</a:t>
            </a:r>
            <a:endParaRPr lang="en-US" sz="1000" dirty="0"/>
          </a:p>
        </p:txBody>
      </p:sp>
      <p:sp>
        <p:nvSpPr>
          <p:cNvPr id="8" name="Shape 5"/>
          <p:cNvSpPr/>
          <p:nvPr/>
        </p:nvSpPr>
        <p:spPr>
          <a:xfrm>
            <a:off x="548640" y="457200"/>
            <a:ext cx="155448" cy="457200"/>
          </a:xfrm>
          <a:prstGeom prst="roundRect">
            <a:avLst>
              <a:gd name="adj" fmla="val 17647"/>
            </a:avLst>
          </a:prstGeom>
          <a:solidFill>
            <a:srgbClr val="1C7293"/>
          </a:solidFill>
          <a:ln w="12700">
            <a:solidFill>
              <a:srgbClr val="333333"/>
            </a:solidFill>
            <a:prstDash val="solid"/>
          </a:ln>
        </p:spPr>
      </p:sp>
      <p:sp>
        <p:nvSpPr>
          <p:cNvPr id="9" name="Text 6"/>
          <p:cNvSpPr/>
          <p:nvPr/>
        </p:nvSpPr>
        <p:spPr>
          <a:xfrm>
            <a:off x="877824" y="365760"/>
            <a:ext cx="10735056" cy="713232"/>
          </a:xfrm>
          <a:prstGeom prst="rect">
            <a:avLst/>
          </a:prstGeom>
          <a:noFill/>
          <a:ln/>
        </p:spPr>
        <p:txBody>
          <a:bodyPr wrap="square" lIns="0" tIns="0" rIns="0" bIns="0" rtlCol="0" anchor="ctr"/>
          <a:lstStyle/>
          <a:p>
            <a:pPr indent="0" marL="0">
              <a:buNone/>
            </a:pPr>
            <a:r>
              <a:rPr lang="en-US" sz="2900" b="1" dirty="0">
                <a:solidFill>
                  <a:srgbClr val="1A2430"/>
                </a:solidFill>
                <a:latin typeface="Cambria" pitchFamily="34" charset="0"/>
                <a:ea typeface="Cambria" pitchFamily="34" charset="-122"/>
                <a:cs typeface="Cambria" pitchFamily="34" charset="-120"/>
              </a:rPr>
              <a:t>Mất cân bằng lớp — mức trung bình</a:t>
            </a:r>
            <a:endParaRPr lang="en-US" sz="2900" dirty="0"/>
          </a:p>
        </p:txBody>
      </p:sp>
      <p:pic>
        <p:nvPicPr>
          <p:cNvPr id="10" name="Image 0" descr="/sessions/magical-intelligent-fermat/mnt/master/traffic-yolo-analysis/results/figs/05_imbalance.png">    </p:cNvPr>
          <p:cNvPicPr>
            <a:picLocks noChangeAspect="1"/>
          </p:cNvPicPr>
          <p:nvPr/>
        </p:nvPicPr>
        <p:blipFill>
          <a:blip r:embed="rId1"/>
          <a:stretch>
            <a:fillRect/>
          </a:stretch>
        </p:blipFill>
        <p:spPr>
          <a:xfrm>
            <a:off x="548640" y="1572768"/>
            <a:ext cx="5486400" cy="3108960"/>
          </a:xfrm>
          <a:prstGeom prst="rect">
            <a:avLst/>
          </a:prstGeom>
        </p:spPr>
      </p:pic>
      <p:sp>
        <p:nvSpPr>
          <p:cNvPr id="11" name="Shape 7"/>
          <p:cNvSpPr/>
          <p:nvPr/>
        </p:nvSpPr>
        <p:spPr>
          <a:xfrm>
            <a:off x="6400800" y="1664208"/>
            <a:ext cx="5120640" cy="868680"/>
          </a:xfrm>
          <a:prstGeom prst="roundRect">
            <a:avLst>
              <a:gd name="adj" fmla="val 10526"/>
            </a:avLst>
          </a:prstGeom>
          <a:solidFill>
            <a:srgbClr val="F4F7FA"/>
          </a:solidFill>
          <a:ln w="12700">
            <a:solidFill>
              <a:srgbClr val="E6ECF2"/>
            </a:solidFill>
            <a:prstDash val="solid"/>
          </a:ln>
          <a:effectLst>
            <a:outerShdw sx="100000" sy="100000" kx="0" ky="0" algn="bl" rotWithShape="0" blurRad="114300" dist="25400" dir="5400000">
              <a:srgbClr val="9FB0C0">
                <a:alpha val="22000"/>
              </a:srgbClr>
            </a:outerShdw>
          </a:effectLst>
        </p:spPr>
      </p:sp>
      <p:sp>
        <p:nvSpPr>
          <p:cNvPr id="12" name="Text 8"/>
          <p:cNvSpPr/>
          <p:nvPr/>
        </p:nvSpPr>
        <p:spPr>
          <a:xfrm>
            <a:off x="6492240" y="1664208"/>
            <a:ext cx="1737360" cy="868680"/>
          </a:xfrm>
          <a:prstGeom prst="rect">
            <a:avLst/>
          </a:prstGeom>
          <a:noFill/>
          <a:ln/>
        </p:spPr>
        <p:txBody>
          <a:bodyPr wrap="square" lIns="0" tIns="0" rIns="0" bIns="0" rtlCol="0" anchor="ctr"/>
          <a:lstStyle/>
          <a:p>
            <a:pPr algn="ctr" indent="0" marL="0">
              <a:buNone/>
            </a:pPr>
            <a:r>
              <a:rPr lang="en-US" sz="2600" b="1" dirty="0">
                <a:solidFill>
                  <a:srgbClr val="1C7293"/>
                </a:solidFill>
                <a:latin typeface="Cambria" pitchFamily="34" charset="0"/>
                <a:ea typeface="Cambria" pitchFamily="34" charset="-122"/>
                <a:cs typeface="Cambria" pitchFamily="34" charset="-120"/>
              </a:rPr>
              <a:t>35,8</a:t>
            </a:r>
            <a:endParaRPr lang="en-US" sz="2600" dirty="0"/>
          </a:p>
        </p:txBody>
      </p:sp>
      <p:sp>
        <p:nvSpPr>
          <p:cNvPr id="13" name="Text 9"/>
          <p:cNvSpPr/>
          <p:nvPr/>
        </p:nvSpPr>
        <p:spPr>
          <a:xfrm>
            <a:off x="8229600" y="1664208"/>
            <a:ext cx="3200400" cy="868680"/>
          </a:xfrm>
          <a:prstGeom prst="rect">
            <a:avLst/>
          </a:prstGeom>
          <a:noFill/>
          <a:ln/>
        </p:spPr>
        <p:txBody>
          <a:bodyPr wrap="square" lIns="0" tIns="0" rIns="0" bIns="0" rtlCol="0" anchor="ctr"/>
          <a:lstStyle/>
          <a:p>
            <a:pPr indent="0" marL="0">
              <a:buNone/>
            </a:pPr>
            <a:r>
              <a:rPr lang="en-US" sz="1400" dirty="0">
                <a:solidFill>
                  <a:srgbClr val="1A2430"/>
                </a:solidFill>
                <a:latin typeface="Calibri" pitchFamily="34" charset="0"/>
                <a:ea typeface="Calibri" pitchFamily="34" charset="-122"/>
                <a:cs typeface="Calibri" pitchFamily="34" charset="-120"/>
              </a:rPr>
              <a:t>Imbalance ratio</a:t>
            </a:r>
            <a:endParaRPr lang="en-US" sz="1400" dirty="0"/>
          </a:p>
        </p:txBody>
      </p:sp>
      <p:sp>
        <p:nvSpPr>
          <p:cNvPr id="14" name="Shape 10"/>
          <p:cNvSpPr/>
          <p:nvPr/>
        </p:nvSpPr>
        <p:spPr>
          <a:xfrm>
            <a:off x="6400800" y="2670048"/>
            <a:ext cx="5120640" cy="868680"/>
          </a:xfrm>
          <a:prstGeom prst="roundRect">
            <a:avLst>
              <a:gd name="adj" fmla="val 10526"/>
            </a:avLst>
          </a:prstGeom>
          <a:solidFill>
            <a:srgbClr val="F4F7FA"/>
          </a:solidFill>
          <a:ln w="12700">
            <a:solidFill>
              <a:srgbClr val="E6ECF2"/>
            </a:solidFill>
            <a:prstDash val="solid"/>
          </a:ln>
          <a:effectLst>
            <a:outerShdw sx="100000" sy="100000" kx="0" ky="0" algn="bl" rotWithShape="0" blurRad="114300" dist="25400" dir="5400000">
              <a:srgbClr val="9FB0C0">
                <a:alpha val="22000"/>
              </a:srgbClr>
            </a:outerShdw>
          </a:effectLst>
        </p:spPr>
      </p:sp>
      <p:sp>
        <p:nvSpPr>
          <p:cNvPr id="15" name="Text 11"/>
          <p:cNvSpPr/>
          <p:nvPr/>
        </p:nvSpPr>
        <p:spPr>
          <a:xfrm>
            <a:off x="6492240" y="2670048"/>
            <a:ext cx="1737360" cy="868680"/>
          </a:xfrm>
          <a:prstGeom prst="rect">
            <a:avLst/>
          </a:prstGeom>
          <a:noFill/>
          <a:ln/>
        </p:spPr>
        <p:txBody>
          <a:bodyPr wrap="square" lIns="0" tIns="0" rIns="0" bIns="0" rtlCol="0" anchor="ctr"/>
          <a:lstStyle/>
          <a:p>
            <a:pPr algn="ctr" indent="0" marL="0">
              <a:buNone/>
            </a:pPr>
            <a:r>
              <a:rPr lang="en-US" sz="2600" b="1" dirty="0">
                <a:solidFill>
                  <a:srgbClr val="1C7293"/>
                </a:solidFill>
                <a:latin typeface="Cambria" pitchFamily="34" charset="0"/>
                <a:ea typeface="Cambria" pitchFamily="34" charset="-122"/>
                <a:cs typeface="Cambria" pitchFamily="34" charset="-120"/>
              </a:rPr>
              <a:t>0,953</a:t>
            </a:r>
            <a:endParaRPr lang="en-US" sz="2600" dirty="0"/>
          </a:p>
        </p:txBody>
      </p:sp>
      <p:sp>
        <p:nvSpPr>
          <p:cNvPr id="16" name="Text 12"/>
          <p:cNvSpPr/>
          <p:nvPr/>
        </p:nvSpPr>
        <p:spPr>
          <a:xfrm>
            <a:off x="8229600" y="2670048"/>
            <a:ext cx="3200400" cy="868680"/>
          </a:xfrm>
          <a:prstGeom prst="rect">
            <a:avLst/>
          </a:prstGeom>
          <a:noFill/>
          <a:ln/>
        </p:spPr>
        <p:txBody>
          <a:bodyPr wrap="square" lIns="0" tIns="0" rIns="0" bIns="0" rtlCol="0" anchor="ctr"/>
          <a:lstStyle/>
          <a:p>
            <a:pPr indent="0" marL="0">
              <a:buNone/>
            </a:pPr>
            <a:r>
              <a:rPr lang="en-US" sz="1400" dirty="0">
                <a:solidFill>
                  <a:srgbClr val="1A2430"/>
                </a:solidFill>
                <a:latin typeface="Calibri" pitchFamily="34" charset="0"/>
                <a:ea typeface="Calibri" pitchFamily="34" charset="-122"/>
                <a:cs typeface="Calibri" pitchFamily="34" charset="-120"/>
              </a:rPr>
              <a:t>Entropy chuẩn hoá</a:t>
            </a:r>
            <a:endParaRPr lang="en-US" sz="1400" dirty="0"/>
          </a:p>
        </p:txBody>
      </p:sp>
      <p:sp>
        <p:nvSpPr>
          <p:cNvPr id="17" name="Shape 13"/>
          <p:cNvSpPr/>
          <p:nvPr/>
        </p:nvSpPr>
        <p:spPr>
          <a:xfrm>
            <a:off x="6400800" y="3675888"/>
            <a:ext cx="5120640" cy="868680"/>
          </a:xfrm>
          <a:prstGeom prst="roundRect">
            <a:avLst>
              <a:gd name="adj" fmla="val 10526"/>
            </a:avLst>
          </a:prstGeom>
          <a:solidFill>
            <a:srgbClr val="F4F7FA"/>
          </a:solidFill>
          <a:ln w="12700">
            <a:solidFill>
              <a:srgbClr val="E6ECF2"/>
            </a:solidFill>
            <a:prstDash val="solid"/>
          </a:ln>
          <a:effectLst>
            <a:outerShdw sx="100000" sy="100000" kx="0" ky="0" algn="bl" rotWithShape="0" blurRad="114300" dist="25400" dir="5400000">
              <a:srgbClr val="9FB0C0">
                <a:alpha val="22000"/>
              </a:srgbClr>
            </a:outerShdw>
          </a:effectLst>
        </p:spPr>
      </p:sp>
      <p:sp>
        <p:nvSpPr>
          <p:cNvPr id="18" name="Text 14"/>
          <p:cNvSpPr/>
          <p:nvPr/>
        </p:nvSpPr>
        <p:spPr>
          <a:xfrm>
            <a:off x="6492240" y="3675888"/>
            <a:ext cx="1737360" cy="868680"/>
          </a:xfrm>
          <a:prstGeom prst="rect">
            <a:avLst/>
          </a:prstGeom>
          <a:noFill/>
          <a:ln/>
        </p:spPr>
        <p:txBody>
          <a:bodyPr wrap="square" lIns="0" tIns="0" rIns="0" bIns="0" rtlCol="0" anchor="ctr"/>
          <a:lstStyle/>
          <a:p>
            <a:pPr algn="ctr" indent="0" marL="0">
              <a:buNone/>
            </a:pPr>
            <a:r>
              <a:rPr lang="en-US" sz="2600" b="1" dirty="0">
                <a:solidFill>
                  <a:srgbClr val="1C7293"/>
                </a:solidFill>
                <a:latin typeface="Cambria" pitchFamily="34" charset="0"/>
                <a:ea typeface="Cambria" pitchFamily="34" charset="-122"/>
                <a:cs typeface="Cambria" pitchFamily="34" charset="-120"/>
              </a:rPr>
              <a:t>0,247</a:t>
            </a:r>
            <a:endParaRPr lang="en-US" sz="2600" dirty="0"/>
          </a:p>
        </p:txBody>
      </p:sp>
      <p:sp>
        <p:nvSpPr>
          <p:cNvPr id="19" name="Text 15"/>
          <p:cNvSpPr/>
          <p:nvPr/>
        </p:nvSpPr>
        <p:spPr>
          <a:xfrm>
            <a:off x="8229600" y="3675888"/>
            <a:ext cx="3200400" cy="868680"/>
          </a:xfrm>
          <a:prstGeom prst="rect">
            <a:avLst/>
          </a:prstGeom>
          <a:noFill/>
          <a:ln/>
        </p:spPr>
        <p:txBody>
          <a:bodyPr wrap="square" lIns="0" tIns="0" rIns="0" bIns="0" rtlCol="0" anchor="ctr"/>
          <a:lstStyle/>
          <a:p>
            <a:pPr indent="0" marL="0">
              <a:buNone/>
            </a:pPr>
            <a:r>
              <a:rPr lang="en-US" sz="1400" dirty="0">
                <a:solidFill>
                  <a:srgbClr val="1A2430"/>
                </a:solidFill>
                <a:latin typeface="Calibri" pitchFamily="34" charset="0"/>
                <a:ea typeface="Calibri" pitchFamily="34" charset="-122"/>
                <a:cs typeface="Calibri" pitchFamily="34" charset="-120"/>
              </a:rPr>
              <a:t>Hệ số Gini</a:t>
            </a:r>
            <a:endParaRPr lang="en-US" sz="1400" dirty="0"/>
          </a:p>
        </p:txBody>
      </p:sp>
      <p:sp>
        <p:nvSpPr>
          <p:cNvPr id="20" name="Text 16"/>
          <p:cNvSpPr/>
          <p:nvPr/>
        </p:nvSpPr>
        <p:spPr>
          <a:xfrm>
            <a:off x="6400800" y="4681728"/>
            <a:ext cx="5120640" cy="548640"/>
          </a:xfrm>
          <a:prstGeom prst="rect">
            <a:avLst/>
          </a:prstGeom>
          <a:noFill/>
          <a:ln/>
        </p:spPr>
        <p:txBody>
          <a:bodyPr wrap="square" lIns="0" tIns="0" rIns="0" bIns="0" rtlCol="0" anchor="ctr"/>
          <a:lstStyle/>
          <a:p>
            <a:pPr indent="0" marL="0">
              <a:buNone/>
            </a:pPr>
            <a:r>
              <a:rPr lang="en-US" sz="1250" dirty="0">
                <a:solidFill>
                  <a:srgbClr val="5A6B7D"/>
                </a:solidFill>
                <a:latin typeface="Calibri" pitchFamily="34" charset="0"/>
                <a:ea typeface="Calibri" pitchFamily="34" charset="-122"/>
                <a:cs typeface="Calibri" pitchFamily="34" charset="-120"/>
              </a:rPr>
              <a:t>Lớp phổ biến nhất (Red Light, 787) gấp ~36 lần lớp hiếm nhất (Speed Limit 10, 22).</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10789920" y="-1234440"/>
            <a:ext cx="2743200" cy="2743200"/>
          </a:xfrm>
          <a:prstGeom prst="ellipse">
            <a:avLst/>
          </a:prstGeom>
          <a:solidFill>
            <a:srgbClr val="EAF1F6"/>
          </a:solidFill>
          <a:ln w="12700">
            <a:solidFill>
              <a:srgbClr val="333333"/>
            </a:solidFill>
            <a:prstDash val="solid"/>
          </a:ln>
        </p:spPr>
      </p:sp>
      <p:sp>
        <p:nvSpPr>
          <p:cNvPr id="4" name="Shape 1"/>
          <p:cNvSpPr/>
          <p:nvPr/>
        </p:nvSpPr>
        <p:spPr>
          <a:xfrm>
            <a:off x="11475720" y="182880"/>
            <a:ext cx="822960" cy="822960"/>
          </a:xfrm>
          <a:prstGeom prst="ellipse">
            <a:avLst/>
          </a:prstGeom>
          <a:solidFill>
            <a:srgbClr val="DCE8F0"/>
          </a:solidFill>
          <a:ln w="12700">
            <a:solidFill>
              <a:srgbClr val="333333"/>
            </a:solidFill>
            <a:prstDash val="solid"/>
          </a:ln>
        </p:spPr>
      </p:sp>
      <p:sp>
        <p:nvSpPr>
          <p:cNvPr id="5" name="Shape 2"/>
          <p:cNvSpPr/>
          <p:nvPr/>
        </p:nvSpPr>
        <p:spPr>
          <a:xfrm>
            <a:off x="548640" y="6382512"/>
            <a:ext cx="11064240" cy="0"/>
          </a:xfrm>
          <a:prstGeom prst="line">
            <a:avLst/>
          </a:prstGeom>
          <a:noFill/>
          <a:ln w="12700">
            <a:solidFill>
              <a:srgbClr val="DDE3EA"/>
            </a:solidFill>
            <a:prstDash val="solid"/>
          </a:ln>
        </p:spPr>
      </p:sp>
      <p:sp>
        <p:nvSpPr>
          <p:cNvPr id="6" name="Text 3"/>
          <p:cNvSpPr/>
          <p:nvPr/>
        </p:nvSpPr>
        <p:spPr>
          <a:xfrm>
            <a:off x="548640" y="6419088"/>
            <a:ext cx="8686800" cy="274320"/>
          </a:xfrm>
          <a:prstGeom prst="rect">
            <a:avLst/>
          </a:prstGeom>
          <a:noFill/>
          <a:ln/>
        </p:spPr>
        <p:txBody>
          <a:bodyPr wrap="square" lIns="0" tIns="0" rIns="0" bIns="0" rtlCol="0" anchor="ctr"/>
          <a:lstStyle/>
          <a:p>
            <a:pPr indent="0" marL="0">
              <a:buNone/>
            </a:pPr>
            <a:r>
              <a:rPr lang="en-US" sz="900" dirty="0">
                <a:solidFill>
                  <a:srgbClr val="9AA7B4"/>
                </a:solidFill>
                <a:latin typeface="Calibri" pitchFamily="34" charset="0"/>
                <a:ea typeface="Calibri" pitchFamily="34" charset="-122"/>
                <a:cs typeface="Calibri" pitchFamily="34" charset="-120"/>
              </a:rPr>
              <a:t>Kiểm định độ tin cậy YOLOv8 · Nhóm KHMT836016/34/36</a:t>
            </a:r>
            <a:endParaRPr lang="en-US" sz="900" dirty="0"/>
          </a:p>
        </p:txBody>
      </p:sp>
      <p:sp>
        <p:nvSpPr>
          <p:cNvPr id="7" name="Text 4"/>
          <p:cNvSpPr/>
          <p:nvPr/>
        </p:nvSpPr>
        <p:spPr>
          <a:xfrm>
            <a:off x="11064240" y="6419088"/>
            <a:ext cx="548640" cy="274320"/>
          </a:xfrm>
          <a:prstGeom prst="rect">
            <a:avLst/>
          </a:prstGeom>
          <a:noFill/>
          <a:ln/>
        </p:spPr>
        <p:txBody>
          <a:bodyPr wrap="square" lIns="0" tIns="0" rIns="0" bIns="0" rtlCol="0" anchor="ctr"/>
          <a:lstStyle/>
          <a:p>
            <a:pPr algn="r" indent="0" marL="0">
              <a:buNone/>
            </a:pPr>
            <a:r>
              <a:rPr lang="en-US" sz="1000" b="1" dirty="0">
                <a:solidFill>
                  <a:srgbClr val="1C7293"/>
                </a:solidFill>
                <a:latin typeface="Calibri" pitchFamily="34" charset="0"/>
                <a:ea typeface="Calibri" pitchFamily="34" charset="-122"/>
                <a:cs typeface="Calibri" pitchFamily="34" charset="-120"/>
              </a:rPr>
              <a:t>15</a:t>
            </a:r>
            <a:endParaRPr lang="en-US" sz="1000" dirty="0"/>
          </a:p>
        </p:txBody>
      </p:sp>
      <p:sp>
        <p:nvSpPr>
          <p:cNvPr id="8" name="Shape 5"/>
          <p:cNvSpPr/>
          <p:nvPr/>
        </p:nvSpPr>
        <p:spPr>
          <a:xfrm>
            <a:off x="548640" y="457200"/>
            <a:ext cx="155448" cy="457200"/>
          </a:xfrm>
          <a:prstGeom prst="roundRect">
            <a:avLst>
              <a:gd name="adj" fmla="val 17647"/>
            </a:avLst>
          </a:prstGeom>
          <a:solidFill>
            <a:srgbClr val="1C7293"/>
          </a:solidFill>
          <a:ln w="12700">
            <a:solidFill>
              <a:srgbClr val="333333"/>
            </a:solidFill>
            <a:prstDash val="solid"/>
          </a:ln>
        </p:spPr>
      </p:sp>
      <p:sp>
        <p:nvSpPr>
          <p:cNvPr id="9" name="Text 6"/>
          <p:cNvSpPr/>
          <p:nvPr/>
        </p:nvSpPr>
        <p:spPr>
          <a:xfrm>
            <a:off x="877824" y="365760"/>
            <a:ext cx="10735056" cy="713232"/>
          </a:xfrm>
          <a:prstGeom prst="rect">
            <a:avLst/>
          </a:prstGeom>
          <a:noFill/>
          <a:ln/>
        </p:spPr>
        <p:txBody>
          <a:bodyPr wrap="square" lIns="0" tIns="0" rIns="0" bIns="0" rtlCol="0" anchor="ctr"/>
          <a:lstStyle/>
          <a:p>
            <a:pPr indent="0" marL="0">
              <a:buNone/>
            </a:pPr>
            <a:r>
              <a:rPr lang="en-US" sz="2900" b="1" dirty="0">
                <a:solidFill>
                  <a:srgbClr val="1A2430"/>
                </a:solidFill>
                <a:latin typeface="Cambria" pitchFamily="34" charset="0"/>
                <a:ea typeface="Cambria" pitchFamily="34" charset="-122"/>
                <a:cs typeface="Cambria" pitchFamily="34" charset="-120"/>
              </a:rPr>
              <a:t>Kích thước vật thể — nhiều vật thể nhỏ</a:t>
            </a:r>
            <a:endParaRPr lang="en-US" sz="2900" dirty="0"/>
          </a:p>
        </p:txBody>
      </p:sp>
      <p:pic>
        <p:nvPicPr>
          <p:cNvPr id="10" name="Image 0" descr="/sessions/magical-intelligent-fermat/mnt/master/traffic-yolo-analysis/results/figs/06_small_objects.png">    </p:cNvPr>
          <p:cNvPicPr>
            <a:picLocks noChangeAspect="1"/>
          </p:cNvPicPr>
          <p:nvPr/>
        </p:nvPicPr>
        <p:blipFill>
          <a:blip r:embed="rId1"/>
          <a:stretch>
            <a:fillRect/>
          </a:stretch>
        </p:blipFill>
        <p:spPr>
          <a:xfrm>
            <a:off x="548640" y="1572768"/>
            <a:ext cx="6035040" cy="3200400"/>
          </a:xfrm>
          <a:prstGeom prst="rect">
            <a:avLst/>
          </a:prstGeom>
        </p:spPr>
      </p:pic>
      <p:sp>
        <p:nvSpPr>
          <p:cNvPr id="11" name="Text 7"/>
          <p:cNvSpPr/>
          <p:nvPr/>
        </p:nvSpPr>
        <p:spPr>
          <a:xfrm>
            <a:off x="6766560" y="1755648"/>
            <a:ext cx="4846320" cy="2743200"/>
          </a:xfrm>
          <a:prstGeom prst="rect">
            <a:avLst/>
          </a:prstGeom>
          <a:noFill/>
          <a:ln/>
        </p:spPr>
        <p:txBody>
          <a:bodyPr wrap="square" lIns="0" tIns="0" rIns="0" bIns="0" rtlCol="0" anchor="t"/>
          <a:lstStyle/>
          <a:p>
            <a:pPr marL="228600" indent="-228600">
              <a:lnSpc>
                <a:spcPct val="108000"/>
              </a:lnSpc>
              <a:spcAft>
                <a:spcPts val="1000"/>
              </a:spcAft>
              <a:buSzPct val="100000"/>
              <a:buChar char="•"/>
            </a:pPr>
            <a:r>
              <a:rPr lang="en-US" sz="1400" dirty="0">
                <a:solidFill>
                  <a:srgbClr val="1A2430"/>
                </a:solidFill>
                <a:latin typeface="Calibri" pitchFamily="34" charset="0"/>
                <a:ea typeface="Calibri" pitchFamily="34" charset="-122"/>
                <a:cs typeface="Calibri" pitchFamily="34" charset="-120"/>
              </a:rPr>
              <a:t>36,6% đối tượng là “nhỏ” (&lt;1% diện tích ảnh).</a:t>
            </a:r>
            <a:endParaRPr lang="en-US" sz="1400" dirty="0"/>
          </a:p>
          <a:p>
            <a:pPr marL="228600" indent="-228600">
              <a:lnSpc>
                <a:spcPct val="108000"/>
              </a:lnSpc>
              <a:spcAft>
                <a:spcPts val="1000"/>
              </a:spcAft>
              <a:buSzPct val="100000"/>
              <a:buChar char="•"/>
            </a:pPr>
            <a:r>
              <a:rPr lang="en-US" sz="1400" dirty="0">
                <a:solidFill>
                  <a:srgbClr val="1A2430"/>
                </a:solidFill>
                <a:latin typeface="Calibri" pitchFamily="34" charset="0"/>
                <a:ea typeface="Calibri" pitchFamily="34" charset="-122"/>
                <a:cs typeface="Calibri" pitchFamily="34" charset="-120"/>
              </a:rPr>
              <a:t>18,7% là “tí hon” (&lt;0,1% diện tích ảnh).</a:t>
            </a:r>
            <a:endParaRPr lang="en-US" sz="1400" dirty="0"/>
          </a:p>
          <a:p>
            <a:pPr marL="228600" indent="-228600">
              <a:lnSpc>
                <a:spcPct val="108000"/>
              </a:lnSpc>
              <a:spcAft>
                <a:spcPts val="1000"/>
              </a:spcAft>
              <a:buSzPct val="100000"/>
              <a:buChar char="•"/>
            </a:pPr>
            <a:r>
              <a:rPr lang="en-US" sz="1400" dirty="0">
                <a:solidFill>
                  <a:srgbClr val="1A2430"/>
                </a:solidFill>
                <a:latin typeface="Calibri" pitchFamily="34" charset="0"/>
                <a:ea typeface="Calibri" pitchFamily="34" charset="-122"/>
                <a:cs typeface="Calibri" pitchFamily="34" charset="-120"/>
              </a:rPr>
              <a:t>Vật thể nhỏ khó phát hiện vì ít điểm ảnh mang thông tin.</a:t>
            </a:r>
            <a:endParaRPr lang="en-US" sz="1400" dirty="0"/>
          </a:p>
          <a:p>
            <a:pPr marL="228600" indent="-228600">
              <a:lnSpc>
                <a:spcPct val="108000"/>
              </a:lnSpc>
              <a:spcAft>
                <a:spcPts val="1000"/>
              </a:spcAft>
              <a:buSzPct val="100000"/>
              <a:buChar char="•"/>
            </a:pPr>
            <a:r>
              <a:rPr lang="en-US" sz="1400" dirty="0">
                <a:solidFill>
                  <a:srgbClr val="1A2430"/>
                </a:solidFill>
                <a:latin typeface="Calibri" pitchFamily="34" charset="0"/>
                <a:ea typeface="Calibri" pitchFamily="34" charset="-122"/>
                <a:cs typeface="Calibri" pitchFamily="34" charset="-120"/>
              </a:rPr>
              <a:t>Tăng imgsz (640 → 1024) làm giảm mạnh tỉ lệ vật thể cạnh &lt; 8 px.</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10789920" y="-1234440"/>
            <a:ext cx="2743200" cy="2743200"/>
          </a:xfrm>
          <a:prstGeom prst="ellipse">
            <a:avLst/>
          </a:prstGeom>
          <a:solidFill>
            <a:srgbClr val="EAF1F6"/>
          </a:solidFill>
          <a:ln w="12700">
            <a:solidFill>
              <a:srgbClr val="333333"/>
            </a:solidFill>
            <a:prstDash val="solid"/>
          </a:ln>
        </p:spPr>
      </p:sp>
      <p:sp>
        <p:nvSpPr>
          <p:cNvPr id="4" name="Shape 1"/>
          <p:cNvSpPr/>
          <p:nvPr/>
        </p:nvSpPr>
        <p:spPr>
          <a:xfrm>
            <a:off x="11475720" y="182880"/>
            <a:ext cx="822960" cy="822960"/>
          </a:xfrm>
          <a:prstGeom prst="ellipse">
            <a:avLst/>
          </a:prstGeom>
          <a:solidFill>
            <a:srgbClr val="DCE8F0"/>
          </a:solidFill>
          <a:ln w="12700">
            <a:solidFill>
              <a:srgbClr val="333333"/>
            </a:solidFill>
            <a:prstDash val="solid"/>
          </a:ln>
        </p:spPr>
      </p:sp>
      <p:sp>
        <p:nvSpPr>
          <p:cNvPr id="5" name="Shape 2"/>
          <p:cNvSpPr/>
          <p:nvPr/>
        </p:nvSpPr>
        <p:spPr>
          <a:xfrm>
            <a:off x="548640" y="6382512"/>
            <a:ext cx="11064240" cy="0"/>
          </a:xfrm>
          <a:prstGeom prst="line">
            <a:avLst/>
          </a:prstGeom>
          <a:noFill/>
          <a:ln w="12700">
            <a:solidFill>
              <a:srgbClr val="DDE3EA"/>
            </a:solidFill>
            <a:prstDash val="solid"/>
          </a:ln>
        </p:spPr>
      </p:sp>
      <p:sp>
        <p:nvSpPr>
          <p:cNvPr id="6" name="Text 3"/>
          <p:cNvSpPr/>
          <p:nvPr/>
        </p:nvSpPr>
        <p:spPr>
          <a:xfrm>
            <a:off x="548640" y="6419088"/>
            <a:ext cx="8686800" cy="274320"/>
          </a:xfrm>
          <a:prstGeom prst="rect">
            <a:avLst/>
          </a:prstGeom>
          <a:noFill/>
          <a:ln/>
        </p:spPr>
        <p:txBody>
          <a:bodyPr wrap="square" lIns="0" tIns="0" rIns="0" bIns="0" rtlCol="0" anchor="ctr"/>
          <a:lstStyle/>
          <a:p>
            <a:pPr indent="0" marL="0">
              <a:buNone/>
            </a:pPr>
            <a:r>
              <a:rPr lang="en-US" sz="900" dirty="0">
                <a:solidFill>
                  <a:srgbClr val="9AA7B4"/>
                </a:solidFill>
                <a:latin typeface="Calibri" pitchFamily="34" charset="0"/>
                <a:ea typeface="Calibri" pitchFamily="34" charset="-122"/>
                <a:cs typeface="Calibri" pitchFamily="34" charset="-120"/>
              </a:rPr>
              <a:t>Kiểm định độ tin cậy YOLOv8 · Nhóm KHMT836016/34/36</a:t>
            </a:r>
            <a:endParaRPr lang="en-US" sz="900" dirty="0"/>
          </a:p>
        </p:txBody>
      </p:sp>
      <p:sp>
        <p:nvSpPr>
          <p:cNvPr id="7" name="Text 4"/>
          <p:cNvSpPr/>
          <p:nvPr/>
        </p:nvSpPr>
        <p:spPr>
          <a:xfrm>
            <a:off x="11064240" y="6419088"/>
            <a:ext cx="548640" cy="274320"/>
          </a:xfrm>
          <a:prstGeom prst="rect">
            <a:avLst/>
          </a:prstGeom>
          <a:noFill/>
          <a:ln/>
        </p:spPr>
        <p:txBody>
          <a:bodyPr wrap="square" lIns="0" tIns="0" rIns="0" bIns="0" rtlCol="0" anchor="ctr"/>
          <a:lstStyle/>
          <a:p>
            <a:pPr algn="r" indent="0" marL="0">
              <a:buNone/>
            </a:pPr>
            <a:r>
              <a:rPr lang="en-US" sz="1000" b="1" dirty="0">
                <a:solidFill>
                  <a:srgbClr val="1C7293"/>
                </a:solidFill>
                <a:latin typeface="Calibri" pitchFamily="34" charset="0"/>
                <a:ea typeface="Calibri" pitchFamily="34" charset="-122"/>
                <a:cs typeface="Calibri" pitchFamily="34" charset="-120"/>
              </a:rPr>
              <a:t>16</a:t>
            </a:r>
            <a:endParaRPr lang="en-US" sz="1000" dirty="0"/>
          </a:p>
        </p:txBody>
      </p:sp>
      <p:sp>
        <p:nvSpPr>
          <p:cNvPr id="8" name="Shape 5"/>
          <p:cNvSpPr/>
          <p:nvPr/>
        </p:nvSpPr>
        <p:spPr>
          <a:xfrm>
            <a:off x="548640" y="457200"/>
            <a:ext cx="155448" cy="457200"/>
          </a:xfrm>
          <a:prstGeom prst="roundRect">
            <a:avLst>
              <a:gd name="adj" fmla="val 17647"/>
            </a:avLst>
          </a:prstGeom>
          <a:solidFill>
            <a:srgbClr val="1C7293"/>
          </a:solidFill>
          <a:ln w="12700">
            <a:solidFill>
              <a:srgbClr val="333333"/>
            </a:solidFill>
            <a:prstDash val="solid"/>
          </a:ln>
        </p:spPr>
      </p:sp>
      <p:sp>
        <p:nvSpPr>
          <p:cNvPr id="9" name="Text 6"/>
          <p:cNvSpPr/>
          <p:nvPr/>
        </p:nvSpPr>
        <p:spPr>
          <a:xfrm>
            <a:off x="877824" y="365760"/>
            <a:ext cx="10735056" cy="713232"/>
          </a:xfrm>
          <a:prstGeom prst="rect">
            <a:avLst/>
          </a:prstGeom>
          <a:noFill/>
          <a:ln/>
        </p:spPr>
        <p:txBody>
          <a:bodyPr wrap="square" lIns="0" tIns="0" rIns="0" bIns="0" rtlCol="0" anchor="ctr"/>
          <a:lstStyle/>
          <a:p>
            <a:pPr indent="0" marL="0">
              <a:buNone/>
            </a:pPr>
            <a:r>
              <a:rPr lang="en-US" sz="2900" b="1" dirty="0">
                <a:solidFill>
                  <a:srgbClr val="1A2430"/>
                </a:solidFill>
                <a:latin typeface="Cambria" pitchFamily="34" charset="0"/>
                <a:ea typeface="Cambria" pitchFamily="34" charset="-122"/>
                <a:cs typeface="Cambria" pitchFamily="34" charset="-120"/>
              </a:rPr>
              <a:t>Công cụ đo — YOLOv8s huấn luyện hướng-EDA</a:t>
            </a:r>
            <a:endParaRPr lang="en-US" sz="2900" dirty="0"/>
          </a:p>
        </p:txBody>
      </p:sp>
      <p:sp>
        <p:nvSpPr>
          <p:cNvPr id="10" name="Shape 7"/>
          <p:cNvSpPr/>
          <p:nvPr/>
        </p:nvSpPr>
        <p:spPr>
          <a:xfrm>
            <a:off x="548640" y="1481328"/>
            <a:ext cx="11064240" cy="566928"/>
          </a:xfrm>
          <a:prstGeom prst="roundRect">
            <a:avLst>
              <a:gd name="adj" fmla="val 16129"/>
            </a:avLst>
          </a:prstGeom>
          <a:solidFill>
            <a:srgbClr val="FFFFFF"/>
          </a:solidFill>
          <a:ln w="12700">
            <a:solidFill>
              <a:srgbClr val="E6ECF2"/>
            </a:solidFill>
            <a:prstDash val="solid"/>
          </a:ln>
          <a:effectLst>
            <a:outerShdw sx="100000" sy="100000" kx="0" ky="0" algn="bl" rotWithShape="0" blurRad="114300" dist="25400" dir="5400000">
              <a:srgbClr val="9FB0C0">
                <a:alpha val="22000"/>
              </a:srgbClr>
            </a:outerShdw>
          </a:effectLst>
        </p:spPr>
      </p:sp>
      <p:sp>
        <p:nvSpPr>
          <p:cNvPr id="11" name="Text 8"/>
          <p:cNvSpPr/>
          <p:nvPr/>
        </p:nvSpPr>
        <p:spPr>
          <a:xfrm>
            <a:off x="777240" y="1481328"/>
            <a:ext cx="2468880" cy="566928"/>
          </a:xfrm>
          <a:prstGeom prst="rect">
            <a:avLst/>
          </a:prstGeom>
          <a:noFill/>
          <a:ln/>
        </p:spPr>
        <p:txBody>
          <a:bodyPr wrap="square" lIns="0" tIns="0" rIns="0" bIns="0" rtlCol="0" anchor="ctr"/>
          <a:lstStyle/>
          <a:p>
            <a:pPr indent="0" marL="0">
              <a:buNone/>
            </a:pPr>
            <a:r>
              <a:rPr lang="en-US" sz="1400" b="1" dirty="0">
                <a:solidFill>
                  <a:srgbClr val="1C7293"/>
                </a:solidFill>
                <a:latin typeface="Cambria" pitchFamily="34" charset="0"/>
                <a:ea typeface="Cambria" pitchFamily="34" charset="-122"/>
                <a:cs typeface="Cambria" pitchFamily="34" charset="-120"/>
              </a:rPr>
              <a:t>Mô hình nền</a:t>
            </a:r>
            <a:endParaRPr lang="en-US" sz="1400" dirty="0"/>
          </a:p>
        </p:txBody>
      </p:sp>
      <p:sp>
        <p:nvSpPr>
          <p:cNvPr id="12" name="Text 9"/>
          <p:cNvSpPr/>
          <p:nvPr/>
        </p:nvSpPr>
        <p:spPr>
          <a:xfrm>
            <a:off x="3383280" y="1481328"/>
            <a:ext cx="8046720" cy="566928"/>
          </a:xfrm>
          <a:prstGeom prst="rect">
            <a:avLst/>
          </a:prstGeom>
          <a:noFill/>
          <a:ln/>
        </p:spPr>
        <p:txBody>
          <a:bodyPr wrap="square" lIns="0" tIns="0" rIns="0" bIns="0" rtlCol="0" anchor="ctr"/>
          <a:lstStyle/>
          <a:p>
            <a:pPr indent="0" marL="0">
              <a:buNone/>
            </a:pPr>
            <a:r>
              <a:rPr lang="en-US" sz="1350" dirty="0">
                <a:solidFill>
                  <a:srgbClr val="1A2430"/>
                </a:solidFill>
                <a:latin typeface="Calibri" pitchFamily="34" charset="0"/>
                <a:ea typeface="Calibri" pitchFamily="34" charset="-122"/>
                <a:cs typeface="Calibri" pitchFamily="34" charset="-120"/>
              </a:rPr>
              <a:t>yolov8s.pt · 11,13M tham số · 28,5 GFLOPs</a:t>
            </a:r>
            <a:endParaRPr lang="en-US" sz="1350" dirty="0"/>
          </a:p>
        </p:txBody>
      </p:sp>
      <p:sp>
        <p:nvSpPr>
          <p:cNvPr id="13" name="Shape 10"/>
          <p:cNvSpPr/>
          <p:nvPr/>
        </p:nvSpPr>
        <p:spPr>
          <a:xfrm>
            <a:off x="548640" y="2139696"/>
            <a:ext cx="11064240" cy="566928"/>
          </a:xfrm>
          <a:prstGeom prst="roundRect">
            <a:avLst>
              <a:gd name="adj" fmla="val 16129"/>
            </a:avLst>
          </a:prstGeom>
          <a:solidFill>
            <a:srgbClr val="F4F7FA"/>
          </a:solidFill>
          <a:ln w="12700">
            <a:solidFill>
              <a:srgbClr val="E6ECF2"/>
            </a:solidFill>
            <a:prstDash val="solid"/>
          </a:ln>
          <a:effectLst>
            <a:outerShdw sx="100000" sy="100000" kx="0" ky="0" algn="bl" rotWithShape="0" blurRad="114300" dist="25400" dir="5400000">
              <a:srgbClr val="9FB0C0">
                <a:alpha val="22000"/>
              </a:srgbClr>
            </a:outerShdw>
          </a:effectLst>
        </p:spPr>
      </p:sp>
      <p:sp>
        <p:nvSpPr>
          <p:cNvPr id="14" name="Text 11"/>
          <p:cNvSpPr/>
          <p:nvPr/>
        </p:nvSpPr>
        <p:spPr>
          <a:xfrm>
            <a:off x="777240" y="2139696"/>
            <a:ext cx="2468880" cy="566928"/>
          </a:xfrm>
          <a:prstGeom prst="rect">
            <a:avLst/>
          </a:prstGeom>
          <a:noFill/>
          <a:ln/>
        </p:spPr>
        <p:txBody>
          <a:bodyPr wrap="square" lIns="0" tIns="0" rIns="0" bIns="0" rtlCol="0" anchor="ctr"/>
          <a:lstStyle/>
          <a:p>
            <a:pPr indent="0" marL="0">
              <a:buNone/>
            </a:pPr>
            <a:r>
              <a:rPr lang="en-US" sz="1400" b="1" dirty="0">
                <a:solidFill>
                  <a:srgbClr val="1C7293"/>
                </a:solidFill>
                <a:latin typeface="Cambria" pitchFamily="34" charset="0"/>
                <a:ea typeface="Cambria" pitchFamily="34" charset="-122"/>
                <a:cs typeface="Cambria" pitchFamily="34" charset="-120"/>
              </a:rPr>
              <a:t>Giai đoạn 1</a:t>
            </a:r>
            <a:endParaRPr lang="en-US" sz="1400" dirty="0"/>
          </a:p>
        </p:txBody>
      </p:sp>
      <p:sp>
        <p:nvSpPr>
          <p:cNvPr id="15" name="Text 12"/>
          <p:cNvSpPr/>
          <p:nvPr/>
        </p:nvSpPr>
        <p:spPr>
          <a:xfrm>
            <a:off x="3383280" y="2139696"/>
            <a:ext cx="8046720" cy="566928"/>
          </a:xfrm>
          <a:prstGeom prst="rect">
            <a:avLst/>
          </a:prstGeom>
          <a:noFill/>
          <a:ln/>
        </p:spPr>
        <p:txBody>
          <a:bodyPr wrap="square" lIns="0" tIns="0" rIns="0" bIns="0" rtlCol="0" anchor="ctr"/>
          <a:lstStyle/>
          <a:p>
            <a:pPr indent="0" marL="0">
              <a:buNone/>
            </a:pPr>
            <a:r>
              <a:rPr lang="en-US" sz="1350" dirty="0">
                <a:solidFill>
                  <a:srgbClr val="1A2430"/>
                </a:solidFill>
                <a:latin typeface="Calibri" pitchFamily="34" charset="0"/>
                <a:ea typeface="Calibri" pitchFamily="34" charset="-122"/>
                <a:cs typeface="Calibri" pitchFamily="34" charset="-120"/>
              </a:rPr>
              <a:t>imgsz=640, batch 16, ≤60 epoch, lr0=0,001</a:t>
            </a:r>
            <a:endParaRPr lang="en-US" sz="1350" dirty="0"/>
          </a:p>
        </p:txBody>
      </p:sp>
      <p:sp>
        <p:nvSpPr>
          <p:cNvPr id="16" name="Shape 13"/>
          <p:cNvSpPr/>
          <p:nvPr/>
        </p:nvSpPr>
        <p:spPr>
          <a:xfrm>
            <a:off x="548640" y="2798064"/>
            <a:ext cx="11064240" cy="566928"/>
          </a:xfrm>
          <a:prstGeom prst="roundRect">
            <a:avLst>
              <a:gd name="adj" fmla="val 16129"/>
            </a:avLst>
          </a:prstGeom>
          <a:solidFill>
            <a:srgbClr val="FFFFFF"/>
          </a:solidFill>
          <a:ln w="12700">
            <a:solidFill>
              <a:srgbClr val="E6ECF2"/>
            </a:solidFill>
            <a:prstDash val="solid"/>
          </a:ln>
          <a:effectLst>
            <a:outerShdw sx="100000" sy="100000" kx="0" ky="0" algn="bl" rotWithShape="0" blurRad="114300" dist="25400" dir="5400000">
              <a:srgbClr val="9FB0C0">
                <a:alpha val="22000"/>
              </a:srgbClr>
            </a:outerShdw>
          </a:effectLst>
        </p:spPr>
      </p:sp>
      <p:sp>
        <p:nvSpPr>
          <p:cNvPr id="17" name="Text 14"/>
          <p:cNvSpPr/>
          <p:nvPr/>
        </p:nvSpPr>
        <p:spPr>
          <a:xfrm>
            <a:off x="777240" y="2798064"/>
            <a:ext cx="2468880" cy="566928"/>
          </a:xfrm>
          <a:prstGeom prst="rect">
            <a:avLst/>
          </a:prstGeom>
          <a:noFill/>
          <a:ln/>
        </p:spPr>
        <p:txBody>
          <a:bodyPr wrap="square" lIns="0" tIns="0" rIns="0" bIns="0" rtlCol="0" anchor="ctr"/>
          <a:lstStyle/>
          <a:p>
            <a:pPr indent="0" marL="0">
              <a:buNone/>
            </a:pPr>
            <a:r>
              <a:rPr lang="en-US" sz="1400" b="1" dirty="0">
                <a:solidFill>
                  <a:srgbClr val="1C7293"/>
                </a:solidFill>
                <a:latin typeface="Cambria" pitchFamily="34" charset="0"/>
                <a:ea typeface="Cambria" pitchFamily="34" charset="-122"/>
                <a:cs typeface="Cambria" pitchFamily="34" charset="-120"/>
              </a:rPr>
              <a:t>Giai đoạn 2</a:t>
            </a:r>
            <a:endParaRPr lang="en-US" sz="1400" dirty="0"/>
          </a:p>
        </p:txBody>
      </p:sp>
      <p:sp>
        <p:nvSpPr>
          <p:cNvPr id="18" name="Text 15"/>
          <p:cNvSpPr/>
          <p:nvPr/>
        </p:nvSpPr>
        <p:spPr>
          <a:xfrm>
            <a:off x="3383280" y="2798064"/>
            <a:ext cx="8046720" cy="566928"/>
          </a:xfrm>
          <a:prstGeom prst="rect">
            <a:avLst/>
          </a:prstGeom>
          <a:noFill/>
          <a:ln/>
        </p:spPr>
        <p:txBody>
          <a:bodyPr wrap="square" lIns="0" tIns="0" rIns="0" bIns="0" rtlCol="0" anchor="ctr"/>
          <a:lstStyle/>
          <a:p>
            <a:pPr indent="0" marL="0">
              <a:buNone/>
            </a:pPr>
            <a:r>
              <a:rPr lang="en-US" sz="1350" dirty="0">
                <a:solidFill>
                  <a:srgbClr val="1A2430"/>
                </a:solidFill>
                <a:latin typeface="Calibri" pitchFamily="34" charset="0"/>
                <a:ea typeface="Calibri" pitchFamily="34" charset="-122"/>
                <a:cs typeface="Calibri" pitchFamily="34" charset="-120"/>
              </a:rPr>
              <a:t>imgsz=768, batch 10, ≤35 epoch, lr0=0,0003</a:t>
            </a:r>
            <a:endParaRPr lang="en-US" sz="1350" dirty="0"/>
          </a:p>
        </p:txBody>
      </p:sp>
      <p:sp>
        <p:nvSpPr>
          <p:cNvPr id="19" name="Shape 16"/>
          <p:cNvSpPr/>
          <p:nvPr/>
        </p:nvSpPr>
        <p:spPr>
          <a:xfrm>
            <a:off x="548640" y="3456432"/>
            <a:ext cx="11064240" cy="566928"/>
          </a:xfrm>
          <a:prstGeom prst="roundRect">
            <a:avLst>
              <a:gd name="adj" fmla="val 16129"/>
            </a:avLst>
          </a:prstGeom>
          <a:solidFill>
            <a:srgbClr val="F4F7FA"/>
          </a:solidFill>
          <a:ln w="12700">
            <a:solidFill>
              <a:srgbClr val="E6ECF2"/>
            </a:solidFill>
            <a:prstDash val="solid"/>
          </a:ln>
          <a:effectLst>
            <a:outerShdw sx="100000" sy="100000" kx="0" ky="0" algn="bl" rotWithShape="0" blurRad="114300" dist="25400" dir="5400000">
              <a:srgbClr val="9FB0C0">
                <a:alpha val="22000"/>
              </a:srgbClr>
            </a:outerShdw>
          </a:effectLst>
        </p:spPr>
      </p:sp>
      <p:sp>
        <p:nvSpPr>
          <p:cNvPr id="20" name="Text 17"/>
          <p:cNvSpPr/>
          <p:nvPr/>
        </p:nvSpPr>
        <p:spPr>
          <a:xfrm>
            <a:off x="777240" y="3456432"/>
            <a:ext cx="2468880" cy="566928"/>
          </a:xfrm>
          <a:prstGeom prst="rect">
            <a:avLst/>
          </a:prstGeom>
          <a:noFill/>
          <a:ln/>
        </p:spPr>
        <p:txBody>
          <a:bodyPr wrap="square" lIns="0" tIns="0" rIns="0" bIns="0" rtlCol="0" anchor="ctr"/>
          <a:lstStyle/>
          <a:p>
            <a:pPr indent="0" marL="0">
              <a:buNone/>
            </a:pPr>
            <a:r>
              <a:rPr lang="en-US" sz="1400" b="1" dirty="0">
                <a:solidFill>
                  <a:srgbClr val="1C7293"/>
                </a:solidFill>
                <a:latin typeface="Cambria" pitchFamily="34" charset="0"/>
                <a:ea typeface="Cambria" pitchFamily="34" charset="-122"/>
                <a:cs typeface="Cambria" pitchFamily="34" charset="-120"/>
              </a:rPr>
              <a:t>Tối ưu</a:t>
            </a:r>
            <a:endParaRPr lang="en-US" sz="1400" dirty="0"/>
          </a:p>
        </p:txBody>
      </p:sp>
      <p:sp>
        <p:nvSpPr>
          <p:cNvPr id="21" name="Text 18"/>
          <p:cNvSpPr/>
          <p:nvPr/>
        </p:nvSpPr>
        <p:spPr>
          <a:xfrm>
            <a:off x="3383280" y="3456432"/>
            <a:ext cx="8046720" cy="566928"/>
          </a:xfrm>
          <a:prstGeom prst="rect">
            <a:avLst/>
          </a:prstGeom>
          <a:noFill/>
          <a:ln/>
        </p:spPr>
        <p:txBody>
          <a:bodyPr wrap="square" lIns="0" tIns="0" rIns="0" bIns="0" rtlCol="0" anchor="ctr"/>
          <a:lstStyle/>
          <a:p>
            <a:pPr indent="0" marL="0">
              <a:buNone/>
            </a:pPr>
            <a:r>
              <a:rPr lang="en-US" sz="1350" dirty="0">
                <a:solidFill>
                  <a:srgbClr val="1A2430"/>
                </a:solidFill>
                <a:latin typeface="Calibri" pitchFamily="34" charset="0"/>
                <a:ea typeface="Calibri" pitchFamily="34" charset="-122"/>
                <a:cs typeface="Calibri" pitchFamily="34" charset="-120"/>
              </a:rPr>
              <a:t>AdamW + cosine LR · KHÔNG lật ngang/dọc (giữ ngữ nghĩa biển có hướng)</a:t>
            </a:r>
            <a:endParaRPr lang="en-US" sz="1350" dirty="0"/>
          </a:p>
        </p:txBody>
      </p:sp>
      <p:sp>
        <p:nvSpPr>
          <p:cNvPr id="22" name="Shape 19"/>
          <p:cNvSpPr/>
          <p:nvPr/>
        </p:nvSpPr>
        <p:spPr>
          <a:xfrm>
            <a:off x="548640" y="4114800"/>
            <a:ext cx="11064240" cy="566928"/>
          </a:xfrm>
          <a:prstGeom prst="roundRect">
            <a:avLst>
              <a:gd name="adj" fmla="val 16129"/>
            </a:avLst>
          </a:prstGeom>
          <a:solidFill>
            <a:srgbClr val="FFFFFF"/>
          </a:solidFill>
          <a:ln w="12700">
            <a:solidFill>
              <a:srgbClr val="E6ECF2"/>
            </a:solidFill>
            <a:prstDash val="solid"/>
          </a:ln>
          <a:effectLst>
            <a:outerShdw sx="100000" sy="100000" kx="0" ky="0" algn="bl" rotWithShape="0" blurRad="114300" dist="25400" dir="5400000">
              <a:srgbClr val="9FB0C0">
                <a:alpha val="22000"/>
              </a:srgbClr>
            </a:outerShdw>
          </a:effectLst>
        </p:spPr>
      </p:sp>
      <p:sp>
        <p:nvSpPr>
          <p:cNvPr id="23" name="Text 20"/>
          <p:cNvSpPr/>
          <p:nvPr/>
        </p:nvSpPr>
        <p:spPr>
          <a:xfrm>
            <a:off x="777240" y="4114800"/>
            <a:ext cx="2468880" cy="566928"/>
          </a:xfrm>
          <a:prstGeom prst="rect">
            <a:avLst/>
          </a:prstGeom>
          <a:noFill/>
          <a:ln/>
        </p:spPr>
        <p:txBody>
          <a:bodyPr wrap="square" lIns="0" tIns="0" rIns="0" bIns="0" rtlCol="0" anchor="ctr"/>
          <a:lstStyle/>
          <a:p>
            <a:pPr indent="0" marL="0">
              <a:buNone/>
            </a:pPr>
            <a:r>
              <a:rPr lang="en-US" sz="1400" b="1" dirty="0">
                <a:solidFill>
                  <a:srgbClr val="1C7293"/>
                </a:solidFill>
                <a:latin typeface="Cambria" pitchFamily="34" charset="0"/>
                <a:ea typeface="Cambria" pitchFamily="34" charset="-122"/>
                <a:cs typeface="Cambria" pitchFamily="34" charset="-120"/>
              </a:rPr>
              <a:t>Phần cứng</a:t>
            </a:r>
            <a:endParaRPr lang="en-US" sz="1400" dirty="0"/>
          </a:p>
        </p:txBody>
      </p:sp>
      <p:sp>
        <p:nvSpPr>
          <p:cNvPr id="24" name="Text 21"/>
          <p:cNvSpPr/>
          <p:nvPr/>
        </p:nvSpPr>
        <p:spPr>
          <a:xfrm>
            <a:off x="3383280" y="4114800"/>
            <a:ext cx="8046720" cy="566928"/>
          </a:xfrm>
          <a:prstGeom prst="rect">
            <a:avLst/>
          </a:prstGeom>
          <a:noFill/>
          <a:ln/>
        </p:spPr>
        <p:txBody>
          <a:bodyPr wrap="square" lIns="0" tIns="0" rIns="0" bIns="0" rtlCol="0" anchor="ctr"/>
          <a:lstStyle/>
          <a:p>
            <a:pPr indent="0" marL="0">
              <a:buNone/>
            </a:pPr>
            <a:r>
              <a:rPr lang="en-US" sz="1350" dirty="0">
                <a:solidFill>
                  <a:srgbClr val="1A2430"/>
                </a:solidFill>
                <a:latin typeface="Calibri" pitchFamily="34" charset="0"/>
                <a:ea typeface="Calibri" pitchFamily="34" charset="-122"/>
                <a:cs typeface="Calibri" pitchFamily="34" charset="-120"/>
              </a:rPr>
              <a:t>GPU Tesla T4 · Ultralytics 8.4.95</a:t>
            </a:r>
            <a:endParaRPr lang="en-US" sz="1350" dirty="0"/>
          </a:p>
        </p:txBody>
      </p:sp>
      <p:sp>
        <p:nvSpPr>
          <p:cNvPr id="25" name="Text 22"/>
          <p:cNvSpPr/>
          <p:nvPr/>
        </p:nvSpPr>
        <p:spPr>
          <a:xfrm>
            <a:off x="548640" y="4956048"/>
            <a:ext cx="11064240" cy="457200"/>
          </a:xfrm>
          <a:prstGeom prst="rect">
            <a:avLst/>
          </a:prstGeom>
          <a:noFill/>
          <a:ln/>
        </p:spPr>
        <p:txBody>
          <a:bodyPr wrap="square" lIns="0" tIns="0" rIns="0" bIns="0" rtlCol="0" anchor="ctr"/>
          <a:lstStyle/>
          <a:p>
            <a:pPr indent="0" marL="0">
              <a:buNone/>
            </a:pPr>
            <a:r>
              <a:rPr lang="en-US" sz="1300" dirty="0">
                <a:solidFill>
                  <a:srgbClr val="5A6B7D"/>
                </a:solidFill>
                <a:latin typeface="Calibri" pitchFamily="34" charset="0"/>
                <a:ea typeface="Calibri" pitchFamily="34" charset="-122"/>
                <a:cs typeface="Calibri" pitchFamily="34" charset="-120"/>
              </a:rPr>
              <a:t>Trọng số best.pt được đính kèm trong thư mục models/ của đề tài — cũng dùng cho tab demo của app.</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10789920" y="-1234440"/>
            <a:ext cx="2743200" cy="2743200"/>
          </a:xfrm>
          <a:prstGeom prst="ellipse">
            <a:avLst/>
          </a:prstGeom>
          <a:solidFill>
            <a:srgbClr val="EAF1F6"/>
          </a:solidFill>
          <a:ln w="12700">
            <a:solidFill>
              <a:srgbClr val="333333"/>
            </a:solidFill>
            <a:prstDash val="solid"/>
          </a:ln>
        </p:spPr>
      </p:sp>
      <p:sp>
        <p:nvSpPr>
          <p:cNvPr id="4" name="Shape 1"/>
          <p:cNvSpPr/>
          <p:nvPr/>
        </p:nvSpPr>
        <p:spPr>
          <a:xfrm>
            <a:off x="11475720" y="182880"/>
            <a:ext cx="822960" cy="822960"/>
          </a:xfrm>
          <a:prstGeom prst="ellipse">
            <a:avLst/>
          </a:prstGeom>
          <a:solidFill>
            <a:srgbClr val="DCE8F0"/>
          </a:solidFill>
          <a:ln w="12700">
            <a:solidFill>
              <a:srgbClr val="333333"/>
            </a:solidFill>
            <a:prstDash val="solid"/>
          </a:ln>
        </p:spPr>
      </p:sp>
      <p:sp>
        <p:nvSpPr>
          <p:cNvPr id="5" name="Shape 2"/>
          <p:cNvSpPr/>
          <p:nvPr/>
        </p:nvSpPr>
        <p:spPr>
          <a:xfrm>
            <a:off x="548640" y="6382512"/>
            <a:ext cx="11064240" cy="0"/>
          </a:xfrm>
          <a:prstGeom prst="line">
            <a:avLst/>
          </a:prstGeom>
          <a:noFill/>
          <a:ln w="12700">
            <a:solidFill>
              <a:srgbClr val="DDE3EA"/>
            </a:solidFill>
            <a:prstDash val="solid"/>
          </a:ln>
        </p:spPr>
      </p:sp>
      <p:sp>
        <p:nvSpPr>
          <p:cNvPr id="6" name="Text 3"/>
          <p:cNvSpPr/>
          <p:nvPr/>
        </p:nvSpPr>
        <p:spPr>
          <a:xfrm>
            <a:off x="548640" y="6419088"/>
            <a:ext cx="8686800" cy="274320"/>
          </a:xfrm>
          <a:prstGeom prst="rect">
            <a:avLst/>
          </a:prstGeom>
          <a:noFill/>
          <a:ln/>
        </p:spPr>
        <p:txBody>
          <a:bodyPr wrap="square" lIns="0" tIns="0" rIns="0" bIns="0" rtlCol="0" anchor="ctr"/>
          <a:lstStyle/>
          <a:p>
            <a:pPr indent="0" marL="0">
              <a:buNone/>
            </a:pPr>
            <a:r>
              <a:rPr lang="en-US" sz="900" dirty="0">
                <a:solidFill>
                  <a:srgbClr val="9AA7B4"/>
                </a:solidFill>
                <a:latin typeface="Calibri" pitchFamily="34" charset="0"/>
                <a:ea typeface="Calibri" pitchFamily="34" charset="-122"/>
                <a:cs typeface="Calibri" pitchFamily="34" charset="-120"/>
              </a:rPr>
              <a:t>Kiểm định độ tin cậy YOLOv8 · Nhóm KHMT836016/34/36</a:t>
            </a:r>
            <a:endParaRPr lang="en-US" sz="900" dirty="0"/>
          </a:p>
        </p:txBody>
      </p:sp>
      <p:sp>
        <p:nvSpPr>
          <p:cNvPr id="7" name="Text 4"/>
          <p:cNvSpPr/>
          <p:nvPr/>
        </p:nvSpPr>
        <p:spPr>
          <a:xfrm>
            <a:off x="11064240" y="6419088"/>
            <a:ext cx="548640" cy="274320"/>
          </a:xfrm>
          <a:prstGeom prst="rect">
            <a:avLst/>
          </a:prstGeom>
          <a:noFill/>
          <a:ln/>
        </p:spPr>
        <p:txBody>
          <a:bodyPr wrap="square" lIns="0" tIns="0" rIns="0" bIns="0" rtlCol="0" anchor="ctr"/>
          <a:lstStyle/>
          <a:p>
            <a:pPr algn="r" indent="0" marL="0">
              <a:buNone/>
            </a:pPr>
            <a:r>
              <a:rPr lang="en-US" sz="1000" b="1" dirty="0">
                <a:solidFill>
                  <a:srgbClr val="1C7293"/>
                </a:solidFill>
                <a:latin typeface="Calibri" pitchFamily="34" charset="0"/>
                <a:ea typeface="Calibri" pitchFamily="34" charset="-122"/>
                <a:cs typeface="Calibri" pitchFamily="34" charset="-120"/>
              </a:rPr>
              <a:t>17</a:t>
            </a:r>
            <a:endParaRPr lang="en-US" sz="1000" dirty="0"/>
          </a:p>
        </p:txBody>
      </p:sp>
      <p:sp>
        <p:nvSpPr>
          <p:cNvPr id="8" name="Shape 5"/>
          <p:cNvSpPr/>
          <p:nvPr/>
        </p:nvSpPr>
        <p:spPr>
          <a:xfrm>
            <a:off x="548640" y="457200"/>
            <a:ext cx="155448" cy="457200"/>
          </a:xfrm>
          <a:prstGeom prst="roundRect">
            <a:avLst>
              <a:gd name="adj" fmla="val 17647"/>
            </a:avLst>
          </a:prstGeom>
          <a:solidFill>
            <a:srgbClr val="1C7293"/>
          </a:solidFill>
          <a:ln w="12700">
            <a:solidFill>
              <a:srgbClr val="333333"/>
            </a:solidFill>
            <a:prstDash val="solid"/>
          </a:ln>
        </p:spPr>
      </p:sp>
      <p:sp>
        <p:nvSpPr>
          <p:cNvPr id="9" name="Text 6"/>
          <p:cNvSpPr/>
          <p:nvPr/>
        </p:nvSpPr>
        <p:spPr>
          <a:xfrm>
            <a:off x="877824" y="365760"/>
            <a:ext cx="10735056" cy="713232"/>
          </a:xfrm>
          <a:prstGeom prst="rect">
            <a:avLst/>
          </a:prstGeom>
          <a:noFill/>
          <a:ln/>
        </p:spPr>
        <p:txBody>
          <a:bodyPr wrap="square" lIns="0" tIns="0" rIns="0" bIns="0" rtlCol="0" anchor="ctr"/>
          <a:lstStyle/>
          <a:p>
            <a:pPr indent="0" marL="0">
              <a:buNone/>
            </a:pPr>
            <a:r>
              <a:rPr lang="en-US" sz="2900" b="1" dirty="0">
                <a:solidFill>
                  <a:srgbClr val="1A2430"/>
                </a:solidFill>
                <a:latin typeface="Cambria" pitchFamily="34" charset="0"/>
                <a:ea typeface="Cambria" pitchFamily="34" charset="-122"/>
                <a:cs typeface="Cambria" pitchFamily="34" charset="-120"/>
              </a:rPr>
              <a:t>Phương pháp phân tích thứ cấp — 3 bước</a:t>
            </a:r>
            <a:endParaRPr lang="en-US" sz="2900" dirty="0"/>
          </a:p>
        </p:txBody>
      </p:sp>
      <p:sp>
        <p:nvSpPr>
          <p:cNvPr id="10" name="Shape 7"/>
          <p:cNvSpPr/>
          <p:nvPr/>
        </p:nvSpPr>
        <p:spPr>
          <a:xfrm>
            <a:off x="548640" y="1481328"/>
            <a:ext cx="3520440" cy="3749040"/>
          </a:xfrm>
          <a:prstGeom prst="roundRect">
            <a:avLst>
              <a:gd name="adj" fmla="val 2597"/>
            </a:avLst>
          </a:prstGeom>
          <a:solidFill>
            <a:srgbClr val="F4F7FA"/>
          </a:solidFill>
          <a:ln w="12700">
            <a:solidFill>
              <a:srgbClr val="E6ECF2"/>
            </a:solidFill>
            <a:prstDash val="solid"/>
          </a:ln>
          <a:effectLst>
            <a:outerShdw sx="100000" sy="100000" kx="0" ky="0" algn="bl" rotWithShape="0" blurRad="114300" dist="25400" dir="5400000">
              <a:srgbClr val="9FB0C0">
                <a:alpha val="22000"/>
              </a:srgbClr>
            </a:outerShdw>
          </a:effectLst>
        </p:spPr>
      </p:sp>
      <p:sp>
        <p:nvSpPr>
          <p:cNvPr id="11" name="Shape 8"/>
          <p:cNvSpPr/>
          <p:nvPr/>
        </p:nvSpPr>
        <p:spPr>
          <a:xfrm>
            <a:off x="548640" y="1481328"/>
            <a:ext cx="3520440" cy="128016"/>
          </a:xfrm>
          <a:prstGeom prst="roundRect">
            <a:avLst>
              <a:gd name="adj" fmla="val 21429"/>
            </a:avLst>
          </a:prstGeom>
          <a:solidFill>
            <a:srgbClr val="1C7293"/>
          </a:solidFill>
          <a:ln w="12700">
            <a:solidFill>
              <a:srgbClr val="333333"/>
            </a:solidFill>
            <a:prstDash val="solid"/>
          </a:ln>
        </p:spPr>
      </p:sp>
      <p:sp>
        <p:nvSpPr>
          <p:cNvPr id="12" name="Shape 9"/>
          <p:cNvSpPr/>
          <p:nvPr/>
        </p:nvSpPr>
        <p:spPr>
          <a:xfrm>
            <a:off x="822960" y="1865376"/>
            <a:ext cx="566928" cy="566928"/>
          </a:xfrm>
          <a:prstGeom prst="ellipse">
            <a:avLst/>
          </a:prstGeom>
          <a:solidFill>
            <a:srgbClr val="1C7293"/>
          </a:solidFill>
          <a:ln w="12700">
            <a:solidFill>
              <a:srgbClr val="333333"/>
            </a:solidFill>
            <a:prstDash val="solid"/>
          </a:ln>
          <a:effectLst>
            <a:outerShdw sx="100000" sy="100000" kx="0" ky="0" algn="bl" rotWithShape="0" blurRad="63500" dist="12700" dir="5400000">
              <a:srgbClr val="1C7293">
                <a:alpha val="35000"/>
              </a:srgbClr>
            </a:outerShdw>
          </a:effectLst>
        </p:spPr>
      </p:sp>
      <p:sp>
        <p:nvSpPr>
          <p:cNvPr id="13" name="Text 10"/>
          <p:cNvSpPr/>
          <p:nvPr/>
        </p:nvSpPr>
        <p:spPr>
          <a:xfrm>
            <a:off x="822960" y="1865376"/>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Text 11"/>
          <p:cNvSpPr/>
          <p:nvPr/>
        </p:nvSpPr>
        <p:spPr>
          <a:xfrm>
            <a:off x="822960" y="2688336"/>
            <a:ext cx="3017520" cy="457200"/>
          </a:xfrm>
          <a:prstGeom prst="rect">
            <a:avLst/>
          </a:prstGeom>
          <a:noFill/>
          <a:ln/>
        </p:spPr>
        <p:txBody>
          <a:bodyPr wrap="square" lIns="0" tIns="0" rIns="0" bIns="0" rtlCol="0" anchor="ctr"/>
          <a:lstStyle/>
          <a:p>
            <a:pPr indent="0" marL="0">
              <a:buNone/>
            </a:pPr>
            <a:r>
              <a:rPr lang="en-US" sz="1900" b="1" dirty="0">
                <a:solidFill>
                  <a:srgbClr val="1C7293"/>
                </a:solidFill>
                <a:latin typeface="Cambria" pitchFamily="34" charset="0"/>
                <a:ea typeface="Cambria" pitchFamily="34" charset="-122"/>
                <a:cs typeface="Cambria" pitchFamily="34" charset="-120"/>
              </a:rPr>
              <a:t>Trích xuất</a:t>
            </a:r>
            <a:endParaRPr lang="en-US" sz="1900" dirty="0"/>
          </a:p>
        </p:txBody>
      </p:sp>
      <p:sp>
        <p:nvSpPr>
          <p:cNvPr id="15" name="Text 12"/>
          <p:cNvSpPr/>
          <p:nvPr/>
        </p:nvSpPr>
        <p:spPr>
          <a:xfrm>
            <a:off x="822960" y="3255264"/>
            <a:ext cx="3017520" cy="1737360"/>
          </a:xfrm>
          <a:prstGeom prst="rect">
            <a:avLst/>
          </a:prstGeom>
          <a:noFill/>
          <a:ln/>
        </p:spPr>
        <p:txBody>
          <a:bodyPr wrap="square" lIns="0" tIns="0" rIns="0" bIns="0" rtlCol="0" anchor="t"/>
          <a:lstStyle/>
          <a:p>
            <a:pPr indent="0" marL="0">
              <a:lnSpc>
                <a:spcPct val="118000"/>
              </a:lnSpc>
              <a:buNone/>
            </a:pPr>
            <a:r>
              <a:rPr lang="en-US" sz="1500" dirty="0">
                <a:solidFill>
                  <a:srgbClr val="1A2430"/>
                </a:solidFill>
                <a:latin typeface="Calibri" pitchFamily="34" charset="0"/>
                <a:ea typeface="Calibri" pitchFamily="34" charset="-122"/>
                <a:cs typeface="Calibri" pitchFamily="34" charset="-120"/>
              </a:rPr>
              <a:t>Đọc lại toàn bộ con số notebook đã in, cố định thành bảng CSV chuẩn. Không nhập tay số nào.</a:t>
            </a:r>
            <a:endParaRPr lang="en-US" sz="1500" dirty="0"/>
          </a:p>
        </p:txBody>
      </p:sp>
      <p:sp>
        <p:nvSpPr>
          <p:cNvPr id="16" name="Shape 13"/>
          <p:cNvSpPr/>
          <p:nvPr/>
        </p:nvSpPr>
        <p:spPr>
          <a:xfrm>
            <a:off x="4297680" y="1481328"/>
            <a:ext cx="3520440" cy="3749040"/>
          </a:xfrm>
          <a:prstGeom prst="roundRect">
            <a:avLst>
              <a:gd name="adj" fmla="val 2597"/>
            </a:avLst>
          </a:prstGeom>
          <a:solidFill>
            <a:srgbClr val="F4F7FA"/>
          </a:solidFill>
          <a:ln w="12700">
            <a:solidFill>
              <a:srgbClr val="E6ECF2"/>
            </a:solidFill>
            <a:prstDash val="solid"/>
          </a:ln>
          <a:effectLst>
            <a:outerShdw sx="100000" sy="100000" kx="0" ky="0" algn="bl" rotWithShape="0" blurRad="114300" dist="25400" dir="5400000">
              <a:srgbClr val="9FB0C0">
                <a:alpha val="22000"/>
              </a:srgbClr>
            </a:outerShdw>
          </a:effectLst>
        </p:spPr>
      </p:sp>
      <p:sp>
        <p:nvSpPr>
          <p:cNvPr id="17" name="Shape 14"/>
          <p:cNvSpPr/>
          <p:nvPr/>
        </p:nvSpPr>
        <p:spPr>
          <a:xfrm>
            <a:off x="4297680" y="1481328"/>
            <a:ext cx="3520440" cy="128016"/>
          </a:xfrm>
          <a:prstGeom prst="roundRect">
            <a:avLst>
              <a:gd name="adj" fmla="val 21429"/>
            </a:avLst>
          </a:prstGeom>
          <a:solidFill>
            <a:srgbClr val="1E5F8C"/>
          </a:solidFill>
          <a:ln w="12700">
            <a:solidFill>
              <a:srgbClr val="333333"/>
            </a:solidFill>
            <a:prstDash val="solid"/>
          </a:ln>
        </p:spPr>
      </p:sp>
      <p:sp>
        <p:nvSpPr>
          <p:cNvPr id="18" name="Shape 15"/>
          <p:cNvSpPr/>
          <p:nvPr/>
        </p:nvSpPr>
        <p:spPr>
          <a:xfrm>
            <a:off x="4572000" y="1865376"/>
            <a:ext cx="566928" cy="566928"/>
          </a:xfrm>
          <a:prstGeom prst="ellipse">
            <a:avLst/>
          </a:prstGeom>
          <a:solidFill>
            <a:srgbClr val="1E5F8C"/>
          </a:solidFill>
          <a:ln w="12700">
            <a:solidFill>
              <a:srgbClr val="333333"/>
            </a:solidFill>
            <a:prstDash val="solid"/>
          </a:ln>
          <a:effectLst>
            <a:outerShdw sx="100000" sy="100000" kx="0" ky="0" algn="bl" rotWithShape="0" blurRad="63500" dist="12700" dir="5400000">
              <a:srgbClr val="1E5F8C">
                <a:alpha val="35000"/>
              </a:srgbClr>
            </a:outerShdw>
          </a:effectLst>
        </p:spPr>
      </p:sp>
      <p:sp>
        <p:nvSpPr>
          <p:cNvPr id="19" name="Text 16"/>
          <p:cNvSpPr/>
          <p:nvPr/>
        </p:nvSpPr>
        <p:spPr>
          <a:xfrm>
            <a:off x="4572000" y="1865376"/>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Text 17"/>
          <p:cNvSpPr/>
          <p:nvPr/>
        </p:nvSpPr>
        <p:spPr>
          <a:xfrm>
            <a:off x="4572000" y="2688336"/>
            <a:ext cx="3017520" cy="457200"/>
          </a:xfrm>
          <a:prstGeom prst="rect">
            <a:avLst/>
          </a:prstGeom>
          <a:noFill/>
          <a:ln/>
        </p:spPr>
        <p:txBody>
          <a:bodyPr wrap="square" lIns="0" tIns="0" rIns="0" bIns="0" rtlCol="0" anchor="ctr"/>
          <a:lstStyle/>
          <a:p>
            <a:pPr indent="0" marL="0">
              <a:buNone/>
            </a:pPr>
            <a:r>
              <a:rPr lang="en-US" sz="1900" b="1" dirty="0">
                <a:solidFill>
                  <a:srgbClr val="1E5F8C"/>
                </a:solidFill>
                <a:latin typeface="Cambria" pitchFamily="34" charset="0"/>
                <a:ea typeface="Cambria" pitchFamily="34" charset="-122"/>
                <a:cs typeface="Cambria" pitchFamily="34" charset="-120"/>
              </a:rPr>
              <a:t>Kiểm định</a:t>
            </a:r>
            <a:endParaRPr lang="en-US" sz="1900" dirty="0"/>
          </a:p>
        </p:txBody>
      </p:sp>
      <p:sp>
        <p:nvSpPr>
          <p:cNvPr id="21" name="Text 18"/>
          <p:cNvSpPr/>
          <p:nvPr/>
        </p:nvSpPr>
        <p:spPr>
          <a:xfrm>
            <a:off x="4572000" y="3255264"/>
            <a:ext cx="3017520" cy="1737360"/>
          </a:xfrm>
          <a:prstGeom prst="rect">
            <a:avLst/>
          </a:prstGeom>
          <a:noFill/>
          <a:ln/>
        </p:spPr>
        <p:txBody>
          <a:bodyPr wrap="square" lIns="0" tIns="0" rIns="0" bIns="0" rtlCol="0" anchor="t"/>
          <a:lstStyle/>
          <a:p>
            <a:pPr indent="0" marL="0">
              <a:lnSpc>
                <a:spcPct val="118000"/>
              </a:lnSpc>
              <a:buNone/>
            </a:pPr>
            <a:r>
              <a:rPr lang="en-US" sz="1500" dirty="0">
                <a:solidFill>
                  <a:srgbClr val="1A2430"/>
                </a:solidFill>
                <a:latin typeface="Calibri" pitchFamily="34" charset="0"/>
                <a:ea typeface="Calibri" pitchFamily="34" charset="-122"/>
                <a:cs typeface="Calibri" pitchFamily="34" charset="-120"/>
              </a:rPr>
              <a:t>Phơi nhiễm rò rỉ; so đèn–biển bằng Mann–Whitney; tương quan độ hiếm–hiệu năng bằng Spearman.</a:t>
            </a:r>
            <a:endParaRPr lang="en-US" sz="1500" dirty="0"/>
          </a:p>
        </p:txBody>
      </p:sp>
      <p:sp>
        <p:nvSpPr>
          <p:cNvPr id="22" name="Shape 19"/>
          <p:cNvSpPr/>
          <p:nvPr/>
        </p:nvSpPr>
        <p:spPr>
          <a:xfrm>
            <a:off x="8046720" y="1481328"/>
            <a:ext cx="3520440" cy="3749040"/>
          </a:xfrm>
          <a:prstGeom prst="roundRect">
            <a:avLst>
              <a:gd name="adj" fmla="val 2597"/>
            </a:avLst>
          </a:prstGeom>
          <a:solidFill>
            <a:srgbClr val="F4F7FA"/>
          </a:solidFill>
          <a:ln w="12700">
            <a:solidFill>
              <a:srgbClr val="E6ECF2"/>
            </a:solidFill>
            <a:prstDash val="solid"/>
          </a:ln>
          <a:effectLst>
            <a:outerShdw sx="100000" sy="100000" kx="0" ky="0" algn="bl" rotWithShape="0" blurRad="114300" dist="25400" dir="5400000">
              <a:srgbClr val="9FB0C0">
                <a:alpha val="22000"/>
              </a:srgbClr>
            </a:outerShdw>
          </a:effectLst>
        </p:spPr>
      </p:sp>
      <p:sp>
        <p:nvSpPr>
          <p:cNvPr id="23" name="Shape 20"/>
          <p:cNvSpPr/>
          <p:nvPr/>
        </p:nvSpPr>
        <p:spPr>
          <a:xfrm>
            <a:off x="8046720" y="1481328"/>
            <a:ext cx="3520440" cy="128016"/>
          </a:xfrm>
          <a:prstGeom prst="roundRect">
            <a:avLst>
              <a:gd name="adj" fmla="val 21429"/>
            </a:avLst>
          </a:prstGeom>
          <a:solidFill>
            <a:srgbClr val="E63946"/>
          </a:solidFill>
          <a:ln w="12700">
            <a:solidFill>
              <a:srgbClr val="333333"/>
            </a:solidFill>
            <a:prstDash val="solid"/>
          </a:ln>
        </p:spPr>
      </p:sp>
      <p:sp>
        <p:nvSpPr>
          <p:cNvPr id="24" name="Shape 21"/>
          <p:cNvSpPr/>
          <p:nvPr/>
        </p:nvSpPr>
        <p:spPr>
          <a:xfrm>
            <a:off x="8321040" y="1865376"/>
            <a:ext cx="566928" cy="566928"/>
          </a:xfrm>
          <a:prstGeom prst="ellipse">
            <a:avLst/>
          </a:prstGeom>
          <a:solidFill>
            <a:srgbClr val="E63946"/>
          </a:solidFill>
          <a:ln w="12700">
            <a:solidFill>
              <a:srgbClr val="333333"/>
            </a:solidFill>
            <a:prstDash val="solid"/>
          </a:ln>
          <a:effectLst>
            <a:outerShdw sx="100000" sy="100000" kx="0" ky="0" algn="bl" rotWithShape="0" blurRad="63500" dist="12700" dir="5400000">
              <a:srgbClr val="E63946">
                <a:alpha val="35000"/>
              </a:srgbClr>
            </a:outerShdw>
          </a:effectLst>
        </p:spPr>
      </p:sp>
      <p:sp>
        <p:nvSpPr>
          <p:cNvPr id="25" name="Text 22"/>
          <p:cNvSpPr/>
          <p:nvPr/>
        </p:nvSpPr>
        <p:spPr>
          <a:xfrm>
            <a:off x="8321040" y="1865376"/>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6" name="Text 23"/>
          <p:cNvSpPr/>
          <p:nvPr/>
        </p:nvSpPr>
        <p:spPr>
          <a:xfrm>
            <a:off x="8321040" y="2688336"/>
            <a:ext cx="3017520" cy="457200"/>
          </a:xfrm>
          <a:prstGeom prst="rect">
            <a:avLst/>
          </a:prstGeom>
          <a:noFill/>
          <a:ln/>
        </p:spPr>
        <p:txBody>
          <a:bodyPr wrap="square" lIns="0" tIns="0" rIns="0" bIns="0" rtlCol="0" anchor="ctr"/>
          <a:lstStyle/>
          <a:p>
            <a:pPr indent="0" marL="0">
              <a:buNone/>
            </a:pPr>
            <a:r>
              <a:rPr lang="en-US" sz="1900" b="1" dirty="0">
                <a:solidFill>
                  <a:srgbClr val="E63946"/>
                </a:solidFill>
                <a:latin typeface="Cambria" pitchFamily="34" charset="0"/>
                <a:ea typeface="Cambria" pitchFamily="34" charset="-122"/>
                <a:cs typeface="Cambria" pitchFamily="34" charset="-120"/>
              </a:rPr>
              <a:t>Trực quan hoá</a:t>
            </a:r>
            <a:endParaRPr lang="en-US" sz="1900" dirty="0"/>
          </a:p>
        </p:txBody>
      </p:sp>
      <p:sp>
        <p:nvSpPr>
          <p:cNvPr id="27" name="Text 24"/>
          <p:cNvSpPr/>
          <p:nvPr/>
        </p:nvSpPr>
        <p:spPr>
          <a:xfrm>
            <a:off x="8321040" y="3255264"/>
            <a:ext cx="3017520" cy="1737360"/>
          </a:xfrm>
          <a:prstGeom prst="rect">
            <a:avLst/>
          </a:prstGeom>
          <a:noFill/>
          <a:ln/>
        </p:spPr>
        <p:txBody>
          <a:bodyPr wrap="square" lIns="0" tIns="0" rIns="0" bIns="0" rtlCol="0" anchor="t"/>
          <a:lstStyle/>
          <a:p>
            <a:pPr indent="0" marL="0">
              <a:lnSpc>
                <a:spcPct val="118000"/>
              </a:lnSpc>
              <a:buNone/>
            </a:pPr>
            <a:r>
              <a:rPr lang="en-US" sz="1500" dirty="0">
                <a:solidFill>
                  <a:srgbClr val="1A2430"/>
                </a:solidFill>
                <a:latin typeface="Calibri" pitchFamily="34" charset="0"/>
                <a:ea typeface="Calibri" pitchFamily="34" charset="-122"/>
                <a:cs typeface="Calibri" pitchFamily="34" charset="-120"/>
              </a:rPr>
              <a:t>Sinh hình từ bảng đã trích; đưa vào app, báo cáo và slide.</a:t>
            </a:r>
            <a:endParaRPr lang="en-US" sz="1500" dirty="0"/>
          </a:p>
        </p:txBody>
      </p:sp>
      <p:sp>
        <p:nvSpPr>
          <p:cNvPr id="28" name="Shape 25"/>
          <p:cNvSpPr/>
          <p:nvPr/>
        </p:nvSpPr>
        <p:spPr>
          <a:xfrm>
            <a:off x="548640" y="5504688"/>
            <a:ext cx="11064240" cy="896112"/>
          </a:xfrm>
          <a:prstGeom prst="roundRect">
            <a:avLst>
              <a:gd name="adj" fmla="val 10204"/>
            </a:avLst>
          </a:prstGeom>
          <a:solidFill>
            <a:srgbClr val="1C7293"/>
          </a:solidFill>
          <a:ln w="12700">
            <a:solidFill>
              <a:srgbClr val="333333"/>
            </a:solidFill>
            <a:prstDash val="solid"/>
          </a:ln>
          <a:effectLst>
            <a:outerShdw sx="100000" sy="100000" kx="0" ky="0" algn="bl" rotWithShape="0" blurRad="101600" dist="25400" dir="5400000">
              <a:srgbClr val="6E7C8A">
                <a:alpha val="30000"/>
              </a:srgbClr>
            </a:outerShdw>
          </a:effectLst>
        </p:spPr>
      </p:sp>
      <p:sp>
        <p:nvSpPr>
          <p:cNvPr id="29" name="Shape 26"/>
          <p:cNvSpPr/>
          <p:nvPr/>
        </p:nvSpPr>
        <p:spPr>
          <a:xfrm>
            <a:off x="804672" y="5870448"/>
            <a:ext cx="164592" cy="164592"/>
          </a:xfrm>
          <a:prstGeom prst="ellipse">
            <a:avLst/>
          </a:prstGeom>
          <a:solidFill>
            <a:srgbClr val="F4A261"/>
          </a:solidFill>
          <a:ln w="12700">
            <a:solidFill>
              <a:srgbClr val="333333"/>
            </a:solidFill>
            <a:prstDash val="solid"/>
          </a:ln>
        </p:spPr>
      </p:sp>
      <p:sp>
        <p:nvSpPr>
          <p:cNvPr id="30" name="Text 27"/>
          <p:cNvSpPr/>
          <p:nvPr/>
        </p:nvSpPr>
        <p:spPr>
          <a:xfrm>
            <a:off x="1133856" y="5577840"/>
            <a:ext cx="10222992" cy="749808"/>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Cố định seed = 42 · kiểm thử tự động pytest 6/6 đạt · số liệu gốc từ GPU Tesla T4 — mọi số liệu tái lập và truy vết được.</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10789920" y="-1234440"/>
            <a:ext cx="2743200" cy="2743200"/>
          </a:xfrm>
          <a:prstGeom prst="ellipse">
            <a:avLst/>
          </a:prstGeom>
          <a:solidFill>
            <a:srgbClr val="EAF1F6"/>
          </a:solidFill>
          <a:ln w="12700">
            <a:solidFill>
              <a:srgbClr val="333333"/>
            </a:solidFill>
            <a:prstDash val="solid"/>
          </a:ln>
        </p:spPr>
      </p:sp>
      <p:sp>
        <p:nvSpPr>
          <p:cNvPr id="4" name="Shape 1"/>
          <p:cNvSpPr/>
          <p:nvPr/>
        </p:nvSpPr>
        <p:spPr>
          <a:xfrm>
            <a:off x="11475720" y="182880"/>
            <a:ext cx="822960" cy="822960"/>
          </a:xfrm>
          <a:prstGeom prst="ellipse">
            <a:avLst/>
          </a:prstGeom>
          <a:solidFill>
            <a:srgbClr val="DCE8F0"/>
          </a:solidFill>
          <a:ln w="12700">
            <a:solidFill>
              <a:srgbClr val="333333"/>
            </a:solidFill>
            <a:prstDash val="solid"/>
          </a:ln>
        </p:spPr>
      </p:sp>
      <p:sp>
        <p:nvSpPr>
          <p:cNvPr id="5" name="Shape 2"/>
          <p:cNvSpPr/>
          <p:nvPr/>
        </p:nvSpPr>
        <p:spPr>
          <a:xfrm>
            <a:off x="548640" y="6382512"/>
            <a:ext cx="11064240" cy="0"/>
          </a:xfrm>
          <a:prstGeom prst="line">
            <a:avLst/>
          </a:prstGeom>
          <a:noFill/>
          <a:ln w="12700">
            <a:solidFill>
              <a:srgbClr val="DDE3EA"/>
            </a:solidFill>
            <a:prstDash val="solid"/>
          </a:ln>
        </p:spPr>
      </p:sp>
      <p:sp>
        <p:nvSpPr>
          <p:cNvPr id="6" name="Text 3"/>
          <p:cNvSpPr/>
          <p:nvPr/>
        </p:nvSpPr>
        <p:spPr>
          <a:xfrm>
            <a:off x="548640" y="6419088"/>
            <a:ext cx="8686800" cy="274320"/>
          </a:xfrm>
          <a:prstGeom prst="rect">
            <a:avLst/>
          </a:prstGeom>
          <a:noFill/>
          <a:ln/>
        </p:spPr>
        <p:txBody>
          <a:bodyPr wrap="square" lIns="0" tIns="0" rIns="0" bIns="0" rtlCol="0" anchor="ctr"/>
          <a:lstStyle/>
          <a:p>
            <a:pPr indent="0" marL="0">
              <a:buNone/>
            </a:pPr>
            <a:r>
              <a:rPr lang="en-US" sz="900" dirty="0">
                <a:solidFill>
                  <a:srgbClr val="9AA7B4"/>
                </a:solidFill>
                <a:latin typeface="Calibri" pitchFamily="34" charset="0"/>
                <a:ea typeface="Calibri" pitchFamily="34" charset="-122"/>
                <a:cs typeface="Calibri" pitchFamily="34" charset="-120"/>
              </a:rPr>
              <a:t>Kiểm định độ tin cậy YOLOv8 · Nhóm KHMT836016/34/36</a:t>
            </a:r>
            <a:endParaRPr lang="en-US" sz="900" dirty="0"/>
          </a:p>
        </p:txBody>
      </p:sp>
      <p:sp>
        <p:nvSpPr>
          <p:cNvPr id="7" name="Text 4"/>
          <p:cNvSpPr/>
          <p:nvPr/>
        </p:nvSpPr>
        <p:spPr>
          <a:xfrm>
            <a:off x="11064240" y="6419088"/>
            <a:ext cx="548640" cy="274320"/>
          </a:xfrm>
          <a:prstGeom prst="rect">
            <a:avLst/>
          </a:prstGeom>
          <a:noFill/>
          <a:ln/>
        </p:spPr>
        <p:txBody>
          <a:bodyPr wrap="square" lIns="0" tIns="0" rIns="0" bIns="0" rtlCol="0" anchor="ctr"/>
          <a:lstStyle/>
          <a:p>
            <a:pPr algn="r" indent="0" marL="0">
              <a:buNone/>
            </a:pPr>
            <a:r>
              <a:rPr lang="en-US" sz="1000" b="1" dirty="0">
                <a:solidFill>
                  <a:srgbClr val="1C7293"/>
                </a:solidFill>
                <a:latin typeface="Calibri" pitchFamily="34" charset="0"/>
                <a:ea typeface="Calibri" pitchFamily="34" charset="-122"/>
                <a:cs typeface="Calibri" pitchFamily="34" charset="-120"/>
              </a:rPr>
              <a:t>18</a:t>
            </a:r>
            <a:endParaRPr lang="en-US" sz="1000" dirty="0"/>
          </a:p>
        </p:txBody>
      </p:sp>
      <p:sp>
        <p:nvSpPr>
          <p:cNvPr id="8" name="Shape 5"/>
          <p:cNvSpPr/>
          <p:nvPr/>
        </p:nvSpPr>
        <p:spPr>
          <a:xfrm>
            <a:off x="548640" y="457200"/>
            <a:ext cx="155448" cy="457200"/>
          </a:xfrm>
          <a:prstGeom prst="roundRect">
            <a:avLst>
              <a:gd name="adj" fmla="val 17647"/>
            </a:avLst>
          </a:prstGeom>
          <a:solidFill>
            <a:srgbClr val="1C7293"/>
          </a:solidFill>
          <a:ln w="12700">
            <a:solidFill>
              <a:srgbClr val="333333"/>
            </a:solidFill>
            <a:prstDash val="solid"/>
          </a:ln>
        </p:spPr>
      </p:sp>
      <p:sp>
        <p:nvSpPr>
          <p:cNvPr id="9" name="Text 6"/>
          <p:cNvSpPr/>
          <p:nvPr/>
        </p:nvSpPr>
        <p:spPr>
          <a:xfrm>
            <a:off x="877824" y="365760"/>
            <a:ext cx="10735056" cy="713232"/>
          </a:xfrm>
          <a:prstGeom prst="rect">
            <a:avLst/>
          </a:prstGeom>
          <a:noFill/>
          <a:ln/>
        </p:spPr>
        <p:txBody>
          <a:bodyPr wrap="square" lIns="0" tIns="0" rIns="0" bIns="0" rtlCol="0" anchor="ctr"/>
          <a:lstStyle/>
          <a:p>
            <a:pPr indent="0" marL="0">
              <a:buNone/>
            </a:pPr>
            <a:r>
              <a:rPr lang="en-US" sz="2900" b="1" dirty="0">
                <a:solidFill>
                  <a:srgbClr val="1A2430"/>
                </a:solidFill>
                <a:latin typeface="Cambria" pitchFamily="34" charset="0"/>
                <a:ea typeface="Cambria" pitchFamily="34" charset="-122"/>
                <a:cs typeface="Cambria" pitchFamily="34" charset="-120"/>
              </a:rPr>
              <a:t>Nguyên tắc: minh bạch và tái lập</a:t>
            </a:r>
            <a:endParaRPr lang="en-US" sz="2900" dirty="0"/>
          </a:p>
        </p:txBody>
      </p:sp>
      <p:sp>
        <p:nvSpPr>
          <p:cNvPr id="10" name="Shape 7"/>
          <p:cNvSpPr/>
          <p:nvPr/>
        </p:nvSpPr>
        <p:spPr>
          <a:xfrm>
            <a:off x="548640" y="1481328"/>
            <a:ext cx="11064240" cy="3593592"/>
          </a:xfrm>
          <a:prstGeom prst="roundRect">
            <a:avLst>
              <a:gd name="adj" fmla="val 2545"/>
            </a:avLst>
          </a:prstGeom>
          <a:solidFill>
            <a:srgbClr val="F7FAFC"/>
          </a:solidFill>
          <a:ln w="12700">
            <a:solidFill>
              <a:srgbClr val="E6ECF2"/>
            </a:solidFill>
            <a:prstDash val="solid"/>
          </a:ln>
          <a:effectLst>
            <a:outerShdw sx="100000" sy="100000" kx="0" ky="0" algn="bl" rotWithShape="0" blurRad="114300" dist="25400" dir="5400000">
              <a:srgbClr val="9FB0C0">
                <a:alpha val="22000"/>
              </a:srgbClr>
            </a:outerShdw>
          </a:effectLst>
        </p:spPr>
      </p:sp>
      <p:sp>
        <p:nvSpPr>
          <p:cNvPr id="11" name="Shape 8"/>
          <p:cNvSpPr/>
          <p:nvPr/>
        </p:nvSpPr>
        <p:spPr>
          <a:xfrm>
            <a:off x="713232" y="1682496"/>
            <a:ext cx="82296" cy="3191256"/>
          </a:xfrm>
          <a:prstGeom prst="roundRect">
            <a:avLst>
              <a:gd name="adj" fmla="val 44444"/>
            </a:avLst>
          </a:prstGeom>
          <a:solidFill>
            <a:srgbClr val="1C7293"/>
          </a:solidFill>
          <a:ln w="12700">
            <a:solidFill>
              <a:srgbClr val="333333"/>
            </a:solidFill>
            <a:prstDash val="solid"/>
          </a:ln>
        </p:spPr>
      </p:sp>
      <p:sp>
        <p:nvSpPr>
          <p:cNvPr id="12" name="Text 9"/>
          <p:cNvSpPr/>
          <p:nvPr/>
        </p:nvSpPr>
        <p:spPr>
          <a:xfrm>
            <a:off x="1115568" y="1572768"/>
            <a:ext cx="10195560" cy="3410712"/>
          </a:xfrm>
          <a:prstGeom prst="rect">
            <a:avLst/>
          </a:prstGeom>
          <a:noFill/>
          <a:ln/>
        </p:spPr>
        <p:txBody>
          <a:bodyPr wrap="square" lIns="0" tIns="0" rIns="0" bIns="0" rtlCol="0" anchor="ctr"/>
          <a:lstStyle/>
          <a:p>
            <a:pPr marL="228600" indent="-228600">
              <a:lnSpc>
                <a:spcPct val="108000"/>
              </a:lnSpc>
              <a:spcAft>
                <a:spcPts val="1400"/>
              </a:spcAft>
              <a:buSzPct val="100000"/>
              <a:buChar char="•"/>
            </a:pPr>
            <a:r>
              <a:rPr lang="en-US" sz="1650" dirty="0">
                <a:solidFill>
                  <a:srgbClr val="1A2430"/>
                </a:solidFill>
                <a:latin typeface="Calibri" pitchFamily="34" charset="0"/>
                <a:ea typeface="Calibri" pitchFamily="34" charset="-122"/>
                <a:cs typeface="Calibri" pitchFamily="34" charset="-120"/>
              </a:rPr>
              <a:t>Mọi bảng trong báo cáo ghi rõ tệp CSV nguồn; mọi CSV là đầu ra của một mô-đun src/.</a:t>
            </a:r>
            <a:endParaRPr lang="en-US" sz="1650" dirty="0"/>
          </a:p>
          <a:p>
            <a:pPr marL="228600" indent="-228600">
              <a:lnSpc>
                <a:spcPct val="108000"/>
              </a:lnSpc>
              <a:spcAft>
                <a:spcPts val="1400"/>
              </a:spcAft>
              <a:buSzPct val="100000"/>
              <a:buChar char="•"/>
            </a:pPr>
            <a:r>
              <a:rPr lang="en-US" sz="1650" dirty="0">
                <a:solidFill>
                  <a:srgbClr val="1A2430"/>
                </a:solidFill>
                <a:latin typeface="Calibri" pitchFamily="34" charset="0"/>
                <a:ea typeface="Calibri" pitchFamily="34" charset="-122"/>
                <a:cs typeface="Calibri" pitchFamily="34" charset="-120"/>
              </a:rPr>
              <a:t>Không có con số nào nhập tay — chạy lại pipeline sẽ tạo lại y hệt.</a:t>
            </a:r>
            <a:endParaRPr lang="en-US" sz="1650" dirty="0"/>
          </a:p>
          <a:p>
            <a:pPr marL="228600" indent="-228600">
              <a:lnSpc>
                <a:spcPct val="108000"/>
              </a:lnSpc>
              <a:spcAft>
                <a:spcPts val="1400"/>
              </a:spcAft>
              <a:buSzPct val="100000"/>
              <a:buChar char="•"/>
            </a:pPr>
            <a:r>
              <a:rPr lang="en-US" sz="1650" dirty="0">
                <a:solidFill>
                  <a:srgbClr val="1A2430"/>
                </a:solidFill>
                <a:latin typeface="Calibri" pitchFamily="34" charset="0"/>
                <a:ea typeface="Calibri" pitchFamily="34" charset="-122"/>
                <a:cs typeface="Calibri" pitchFamily="34" charset="-120"/>
              </a:rPr>
              <a:t>Đã đối chiếu 15 chỉ số chính khớp nhau giữa Word, LaTeX và slide.</a:t>
            </a:r>
            <a:endParaRPr lang="en-US" sz="1650" dirty="0"/>
          </a:p>
          <a:p>
            <a:pPr marL="228600" indent="-228600">
              <a:lnSpc>
                <a:spcPct val="108000"/>
              </a:lnSpc>
              <a:spcAft>
                <a:spcPts val="1400"/>
              </a:spcAft>
              <a:buSzPct val="100000"/>
              <a:buChar char="•"/>
            </a:pPr>
            <a:r>
              <a:rPr lang="en-US" sz="1650" dirty="0">
                <a:solidFill>
                  <a:srgbClr val="1A2430"/>
                </a:solidFill>
                <a:latin typeface="Calibri" pitchFamily="34" charset="0"/>
                <a:ea typeface="Calibri" pitchFamily="34" charset="-122"/>
                <a:cs typeface="Calibri" pitchFamily="34" charset="-120"/>
              </a:rPr>
              <a:t>Kiểm thử tự động (pytest) kiểm tra: bảng đúng 15 lớp, mAP khớp notebook, khoảng cách đèn–biển có ý nghĩa, rò rỉ đúng số.</a:t>
            </a:r>
            <a:endParaRPr lang="en-US" sz="1650" dirty="0"/>
          </a:p>
        </p:txBody>
      </p:sp>
      <p:sp>
        <p:nvSpPr>
          <p:cNvPr id="13" name="Shape 10"/>
          <p:cNvSpPr/>
          <p:nvPr/>
        </p:nvSpPr>
        <p:spPr>
          <a:xfrm>
            <a:off x="548640" y="5230368"/>
            <a:ext cx="11064240" cy="896112"/>
          </a:xfrm>
          <a:prstGeom prst="roundRect">
            <a:avLst>
              <a:gd name="adj" fmla="val 10204"/>
            </a:avLst>
          </a:prstGeom>
          <a:solidFill>
            <a:srgbClr val="152238"/>
          </a:solidFill>
          <a:ln w="12700">
            <a:solidFill>
              <a:srgbClr val="333333"/>
            </a:solidFill>
            <a:prstDash val="solid"/>
          </a:ln>
          <a:effectLst>
            <a:outerShdw sx="100000" sy="100000" kx="0" ky="0" algn="bl" rotWithShape="0" blurRad="101600" dist="25400" dir="5400000">
              <a:srgbClr val="6E7C8A">
                <a:alpha val="30000"/>
              </a:srgbClr>
            </a:outerShdw>
          </a:effectLst>
        </p:spPr>
      </p:sp>
      <p:sp>
        <p:nvSpPr>
          <p:cNvPr id="14" name="Shape 11"/>
          <p:cNvSpPr/>
          <p:nvPr/>
        </p:nvSpPr>
        <p:spPr>
          <a:xfrm>
            <a:off x="804672" y="5596128"/>
            <a:ext cx="164592" cy="164592"/>
          </a:xfrm>
          <a:prstGeom prst="ellipse">
            <a:avLst/>
          </a:prstGeom>
          <a:solidFill>
            <a:srgbClr val="F4A261"/>
          </a:solidFill>
          <a:ln w="12700">
            <a:solidFill>
              <a:srgbClr val="333333"/>
            </a:solidFill>
            <a:prstDash val="solid"/>
          </a:ln>
        </p:spPr>
      </p:sp>
      <p:sp>
        <p:nvSpPr>
          <p:cNvPr id="15" name="Text 12"/>
          <p:cNvSpPr/>
          <p:nvPr/>
        </p:nvSpPr>
        <p:spPr>
          <a:xfrm>
            <a:off x="1133856" y="5303520"/>
            <a:ext cx="10222992" cy="749808"/>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Tinh thần khoa học: một con số chỉ đáng tin khi tái lập được và truy vết được về nguồn.</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52238"/>
        </a:solidFill>
      </p:bgPr>
    </p:bg>
    <p:spTree>
      <p:nvGrpSpPr>
        <p:cNvPr id="1" name=""/>
        <p:cNvGrpSpPr/>
        <p:nvPr/>
      </p:nvGrpSpPr>
      <p:grpSpPr>
        <a:xfrm>
          <a:off x="0" y="0"/>
          <a:ext cx="0" cy="0"/>
          <a:chOff x="0" y="0"/>
          <a:chExt cx="0" cy="0"/>
        </a:xfrm>
      </p:grpSpPr>
      <p:sp>
        <p:nvSpPr>
          <p:cNvPr id="3" name="Shape 0"/>
          <p:cNvSpPr/>
          <p:nvPr/>
        </p:nvSpPr>
        <p:spPr>
          <a:xfrm>
            <a:off x="548640" y="2286000"/>
            <a:ext cx="749808" cy="749808"/>
          </a:xfrm>
          <a:prstGeom prst="ellipse">
            <a:avLst/>
          </a:prstGeom>
          <a:solidFill>
            <a:srgbClr val="1C7293"/>
          </a:solidFill>
          <a:ln w="12700">
            <a:solidFill>
              <a:srgbClr val="333333"/>
            </a:solidFill>
            <a:prstDash val="solid"/>
          </a:ln>
          <a:effectLst>
            <a:outerShdw sx="100000" sy="100000" kx="0" ky="0" algn="bl" rotWithShape="0" blurRad="63500" dist="12700" dir="5400000">
              <a:srgbClr val="1C7293">
                <a:alpha val="35000"/>
              </a:srgbClr>
            </a:outerShdw>
          </a:effectLst>
        </p:spPr>
      </p:sp>
      <p:sp>
        <p:nvSpPr>
          <p:cNvPr id="4" name="Text 1"/>
          <p:cNvSpPr/>
          <p:nvPr/>
        </p:nvSpPr>
        <p:spPr>
          <a:xfrm>
            <a:off x="548640" y="2286000"/>
            <a:ext cx="749808" cy="74980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5" name="Text 2"/>
          <p:cNvSpPr/>
          <p:nvPr/>
        </p:nvSpPr>
        <p:spPr>
          <a:xfrm>
            <a:off x="548640" y="3200400"/>
            <a:ext cx="11064240" cy="82296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Rò rỉ dữ liệu</a:t>
            </a:r>
            <a:endParaRPr lang="en-US" sz="3800" dirty="0"/>
          </a:p>
        </p:txBody>
      </p:sp>
      <p:sp>
        <p:nvSpPr>
          <p:cNvPr id="6" name="Text 3"/>
          <p:cNvSpPr/>
          <p:nvPr/>
        </p:nvSpPr>
        <p:spPr>
          <a:xfrm>
            <a:off x="548640" y="4041648"/>
            <a:ext cx="9784080" cy="548640"/>
          </a:xfrm>
          <a:prstGeom prst="rect">
            <a:avLst/>
          </a:prstGeom>
          <a:noFill/>
          <a:ln/>
        </p:spPr>
        <p:txBody>
          <a:bodyPr wrap="square" lIns="0" tIns="0" rIns="0" bIns="0" rtlCol="0" anchor="ctr"/>
          <a:lstStyle/>
          <a:p>
            <a:pPr indent="0" marL="0">
              <a:buNone/>
            </a:pPr>
            <a:r>
              <a:rPr lang="en-US" sz="1600" dirty="0">
                <a:solidFill>
                  <a:srgbClr val="9DB2C6"/>
                </a:solidFill>
                <a:latin typeface="Calibri" pitchFamily="34" charset="0"/>
                <a:ea typeface="Calibri" pitchFamily="34" charset="-122"/>
                <a:cs typeface="Calibri" pitchFamily="34" charset="-120"/>
              </a:rPr>
              <a:t>mAP 0,97 đáng tin đến đâu khi tập kiểm thử còn trùng lặp?</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10789920" y="-1234440"/>
            <a:ext cx="2743200" cy="2743200"/>
          </a:xfrm>
          <a:prstGeom prst="ellipse">
            <a:avLst/>
          </a:prstGeom>
          <a:solidFill>
            <a:srgbClr val="EAF1F6"/>
          </a:solidFill>
          <a:ln w="12700">
            <a:solidFill>
              <a:srgbClr val="333333"/>
            </a:solidFill>
            <a:prstDash val="solid"/>
          </a:ln>
        </p:spPr>
      </p:sp>
      <p:sp>
        <p:nvSpPr>
          <p:cNvPr id="4" name="Shape 1"/>
          <p:cNvSpPr/>
          <p:nvPr/>
        </p:nvSpPr>
        <p:spPr>
          <a:xfrm>
            <a:off x="11475720" y="182880"/>
            <a:ext cx="822960" cy="822960"/>
          </a:xfrm>
          <a:prstGeom prst="ellipse">
            <a:avLst/>
          </a:prstGeom>
          <a:solidFill>
            <a:srgbClr val="DCE8F0"/>
          </a:solidFill>
          <a:ln w="12700">
            <a:solidFill>
              <a:srgbClr val="333333"/>
            </a:solidFill>
            <a:prstDash val="solid"/>
          </a:ln>
        </p:spPr>
      </p:sp>
      <p:sp>
        <p:nvSpPr>
          <p:cNvPr id="5" name="Shape 2"/>
          <p:cNvSpPr/>
          <p:nvPr/>
        </p:nvSpPr>
        <p:spPr>
          <a:xfrm>
            <a:off x="548640" y="6382512"/>
            <a:ext cx="11064240" cy="0"/>
          </a:xfrm>
          <a:prstGeom prst="line">
            <a:avLst/>
          </a:prstGeom>
          <a:noFill/>
          <a:ln w="12700">
            <a:solidFill>
              <a:srgbClr val="DDE3EA"/>
            </a:solidFill>
            <a:prstDash val="solid"/>
          </a:ln>
        </p:spPr>
      </p:sp>
      <p:sp>
        <p:nvSpPr>
          <p:cNvPr id="6" name="Text 3"/>
          <p:cNvSpPr/>
          <p:nvPr/>
        </p:nvSpPr>
        <p:spPr>
          <a:xfrm>
            <a:off x="548640" y="6419088"/>
            <a:ext cx="8686800" cy="274320"/>
          </a:xfrm>
          <a:prstGeom prst="rect">
            <a:avLst/>
          </a:prstGeom>
          <a:noFill/>
          <a:ln/>
        </p:spPr>
        <p:txBody>
          <a:bodyPr wrap="square" lIns="0" tIns="0" rIns="0" bIns="0" rtlCol="0" anchor="ctr"/>
          <a:lstStyle/>
          <a:p>
            <a:pPr indent="0" marL="0">
              <a:buNone/>
            </a:pPr>
            <a:r>
              <a:rPr lang="en-US" sz="900" dirty="0">
                <a:solidFill>
                  <a:srgbClr val="9AA7B4"/>
                </a:solidFill>
                <a:latin typeface="Calibri" pitchFamily="34" charset="0"/>
                <a:ea typeface="Calibri" pitchFamily="34" charset="-122"/>
                <a:cs typeface="Calibri" pitchFamily="34" charset="-120"/>
              </a:rPr>
              <a:t>Kiểm định độ tin cậy YOLOv8 · Nhóm KHMT836016/34/36</a:t>
            </a:r>
            <a:endParaRPr lang="en-US" sz="900" dirty="0"/>
          </a:p>
        </p:txBody>
      </p:sp>
      <p:sp>
        <p:nvSpPr>
          <p:cNvPr id="7" name="Text 4"/>
          <p:cNvSpPr/>
          <p:nvPr/>
        </p:nvSpPr>
        <p:spPr>
          <a:xfrm>
            <a:off x="11064240" y="6419088"/>
            <a:ext cx="548640" cy="274320"/>
          </a:xfrm>
          <a:prstGeom prst="rect">
            <a:avLst/>
          </a:prstGeom>
          <a:noFill/>
          <a:ln/>
        </p:spPr>
        <p:txBody>
          <a:bodyPr wrap="square" lIns="0" tIns="0" rIns="0" bIns="0" rtlCol="0" anchor="ctr"/>
          <a:lstStyle/>
          <a:p>
            <a:pPr algn="r" indent="0" marL="0">
              <a:buNone/>
            </a:pPr>
            <a:r>
              <a:rPr lang="en-US" sz="1000" b="1" dirty="0">
                <a:solidFill>
                  <a:srgbClr val="1C7293"/>
                </a:solidFill>
                <a:latin typeface="Calibri" pitchFamily="34" charset="0"/>
                <a:ea typeface="Calibri" pitchFamily="34" charset="-122"/>
                <a:cs typeface="Calibri" pitchFamily="34" charset="-120"/>
              </a:rPr>
              <a:t>20</a:t>
            </a:r>
            <a:endParaRPr lang="en-US" sz="1000" dirty="0"/>
          </a:p>
        </p:txBody>
      </p:sp>
      <p:sp>
        <p:nvSpPr>
          <p:cNvPr id="8" name="Shape 5"/>
          <p:cNvSpPr/>
          <p:nvPr/>
        </p:nvSpPr>
        <p:spPr>
          <a:xfrm>
            <a:off x="548640" y="457200"/>
            <a:ext cx="155448" cy="457200"/>
          </a:xfrm>
          <a:prstGeom prst="roundRect">
            <a:avLst>
              <a:gd name="adj" fmla="val 17647"/>
            </a:avLst>
          </a:prstGeom>
          <a:solidFill>
            <a:srgbClr val="1C7293"/>
          </a:solidFill>
          <a:ln w="12700">
            <a:solidFill>
              <a:srgbClr val="333333"/>
            </a:solidFill>
            <a:prstDash val="solid"/>
          </a:ln>
        </p:spPr>
      </p:sp>
      <p:sp>
        <p:nvSpPr>
          <p:cNvPr id="9" name="Text 6"/>
          <p:cNvSpPr/>
          <p:nvPr/>
        </p:nvSpPr>
        <p:spPr>
          <a:xfrm>
            <a:off x="877824" y="365760"/>
            <a:ext cx="10735056" cy="713232"/>
          </a:xfrm>
          <a:prstGeom prst="rect">
            <a:avLst/>
          </a:prstGeom>
          <a:noFill/>
          <a:ln/>
        </p:spPr>
        <p:txBody>
          <a:bodyPr wrap="square" lIns="0" tIns="0" rIns="0" bIns="0" rtlCol="0" anchor="ctr"/>
          <a:lstStyle/>
          <a:p>
            <a:pPr indent="0" marL="0">
              <a:buNone/>
            </a:pPr>
            <a:r>
              <a:rPr lang="en-US" sz="2900" b="1" dirty="0">
                <a:solidFill>
                  <a:srgbClr val="1A2430"/>
                </a:solidFill>
                <a:latin typeface="Cambria" pitchFamily="34" charset="0"/>
                <a:ea typeface="Cambria" pitchFamily="34" charset="-122"/>
                <a:cs typeface="Cambria" pitchFamily="34" charset="-120"/>
              </a:rPr>
              <a:t>A · Rò rỉ dữ liệu là gì?</a:t>
            </a:r>
            <a:endParaRPr lang="en-US" sz="2900" dirty="0"/>
          </a:p>
        </p:txBody>
      </p:sp>
      <p:sp>
        <p:nvSpPr>
          <p:cNvPr id="10" name="Shape 7"/>
          <p:cNvSpPr/>
          <p:nvPr/>
        </p:nvSpPr>
        <p:spPr>
          <a:xfrm>
            <a:off x="548640" y="1481328"/>
            <a:ext cx="11064240" cy="3593592"/>
          </a:xfrm>
          <a:prstGeom prst="roundRect">
            <a:avLst>
              <a:gd name="adj" fmla="val 2545"/>
            </a:avLst>
          </a:prstGeom>
          <a:solidFill>
            <a:srgbClr val="F7FAFC"/>
          </a:solidFill>
          <a:ln w="12700">
            <a:solidFill>
              <a:srgbClr val="E6ECF2"/>
            </a:solidFill>
            <a:prstDash val="solid"/>
          </a:ln>
          <a:effectLst>
            <a:outerShdw sx="100000" sy="100000" kx="0" ky="0" algn="bl" rotWithShape="0" blurRad="114300" dist="25400" dir="5400000">
              <a:srgbClr val="9FB0C0">
                <a:alpha val="22000"/>
              </a:srgbClr>
            </a:outerShdw>
          </a:effectLst>
        </p:spPr>
      </p:sp>
      <p:sp>
        <p:nvSpPr>
          <p:cNvPr id="11" name="Shape 8"/>
          <p:cNvSpPr/>
          <p:nvPr/>
        </p:nvSpPr>
        <p:spPr>
          <a:xfrm>
            <a:off x="713232" y="1682496"/>
            <a:ext cx="82296" cy="3191256"/>
          </a:xfrm>
          <a:prstGeom prst="roundRect">
            <a:avLst>
              <a:gd name="adj" fmla="val 44444"/>
            </a:avLst>
          </a:prstGeom>
          <a:solidFill>
            <a:srgbClr val="F4A261"/>
          </a:solidFill>
          <a:ln w="12700">
            <a:solidFill>
              <a:srgbClr val="333333"/>
            </a:solidFill>
            <a:prstDash val="solid"/>
          </a:ln>
        </p:spPr>
      </p:sp>
      <p:sp>
        <p:nvSpPr>
          <p:cNvPr id="12" name="Text 9"/>
          <p:cNvSpPr/>
          <p:nvPr/>
        </p:nvSpPr>
        <p:spPr>
          <a:xfrm>
            <a:off x="1115568" y="1572768"/>
            <a:ext cx="10195560" cy="3410712"/>
          </a:xfrm>
          <a:prstGeom prst="rect">
            <a:avLst/>
          </a:prstGeom>
          <a:noFill/>
          <a:ln/>
        </p:spPr>
        <p:txBody>
          <a:bodyPr wrap="square" lIns="0" tIns="0" rIns="0" bIns="0" rtlCol="0" anchor="ctr"/>
          <a:lstStyle/>
          <a:p>
            <a:pPr marL="228600" indent="-228600">
              <a:lnSpc>
                <a:spcPct val="108000"/>
              </a:lnSpc>
              <a:spcAft>
                <a:spcPts val="1400"/>
              </a:spcAft>
              <a:buSzPct val="100000"/>
              <a:buChar char="•"/>
            </a:pPr>
            <a:r>
              <a:rPr lang="en-US" sz="1650" dirty="0">
                <a:solidFill>
                  <a:srgbClr val="1A2430"/>
                </a:solidFill>
                <a:latin typeface="Calibri" pitchFamily="34" charset="0"/>
                <a:ea typeface="Calibri" pitchFamily="34" charset="-122"/>
                <a:cs typeface="Calibri" pitchFamily="34" charset="-120"/>
              </a:rPr>
              <a:t>Rò rỉ dữ liệu (data leakage): thông tin của tập kiểm thử “lọt” vào quá trình huấn luyện.</a:t>
            </a:r>
            <a:endParaRPr lang="en-US" sz="1650" dirty="0"/>
          </a:p>
          <a:p>
            <a:pPr marL="228600" indent="-228600">
              <a:lnSpc>
                <a:spcPct val="108000"/>
              </a:lnSpc>
              <a:spcAft>
                <a:spcPts val="1400"/>
              </a:spcAft>
              <a:buSzPct val="100000"/>
              <a:buChar char="•"/>
            </a:pPr>
            <a:r>
              <a:rPr lang="en-US" sz="1650" dirty="0">
                <a:solidFill>
                  <a:srgbClr val="1A2430"/>
                </a:solidFill>
                <a:latin typeface="Calibri" pitchFamily="34" charset="0"/>
                <a:ea typeface="Calibri" pitchFamily="34" charset="-122"/>
                <a:cs typeface="Calibri" pitchFamily="34" charset="-120"/>
              </a:rPr>
              <a:t>Với ảnh cắt từ video, dạng phổ biến là ẢNH TRÙNG hoặc GẦN TRÙNG xuất hiện ở nhiều split.</a:t>
            </a:r>
            <a:endParaRPr lang="en-US" sz="1650" dirty="0"/>
          </a:p>
          <a:p>
            <a:pPr marL="228600" indent="-228600">
              <a:lnSpc>
                <a:spcPct val="108000"/>
              </a:lnSpc>
              <a:spcAft>
                <a:spcPts val="1400"/>
              </a:spcAft>
              <a:buSzPct val="100000"/>
              <a:buChar char="•"/>
            </a:pPr>
            <a:r>
              <a:rPr lang="en-US" sz="1650" dirty="0">
                <a:solidFill>
                  <a:srgbClr val="1A2430"/>
                </a:solidFill>
                <a:latin typeface="Calibri" pitchFamily="34" charset="0"/>
                <a:ea typeface="Calibri" pitchFamily="34" charset="-122"/>
                <a:cs typeface="Calibri" pitchFamily="34" charset="-120"/>
              </a:rPr>
              <a:t>Perceptual hash (dHash) phát hiện ảnh gần trùng qua khoảng cách Hamming của mã băm.</a:t>
            </a:r>
            <a:endParaRPr lang="en-US" sz="1650" dirty="0"/>
          </a:p>
          <a:p>
            <a:pPr marL="228600" indent="-228600">
              <a:lnSpc>
                <a:spcPct val="108000"/>
              </a:lnSpc>
              <a:spcAft>
                <a:spcPts val="1400"/>
              </a:spcAft>
              <a:buSzPct val="100000"/>
              <a:buChar char="•"/>
            </a:pPr>
            <a:r>
              <a:rPr lang="en-US" sz="1650" dirty="0">
                <a:solidFill>
                  <a:srgbClr val="1A2430"/>
                </a:solidFill>
                <a:latin typeface="Calibri" pitchFamily="34" charset="0"/>
                <a:ea typeface="Calibri" pitchFamily="34" charset="-122"/>
                <a:cs typeface="Calibri" pitchFamily="34" charset="-120"/>
              </a:rPr>
              <a:t>Nếu không khử trùng ở tập đánh giá, mô hình có thể “ghi nhớ” ảnh đã thấy → mAP CAO HƠN hiệu năng thực.</a:t>
            </a:r>
            <a:endParaRPr lang="en-US" sz="1650" dirty="0"/>
          </a:p>
        </p:txBody>
      </p:sp>
      <p:sp>
        <p:nvSpPr>
          <p:cNvPr id="13" name="Shape 10"/>
          <p:cNvSpPr/>
          <p:nvPr/>
        </p:nvSpPr>
        <p:spPr>
          <a:xfrm>
            <a:off x="548640" y="5230368"/>
            <a:ext cx="11064240" cy="896112"/>
          </a:xfrm>
          <a:prstGeom prst="roundRect">
            <a:avLst>
              <a:gd name="adj" fmla="val 10204"/>
            </a:avLst>
          </a:prstGeom>
          <a:solidFill>
            <a:srgbClr val="152238"/>
          </a:solidFill>
          <a:ln w="12700">
            <a:solidFill>
              <a:srgbClr val="333333"/>
            </a:solidFill>
            <a:prstDash val="solid"/>
          </a:ln>
          <a:effectLst>
            <a:outerShdw sx="100000" sy="100000" kx="0" ky="0" algn="bl" rotWithShape="0" blurRad="101600" dist="25400" dir="5400000">
              <a:srgbClr val="6E7C8A">
                <a:alpha val="30000"/>
              </a:srgbClr>
            </a:outerShdw>
          </a:effectLst>
        </p:spPr>
      </p:sp>
      <p:sp>
        <p:nvSpPr>
          <p:cNvPr id="14" name="Shape 11"/>
          <p:cNvSpPr/>
          <p:nvPr/>
        </p:nvSpPr>
        <p:spPr>
          <a:xfrm>
            <a:off x="804672" y="5596128"/>
            <a:ext cx="164592" cy="164592"/>
          </a:xfrm>
          <a:prstGeom prst="ellipse">
            <a:avLst/>
          </a:prstGeom>
          <a:solidFill>
            <a:srgbClr val="F4A261"/>
          </a:solidFill>
          <a:ln w="12700">
            <a:solidFill>
              <a:srgbClr val="333333"/>
            </a:solidFill>
            <a:prstDash val="solid"/>
          </a:ln>
        </p:spPr>
      </p:sp>
      <p:sp>
        <p:nvSpPr>
          <p:cNvPr id="15" name="Text 12"/>
          <p:cNvSpPr/>
          <p:nvPr/>
        </p:nvSpPr>
        <p:spPr>
          <a:xfrm>
            <a:off x="1133856" y="5303520"/>
            <a:ext cx="10222992" cy="749808"/>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Vì vậy bước đầu tiên của kiểm định là đo xem tập valid/test có bị trùng với train hay không.</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10789920" y="-1234440"/>
            <a:ext cx="2743200" cy="2743200"/>
          </a:xfrm>
          <a:prstGeom prst="ellipse">
            <a:avLst/>
          </a:prstGeom>
          <a:solidFill>
            <a:srgbClr val="EAF1F6"/>
          </a:solidFill>
          <a:ln w="12700">
            <a:solidFill>
              <a:srgbClr val="333333"/>
            </a:solidFill>
            <a:prstDash val="solid"/>
          </a:ln>
        </p:spPr>
      </p:sp>
      <p:sp>
        <p:nvSpPr>
          <p:cNvPr id="4" name="Shape 1"/>
          <p:cNvSpPr/>
          <p:nvPr/>
        </p:nvSpPr>
        <p:spPr>
          <a:xfrm>
            <a:off x="11475720" y="182880"/>
            <a:ext cx="822960" cy="822960"/>
          </a:xfrm>
          <a:prstGeom prst="ellipse">
            <a:avLst/>
          </a:prstGeom>
          <a:solidFill>
            <a:srgbClr val="DCE8F0"/>
          </a:solidFill>
          <a:ln w="12700">
            <a:solidFill>
              <a:srgbClr val="333333"/>
            </a:solidFill>
            <a:prstDash val="solid"/>
          </a:ln>
        </p:spPr>
      </p:sp>
      <p:sp>
        <p:nvSpPr>
          <p:cNvPr id="5" name="Shape 2"/>
          <p:cNvSpPr/>
          <p:nvPr/>
        </p:nvSpPr>
        <p:spPr>
          <a:xfrm>
            <a:off x="548640" y="6382512"/>
            <a:ext cx="11064240" cy="0"/>
          </a:xfrm>
          <a:prstGeom prst="line">
            <a:avLst/>
          </a:prstGeom>
          <a:noFill/>
          <a:ln w="12700">
            <a:solidFill>
              <a:srgbClr val="DDE3EA"/>
            </a:solidFill>
            <a:prstDash val="solid"/>
          </a:ln>
        </p:spPr>
      </p:sp>
      <p:sp>
        <p:nvSpPr>
          <p:cNvPr id="6" name="Text 3"/>
          <p:cNvSpPr/>
          <p:nvPr/>
        </p:nvSpPr>
        <p:spPr>
          <a:xfrm>
            <a:off x="548640" y="6419088"/>
            <a:ext cx="8686800" cy="274320"/>
          </a:xfrm>
          <a:prstGeom prst="rect">
            <a:avLst/>
          </a:prstGeom>
          <a:noFill/>
          <a:ln/>
        </p:spPr>
        <p:txBody>
          <a:bodyPr wrap="square" lIns="0" tIns="0" rIns="0" bIns="0" rtlCol="0" anchor="ctr"/>
          <a:lstStyle/>
          <a:p>
            <a:pPr indent="0" marL="0">
              <a:buNone/>
            </a:pPr>
            <a:r>
              <a:rPr lang="en-US" sz="900" dirty="0">
                <a:solidFill>
                  <a:srgbClr val="9AA7B4"/>
                </a:solidFill>
                <a:latin typeface="Calibri" pitchFamily="34" charset="0"/>
                <a:ea typeface="Calibri" pitchFamily="34" charset="-122"/>
                <a:cs typeface="Calibri" pitchFamily="34" charset="-120"/>
              </a:rPr>
              <a:t>Kiểm định độ tin cậy YOLOv8 · Nhóm KHMT836016/34/36</a:t>
            </a:r>
            <a:endParaRPr lang="en-US" sz="900" dirty="0"/>
          </a:p>
        </p:txBody>
      </p:sp>
      <p:sp>
        <p:nvSpPr>
          <p:cNvPr id="7" name="Text 4"/>
          <p:cNvSpPr/>
          <p:nvPr/>
        </p:nvSpPr>
        <p:spPr>
          <a:xfrm>
            <a:off x="11064240" y="6419088"/>
            <a:ext cx="548640" cy="274320"/>
          </a:xfrm>
          <a:prstGeom prst="rect">
            <a:avLst/>
          </a:prstGeom>
          <a:noFill/>
          <a:ln/>
        </p:spPr>
        <p:txBody>
          <a:bodyPr wrap="square" lIns="0" tIns="0" rIns="0" bIns="0" rtlCol="0" anchor="ctr"/>
          <a:lstStyle/>
          <a:p>
            <a:pPr algn="r" indent="0" marL="0">
              <a:buNone/>
            </a:pPr>
            <a:r>
              <a:rPr lang="en-US" sz="1000" b="1" dirty="0">
                <a:solidFill>
                  <a:srgbClr val="1C7293"/>
                </a:solidFill>
                <a:latin typeface="Calibri" pitchFamily="34" charset="0"/>
                <a:ea typeface="Calibri" pitchFamily="34" charset="-122"/>
                <a:cs typeface="Calibri" pitchFamily="34" charset="-120"/>
              </a:rPr>
              <a:t>21</a:t>
            </a:r>
            <a:endParaRPr lang="en-US" sz="1000" dirty="0"/>
          </a:p>
        </p:txBody>
      </p:sp>
      <p:sp>
        <p:nvSpPr>
          <p:cNvPr id="8" name="Shape 5"/>
          <p:cNvSpPr/>
          <p:nvPr/>
        </p:nvSpPr>
        <p:spPr>
          <a:xfrm>
            <a:off x="548640" y="457200"/>
            <a:ext cx="155448" cy="457200"/>
          </a:xfrm>
          <a:prstGeom prst="roundRect">
            <a:avLst>
              <a:gd name="adj" fmla="val 17647"/>
            </a:avLst>
          </a:prstGeom>
          <a:solidFill>
            <a:srgbClr val="1C7293"/>
          </a:solidFill>
          <a:ln w="12700">
            <a:solidFill>
              <a:srgbClr val="333333"/>
            </a:solidFill>
            <a:prstDash val="solid"/>
          </a:ln>
        </p:spPr>
      </p:sp>
      <p:sp>
        <p:nvSpPr>
          <p:cNvPr id="9" name="Text 6"/>
          <p:cNvSpPr/>
          <p:nvPr/>
        </p:nvSpPr>
        <p:spPr>
          <a:xfrm>
            <a:off x="877824" y="365760"/>
            <a:ext cx="10735056" cy="713232"/>
          </a:xfrm>
          <a:prstGeom prst="rect">
            <a:avLst/>
          </a:prstGeom>
          <a:noFill/>
          <a:ln/>
        </p:spPr>
        <p:txBody>
          <a:bodyPr wrap="square" lIns="0" tIns="0" rIns="0" bIns="0" rtlCol="0" anchor="ctr"/>
          <a:lstStyle/>
          <a:p>
            <a:pPr indent="0" marL="0">
              <a:buNone/>
            </a:pPr>
            <a:r>
              <a:rPr lang="en-US" sz="2900" b="1" dirty="0">
                <a:solidFill>
                  <a:srgbClr val="1A2430"/>
                </a:solidFill>
                <a:latin typeface="Cambria" pitchFamily="34" charset="0"/>
                <a:ea typeface="Cambria" pitchFamily="34" charset="-122"/>
                <a:cs typeface="Cambria" pitchFamily="34" charset="-120"/>
              </a:rPr>
              <a:t>A · Đo phơi nhiễm rò rỉ</a:t>
            </a:r>
            <a:endParaRPr lang="en-US" sz="2900" dirty="0"/>
          </a:p>
        </p:txBody>
      </p:sp>
      <p:pic>
        <p:nvPicPr>
          <p:cNvPr id="10" name="Image 0" descr="/sessions/magical-intelligent-fermat/mnt/master/traffic-yolo-analysis/results/figs/04_leakage.png">    </p:cNvPr>
          <p:cNvPicPr>
            <a:picLocks noChangeAspect="1"/>
          </p:cNvPicPr>
          <p:nvPr/>
        </p:nvPicPr>
        <p:blipFill>
          <a:blip r:embed="rId1"/>
          <a:stretch>
            <a:fillRect/>
          </a:stretch>
        </p:blipFill>
        <p:spPr>
          <a:xfrm>
            <a:off x="548640" y="1527048"/>
            <a:ext cx="6126480" cy="3200400"/>
          </a:xfrm>
          <a:prstGeom prst="rect">
            <a:avLst/>
          </a:prstGeom>
        </p:spPr>
      </p:pic>
      <p:sp>
        <p:nvSpPr>
          <p:cNvPr id="11" name="Text 7"/>
          <p:cNvSpPr/>
          <p:nvPr/>
        </p:nvSpPr>
        <p:spPr>
          <a:xfrm>
            <a:off x="6858000" y="1664208"/>
            <a:ext cx="4754880" cy="2926080"/>
          </a:xfrm>
          <a:prstGeom prst="rect">
            <a:avLst/>
          </a:prstGeom>
          <a:noFill/>
          <a:ln/>
        </p:spPr>
        <p:txBody>
          <a:bodyPr wrap="square" lIns="0" tIns="0" rIns="0" bIns="0" rtlCol="0" anchor="t"/>
          <a:lstStyle/>
          <a:p>
            <a:pPr indent="0" marL="0">
              <a:lnSpc>
                <a:spcPct val="115000"/>
              </a:lnSpc>
              <a:buNone/>
            </a:pPr>
            <a:r>
              <a:rPr lang="en-US" sz="1700" b="1" dirty="0">
                <a:solidFill>
                  <a:srgbClr val="152238"/>
                </a:solidFill>
                <a:latin typeface="Calibri" pitchFamily="34" charset="0"/>
                <a:ea typeface="Calibri" pitchFamily="34" charset="-122"/>
                <a:cs typeface="Calibri" pitchFamily="34" charset="-120"/>
              </a:rPr>
              <a:t>Bằng chứng
</a:t>
            </a:r>
            <a:endParaRPr lang="en-US" sz="1700" dirty="0"/>
          </a:p>
          <a:p>
            <a:pPr indent="0" marL="0">
              <a:lnSpc>
                <a:spcPct val="115000"/>
              </a:lnSpc>
              <a:buNone/>
            </a:pPr>
            <a:r>
              <a:rPr lang="en-US" sz="1350" dirty="0">
                <a:solidFill>
                  <a:srgbClr val="1A2430"/>
                </a:solidFill>
                <a:latin typeface="Calibri" pitchFamily="34" charset="0"/>
                <a:ea typeface="Calibri" pitchFamily="34" charset="-122"/>
                <a:cs typeface="Calibri" pitchFamily="34" charset="-120"/>
              </a:rPr>
              <a:t>• Exact duplicate (mọi split): 460 dòng (4,63%)
</a:t>
            </a:r>
            <a:endParaRPr lang="en-US" sz="1700" dirty="0"/>
          </a:p>
          <a:p>
            <a:pPr indent="0" marL="0">
              <a:lnSpc>
                <a:spcPct val="115000"/>
              </a:lnSpc>
              <a:buNone/>
            </a:pPr>
            <a:r>
              <a:rPr lang="en-US" sz="1350" dirty="0">
                <a:solidFill>
                  <a:srgbClr val="1A2430"/>
                </a:solidFill>
                <a:latin typeface="Calibri" pitchFamily="34" charset="0"/>
                <a:ea typeface="Calibri" pitchFamily="34" charset="-122"/>
                <a:cs typeface="Calibri" pitchFamily="34" charset="-120"/>
              </a:rPr>
              <a:t>• Exact duplicate XUYÊN split: 202 dòng (2,03%)
</a:t>
            </a:r>
            <a:endParaRPr lang="en-US" sz="1700" dirty="0"/>
          </a:p>
          <a:p>
            <a:pPr indent="0" marL="0">
              <a:lnSpc>
                <a:spcPct val="115000"/>
              </a:lnSpc>
              <a:buNone/>
            </a:pPr>
            <a:r>
              <a:rPr lang="en-US" sz="1350" dirty="0">
                <a:solidFill>
                  <a:srgbClr val="1A2430"/>
                </a:solidFill>
                <a:latin typeface="Calibri" pitchFamily="34" charset="0"/>
                <a:ea typeface="Calibri" pitchFamily="34" charset="-122"/>
                <a:cs typeface="Calibri" pitchFamily="34" charset="-120"/>
              </a:rPr>
              <a:t>• dHash trùng (mọi split): 799 dòng (8,04%)
</a:t>
            </a:r>
            <a:endParaRPr lang="en-US" sz="1700" dirty="0"/>
          </a:p>
          <a:p>
            <a:pPr indent="0" marL="0">
              <a:lnSpc>
                <a:spcPct val="115000"/>
              </a:lnSpc>
              <a:buNone/>
            </a:pPr>
            <a:r>
              <a:rPr lang="en-US" sz="1350" dirty="0">
                <a:solidFill>
                  <a:srgbClr val="1A2430"/>
                </a:solidFill>
                <a:latin typeface="Calibri" pitchFamily="34" charset="0"/>
                <a:ea typeface="Calibri" pitchFamily="34" charset="-122"/>
                <a:cs typeface="Calibri" pitchFamily="34" charset="-120"/>
              </a:rPr>
              <a:t>• dHash trùng XUYÊN split: 423 dòng (4,26%)
</a:t>
            </a:r>
            <a:endParaRPr lang="en-US" sz="17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10789920" y="-1234440"/>
            <a:ext cx="2743200" cy="2743200"/>
          </a:xfrm>
          <a:prstGeom prst="ellipse">
            <a:avLst/>
          </a:prstGeom>
          <a:solidFill>
            <a:srgbClr val="EAF1F6"/>
          </a:solidFill>
          <a:ln w="12700">
            <a:solidFill>
              <a:srgbClr val="333333"/>
            </a:solidFill>
            <a:prstDash val="solid"/>
          </a:ln>
        </p:spPr>
      </p:sp>
      <p:sp>
        <p:nvSpPr>
          <p:cNvPr id="4" name="Shape 1"/>
          <p:cNvSpPr/>
          <p:nvPr/>
        </p:nvSpPr>
        <p:spPr>
          <a:xfrm>
            <a:off x="11475720" y="182880"/>
            <a:ext cx="822960" cy="822960"/>
          </a:xfrm>
          <a:prstGeom prst="ellipse">
            <a:avLst/>
          </a:prstGeom>
          <a:solidFill>
            <a:srgbClr val="DCE8F0"/>
          </a:solidFill>
          <a:ln w="12700">
            <a:solidFill>
              <a:srgbClr val="333333"/>
            </a:solidFill>
            <a:prstDash val="solid"/>
          </a:ln>
        </p:spPr>
      </p:sp>
      <p:sp>
        <p:nvSpPr>
          <p:cNvPr id="5" name="Shape 2"/>
          <p:cNvSpPr/>
          <p:nvPr/>
        </p:nvSpPr>
        <p:spPr>
          <a:xfrm>
            <a:off x="548640" y="6382512"/>
            <a:ext cx="11064240" cy="0"/>
          </a:xfrm>
          <a:prstGeom prst="line">
            <a:avLst/>
          </a:prstGeom>
          <a:noFill/>
          <a:ln w="12700">
            <a:solidFill>
              <a:srgbClr val="DDE3EA"/>
            </a:solidFill>
            <a:prstDash val="solid"/>
          </a:ln>
        </p:spPr>
      </p:sp>
      <p:sp>
        <p:nvSpPr>
          <p:cNvPr id="6" name="Text 3"/>
          <p:cNvSpPr/>
          <p:nvPr/>
        </p:nvSpPr>
        <p:spPr>
          <a:xfrm>
            <a:off x="548640" y="6419088"/>
            <a:ext cx="8686800" cy="274320"/>
          </a:xfrm>
          <a:prstGeom prst="rect">
            <a:avLst/>
          </a:prstGeom>
          <a:noFill/>
          <a:ln/>
        </p:spPr>
        <p:txBody>
          <a:bodyPr wrap="square" lIns="0" tIns="0" rIns="0" bIns="0" rtlCol="0" anchor="ctr"/>
          <a:lstStyle/>
          <a:p>
            <a:pPr indent="0" marL="0">
              <a:buNone/>
            </a:pPr>
            <a:r>
              <a:rPr lang="en-US" sz="900" dirty="0">
                <a:solidFill>
                  <a:srgbClr val="9AA7B4"/>
                </a:solidFill>
                <a:latin typeface="Calibri" pitchFamily="34" charset="0"/>
                <a:ea typeface="Calibri" pitchFamily="34" charset="-122"/>
                <a:cs typeface="Calibri" pitchFamily="34" charset="-120"/>
              </a:rPr>
              <a:t>Kiểm định độ tin cậy YOLOv8 · Nhóm KHMT836016/34/36</a:t>
            </a:r>
            <a:endParaRPr lang="en-US" sz="900" dirty="0"/>
          </a:p>
        </p:txBody>
      </p:sp>
      <p:sp>
        <p:nvSpPr>
          <p:cNvPr id="7" name="Text 4"/>
          <p:cNvSpPr/>
          <p:nvPr/>
        </p:nvSpPr>
        <p:spPr>
          <a:xfrm>
            <a:off x="11064240" y="6419088"/>
            <a:ext cx="548640" cy="274320"/>
          </a:xfrm>
          <a:prstGeom prst="rect">
            <a:avLst/>
          </a:prstGeom>
          <a:noFill/>
          <a:ln/>
        </p:spPr>
        <p:txBody>
          <a:bodyPr wrap="square" lIns="0" tIns="0" rIns="0" bIns="0" rtlCol="0" anchor="ctr"/>
          <a:lstStyle/>
          <a:p>
            <a:pPr algn="r" indent="0" marL="0">
              <a:buNone/>
            </a:pPr>
            <a:r>
              <a:rPr lang="en-US" sz="1000" b="1" dirty="0">
                <a:solidFill>
                  <a:srgbClr val="1C7293"/>
                </a:solidFill>
                <a:latin typeface="Calibri" pitchFamily="34" charset="0"/>
                <a:ea typeface="Calibri" pitchFamily="34" charset="-122"/>
                <a:cs typeface="Calibri" pitchFamily="34" charset="-120"/>
              </a:rPr>
              <a:t>22</a:t>
            </a:r>
            <a:endParaRPr lang="en-US" sz="1000" dirty="0"/>
          </a:p>
        </p:txBody>
      </p:sp>
      <p:sp>
        <p:nvSpPr>
          <p:cNvPr id="8" name="Shape 5"/>
          <p:cNvSpPr/>
          <p:nvPr/>
        </p:nvSpPr>
        <p:spPr>
          <a:xfrm>
            <a:off x="548640" y="457200"/>
            <a:ext cx="155448" cy="457200"/>
          </a:xfrm>
          <a:prstGeom prst="roundRect">
            <a:avLst>
              <a:gd name="adj" fmla="val 17647"/>
            </a:avLst>
          </a:prstGeom>
          <a:solidFill>
            <a:srgbClr val="1C7293"/>
          </a:solidFill>
          <a:ln w="12700">
            <a:solidFill>
              <a:srgbClr val="333333"/>
            </a:solidFill>
            <a:prstDash val="solid"/>
          </a:ln>
        </p:spPr>
      </p:sp>
      <p:sp>
        <p:nvSpPr>
          <p:cNvPr id="9" name="Text 6"/>
          <p:cNvSpPr/>
          <p:nvPr/>
        </p:nvSpPr>
        <p:spPr>
          <a:xfrm>
            <a:off x="877824" y="365760"/>
            <a:ext cx="10735056" cy="713232"/>
          </a:xfrm>
          <a:prstGeom prst="rect">
            <a:avLst/>
          </a:prstGeom>
          <a:noFill/>
          <a:ln/>
        </p:spPr>
        <p:txBody>
          <a:bodyPr wrap="square" lIns="0" tIns="0" rIns="0" bIns="0" rtlCol="0" anchor="ctr"/>
          <a:lstStyle/>
          <a:p>
            <a:pPr indent="0" marL="0">
              <a:buNone/>
            </a:pPr>
            <a:r>
              <a:rPr lang="en-US" sz="2500" b="1" dirty="0">
                <a:solidFill>
                  <a:srgbClr val="1A2430"/>
                </a:solidFill>
                <a:latin typeface="Cambria" pitchFamily="34" charset="0"/>
                <a:ea typeface="Cambria" pitchFamily="34" charset="-122"/>
                <a:cs typeface="Cambria" pitchFamily="34" charset="-120"/>
              </a:rPr>
              <a:t>A · Khoảng trống: chỉ khử trùng ở tập huấn luyện</a:t>
            </a:r>
            <a:endParaRPr lang="en-US" sz="2500" dirty="0"/>
          </a:p>
        </p:txBody>
      </p:sp>
      <p:sp>
        <p:nvSpPr>
          <p:cNvPr id="10" name="Shape 7"/>
          <p:cNvSpPr/>
          <p:nvPr/>
        </p:nvSpPr>
        <p:spPr>
          <a:xfrm>
            <a:off x="548640" y="1481328"/>
            <a:ext cx="2377440" cy="1371600"/>
          </a:xfrm>
          <a:prstGeom prst="roundRect">
            <a:avLst>
              <a:gd name="adj" fmla="val 6667"/>
            </a:avLst>
          </a:prstGeom>
          <a:solidFill>
            <a:srgbClr val="F4F7FA"/>
          </a:solidFill>
          <a:ln w="12700">
            <a:solidFill>
              <a:srgbClr val="E6ECF2"/>
            </a:solidFill>
            <a:prstDash val="solid"/>
          </a:ln>
          <a:effectLst>
            <a:outerShdw sx="100000" sy="100000" kx="0" ky="0" algn="bl" rotWithShape="0" blurRad="114300" dist="25400" dir="5400000">
              <a:srgbClr val="9FB0C0">
                <a:alpha val="22000"/>
              </a:srgbClr>
            </a:outerShdw>
          </a:effectLst>
        </p:spPr>
      </p:sp>
      <p:sp>
        <p:nvSpPr>
          <p:cNvPr id="11" name="Text 8"/>
          <p:cNvSpPr/>
          <p:nvPr/>
        </p:nvSpPr>
        <p:spPr>
          <a:xfrm>
            <a:off x="548640" y="1682496"/>
            <a:ext cx="2377440" cy="566928"/>
          </a:xfrm>
          <a:prstGeom prst="rect">
            <a:avLst/>
          </a:prstGeom>
          <a:noFill/>
          <a:ln/>
        </p:spPr>
        <p:txBody>
          <a:bodyPr wrap="square" lIns="0" tIns="0" rIns="0" bIns="0" rtlCol="0" anchor="ctr"/>
          <a:lstStyle/>
          <a:p>
            <a:pPr algn="ctr" indent="0" marL="0">
              <a:buNone/>
            </a:pPr>
            <a:r>
              <a:rPr lang="en-US" sz="2600" b="1" dirty="0">
                <a:solidFill>
                  <a:srgbClr val="1A2430"/>
                </a:solidFill>
                <a:latin typeface="Cambria" pitchFamily="34" charset="0"/>
                <a:ea typeface="Cambria" pitchFamily="34" charset="-122"/>
                <a:cs typeface="Cambria" pitchFamily="34" charset="-120"/>
              </a:rPr>
              <a:t>3,530</a:t>
            </a:r>
            <a:endParaRPr lang="en-US" sz="2600" dirty="0"/>
          </a:p>
        </p:txBody>
      </p:sp>
      <p:sp>
        <p:nvSpPr>
          <p:cNvPr id="12" name="Text 9"/>
          <p:cNvSpPr/>
          <p:nvPr/>
        </p:nvSpPr>
        <p:spPr>
          <a:xfrm>
            <a:off x="548640" y="2267712"/>
            <a:ext cx="2377440" cy="365760"/>
          </a:xfrm>
          <a:prstGeom prst="rect">
            <a:avLst/>
          </a:prstGeom>
          <a:noFill/>
          <a:ln/>
        </p:spPr>
        <p:txBody>
          <a:bodyPr wrap="square" lIns="0" tIns="0" rIns="0" bIns="0" rtlCol="0" anchor="t"/>
          <a:lstStyle/>
          <a:p>
            <a:pPr algn="ctr" indent="0" marL="0">
              <a:buNone/>
            </a:pPr>
            <a:r>
              <a:rPr lang="en-US" sz="1250" dirty="0">
                <a:solidFill>
                  <a:srgbClr val="5A6B7D"/>
                </a:solidFill>
                <a:latin typeface="Calibri" pitchFamily="34" charset="0"/>
                <a:ea typeface="Calibri" pitchFamily="34" charset="-122"/>
                <a:cs typeface="Calibri" pitchFamily="34" charset="-120"/>
              </a:rPr>
              <a:t>train gốc</a:t>
            </a:r>
            <a:endParaRPr lang="en-US" sz="1250" dirty="0"/>
          </a:p>
        </p:txBody>
      </p:sp>
      <p:sp>
        <p:nvSpPr>
          <p:cNvPr id="13" name="Text 10"/>
          <p:cNvSpPr/>
          <p:nvPr/>
        </p:nvSpPr>
        <p:spPr>
          <a:xfrm>
            <a:off x="2944368" y="1865376"/>
            <a:ext cx="384048" cy="548640"/>
          </a:xfrm>
          <a:prstGeom prst="rect">
            <a:avLst/>
          </a:prstGeom>
          <a:noFill/>
          <a:ln/>
        </p:spPr>
        <p:txBody>
          <a:bodyPr wrap="square" lIns="0" tIns="0" rIns="0" bIns="0" rtlCol="0" anchor="ctr"/>
          <a:lstStyle/>
          <a:p>
            <a:pPr algn="ctr" indent="0" marL="0">
              <a:buNone/>
            </a:pPr>
            <a:r>
              <a:rPr lang="en-US" sz="2200" b="1" dirty="0">
                <a:solidFill>
                  <a:srgbClr val="1C7293"/>
                </a:solidFill>
                <a:latin typeface="Calibri" pitchFamily="34" charset="0"/>
                <a:ea typeface="Calibri" pitchFamily="34" charset="-122"/>
                <a:cs typeface="Calibri" pitchFamily="34" charset="-120"/>
              </a:rPr>
              <a:t>→</a:t>
            </a:r>
            <a:endParaRPr lang="en-US" sz="2200" dirty="0"/>
          </a:p>
        </p:txBody>
      </p:sp>
      <p:sp>
        <p:nvSpPr>
          <p:cNvPr id="14" name="Shape 11"/>
          <p:cNvSpPr/>
          <p:nvPr/>
        </p:nvSpPr>
        <p:spPr>
          <a:xfrm>
            <a:off x="3337560" y="1481328"/>
            <a:ext cx="2377440" cy="1371600"/>
          </a:xfrm>
          <a:prstGeom prst="roundRect">
            <a:avLst>
              <a:gd name="adj" fmla="val 6667"/>
            </a:avLst>
          </a:prstGeom>
          <a:solidFill>
            <a:srgbClr val="F4F7FA"/>
          </a:solidFill>
          <a:ln w="12700">
            <a:solidFill>
              <a:srgbClr val="E6ECF2"/>
            </a:solidFill>
            <a:prstDash val="solid"/>
          </a:ln>
          <a:effectLst>
            <a:outerShdw sx="100000" sy="100000" kx="0" ky="0" algn="bl" rotWithShape="0" blurRad="114300" dist="25400" dir="5400000">
              <a:srgbClr val="9FB0C0">
                <a:alpha val="22000"/>
              </a:srgbClr>
            </a:outerShdw>
          </a:effectLst>
        </p:spPr>
      </p:sp>
      <p:sp>
        <p:nvSpPr>
          <p:cNvPr id="15" name="Text 12"/>
          <p:cNvSpPr/>
          <p:nvPr/>
        </p:nvSpPr>
        <p:spPr>
          <a:xfrm>
            <a:off x="3337560" y="1682496"/>
            <a:ext cx="2377440" cy="566928"/>
          </a:xfrm>
          <a:prstGeom prst="rect">
            <a:avLst/>
          </a:prstGeom>
          <a:noFill/>
          <a:ln/>
        </p:spPr>
        <p:txBody>
          <a:bodyPr wrap="square" lIns="0" tIns="0" rIns="0" bIns="0" rtlCol="0" anchor="ctr"/>
          <a:lstStyle/>
          <a:p>
            <a:pPr algn="ctr" indent="0" marL="0">
              <a:buNone/>
            </a:pPr>
            <a:r>
              <a:rPr lang="en-US" sz="2600" b="1" dirty="0">
                <a:solidFill>
                  <a:srgbClr val="E63946"/>
                </a:solidFill>
                <a:latin typeface="Cambria" pitchFamily="34" charset="0"/>
                <a:ea typeface="Cambria" pitchFamily="34" charset="-122"/>
                <a:cs typeface="Cambria" pitchFamily="34" charset="-120"/>
              </a:rPr>
              <a:t>− 91</a:t>
            </a:r>
            <a:endParaRPr lang="en-US" sz="2600" dirty="0"/>
          </a:p>
        </p:txBody>
      </p:sp>
      <p:sp>
        <p:nvSpPr>
          <p:cNvPr id="16" name="Text 13"/>
          <p:cNvSpPr/>
          <p:nvPr/>
        </p:nvSpPr>
        <p:spPr>
          <a:xfrm>
            <a:off x="3337560" y="2267712"/>
            <a:ext cx="2377440" cy="365760"/>
          </a:xfrm>
          <a:prstGeom prst="rect">
            <a:avLst/>
          </a:prstGeom>
          <a:noFill/>
          <a:ln/>
        </p:spPr>
        <p:txBody>
          <a:bodyPr wrap="square" lIns="0" tIns="0" rIns="0" bIns="0" rtlCol="0" anchor="t"/>
          <a:lstStyle/>
          <a:p>
            <a:pPr algn="ctr" indent="0" marL="0">
              <a:buNone/>
            </a:pPr>
            <a:r>
              <a:rPr lang="en-US" sz="1250" dirty="0">
                <a:solidFill>
                  <a:srgbClr val="5A6B7D"/>
                </a:solidFill>
                <a:latin typeface="Calibri" pitchFamily="34" charset="0"/>
                <a:ea typeface="Calibri" pitchFamily="34" charset="-122"/>
                <a:cs typeface="Calibri" pitchFamily="34" charset="-120"/>
              </a:rPr>
              <a:t>loại exact-cross</a:t>
            </a:r>
            <a:endParaRPr lang="en-US" sz="1250" dirty="0"/>
          </a:p>
        </p:txBody>
      </p:sp>
      <p:sp>
        <p:nvSpPr>
          <p:cNvPr id="17" name="Text 14"/>
          <p:cNvSpPr/>
          <p:nvPr/>
        </p:nvSpPr>
        <p:spPr>
          <a:xfrm>
            <a:off x="5733288" y="1865376"/>
            <a:ext cx="384048" cy="548640"/>
          </a:xfrm>
          <a:prstGeom prst="rect">
            <a:avLst/>
          </a:prstGeom>
          <a:noFill/>
          <a:ln/>
        </p:spPr>
        <p:txBody>
          <a:bodyPr wrap="square" lIns="0" tIns="0" rIns="0" bIns="0" rtlCol="0" anchor="ctr"/>
          <a:lstStyle/>
          <a:p>
            <a:pPr algn="ctr" indent="0" marL="0">
              <a:buNone/>
            </a:pPr>
            <a:r>
              <a:rPr lang="en-US" sz="2200" b="1" dirty="0">
                <a:solidFill>
                  <a:srgbClr val="1C7293"/>
                </a:solidFill>
                <a:latin typeface="Calibri" pitchFamily="34" charset="0"/>
                <a:ea typeface="Calibri" pitchFamily="34" charset="-122"/>
                <a:cs typeface="Calibri" pitchFamily="34" charset="-120"/>
              </a:rPr>
              <a:t>→</a:t>
            </a:r>
            <a:endParaRPr lang="en-US" sz="2200" dirty="0"/>
          </a:p>
        </p:txBody>
      </p:sp>
      <p:sp>
        <p:nvSpPr>
          <p:cNvPr id="18" name="Shape 15"/>
          <p:cNvSpPr/>
          <p:nvPr/>
        </p:nvSpPr>
        <p:spPr>
          <a:xfrm>
            <a:off x="6126480" y="1481328"/>
            <a:ext cx="2377440" cy="1371600"/>
          </a:xfrm>
          <a:prstGeom prst="roundRect">
            <a:avLst>
              <a:gd name="adj" fmla="val 6667"/>
            </a:avLst>
          </a:prstGeom>
          <a:solidFill>
            <a:srgbClr val="E8F4F0"/>
          </a:solidFill>
          <a:ln w="12700">
            <a:solidFill>
              <a:srgbClr val="E6ECF2"/>
            </a:solidFill>
            <a:prstDash val="solid"/>
          </a:ln>
          <a:effectLst>
            <a:outerShdw sx="100000" sy="100000" kx="0" ky="0" algn="bl" rotWithShape="0" blurRad="114300" dist="25400" dir="5400000">
              <a:srgbClr val="9FB0C0">
                <a:alpha val="22000"/>
              </a:srgbClr>
            </a:outerShdw>
          </a:effectLst>
        </p:spPr>
      </p:sp>
      <p:sp>
        <p:nvSpPr>
          <p:cNvPr id="19" name="Text 16"/>
          <p:cNvSpPr/>
          <p:nvPr/>
        </p:nvSpPr>
        <p:spPr>
          <a:xfrm>
            <a:off x="6126480" y="1682496"/>
            <a:ext cx="2377440" cy="566928"/>
          </a:xfrm>
          <a:prstGeom prst="rect">
            <a:avLst/>
          </a:prstGeom>
          <a:noFill/>
          <a:ln/>
        </p:spPr>
        <p:txBody>
          <a:bodyPr wrap="square" lIns="0" tIns="0" rIns="0" bIns="0" rtlCol="0" anchor="ctr"/>
          <a:lstStyle/>
          <a:p>
            <a:pPr algn="ctr" indent="0" marL="0">
              <a:buNone/>
            </a:pPr>
            <a:r>
              <a:rPr lang="en-US" sz="2600" b="1" dirty="0">
                <a:solidFill>
                  <a:srgbClr val="1A2430"/>
                </a:solidFill>
                <a:latin typeface="Cambria" pitchFamily="34" charset="0"/>
                <a:ea typeface="Cambria" pitchFamily="34" charset="-122"/>
                <a:cs typeface="Cambria" pitchFamily="34" charset="-120"/>
              </a:rPr>
              <a:t>3,439</a:t>
            </a:r>
            <a:endParaRPr lang="en-US" sz="2600" dirty="0"/>
          </a:p>
        </p:txBody>
      </p:sp>
      <p:sp>
        <p:nvSpPr>
          <p:cNvPr id="20" name="Text 17"/>
          <p:cNvSpPr/>
          <p:nvPr/>
        </p:nvSpPr>
        <p:spPr>
          <a:xfrm>
            <a:off x="6126480" y="2267712"/>
            <a:ext cx="2377440" cy="365760"/>
          </a:xfrm>
          <a:prstGeom prst="rect">
            <a:avLst/>
          </a:prstGeom>
          <a:noFill/>
          <a:ln/>
        </p:spPr>
        <p:txBody>
          <a:bodyPr wrap="square" lIns="0" tIns="0" rIns="0" bIns="0" rtlCol="0" anchor="t"/>
          <a:lstStyle/>
          <a:p>
            <a:pPr algn="ctr" indent="0" marL="0">
              <a:buNone/>
            </a:pPr>
            <a:r>
              <a:rPr lang="en-US" sz="1250" dirty="0">
                <a:solidFill>
                  <a:srgbClr val="5A6B7D"/>
                </a:solidFill>
                <a:latin typeface="Calibri" pitchFamily="34" charset="0"/>
                <a:ea typeface="Calibri" pitchFamily="34" charset="-122"/>
                <a:cs typeface="Calibri" pitchFamily="34" charset="-120"/>
              </a:rPr>
              <a:t>train sạch</a:t>
            </a:r>
            <a:endParaRPr lang="en-US" sz="1250" dirty="0"/>
          </a:p>
        </p:txBody>
      </p:sp>
      <p:sp>
        <p:nvSpPr>
          <p:cNvPr id="21" name="Shape 18"/>
          <p:cNvSpPr/>
          <p:nvPr/>
        </p:nvSpPr>
        <p:spPr>
          <a:xfrm>
            <a:off x="548640" y="3218688"/>
            <a:ext cx="11064240" cy="1463040"/>
          </a:xfrm>
          <a:prstGeom prst="roundRect">
            <a:avLst>
              <a:gd name="adj" fmla="val 6250"/>
            </a:avLst>
          </a:prstGeom>
          <a:solidFill>
            <a:srgbClr val="FDEEEE"/>
          </a:solidFill>
          <a:ln w="12700">
            <a:solidFill>
              <a:srgbClr val="E6ECF2"/>
            </a:solidFill>
            <a:prstDash val="solid"/>
          </a:ln>
          <a:effectLst>
            <a:outerShdw sx="100000" sy="100000" kx="0" ky="0" algn="bl" rotWithShape="0" blurRad="114300" dist="25400" dir="5400000">
              <a:srgbClr val="9FB0C0">
                <a:alpha val="22000"/>
              </a:srgbClr>
            </a:outerShdw>
          </a:effectLst>
        </p:spPr>
      </p:sp>
      <p:sp>
        <p:nvSpPr>
          <p:cNvPr id="22" name="Text 19"/>
          <p:cNvSpPr/>
          <p:nvPr/>
        </p:nvSpPr>
        <p:spPr>
          <a:xfrm>
            <a:off x="822960" y="3383280"/>
            <a:ext cx="4572000" cy="329184"/>
          </a:xfrm>
          <a:prstGeom prst="rect">
            <a:avLst/>
          </a:prstGeom>
          <a:noFill/>
          <a:ln/>
        </p:spPr>
        <p:txBody>
          <a:bodyPr wrap="square" lIns="0" tIns="0" rIns="0" bIns="0" rtlCol="0" anchor="ctr"/>
          <a:lstStyle/>
          <a:p>
            <a:pPr indent="0" marL="0">
              <a:buNone/>
            </a:pPr>
            <a:r>
              <a:rPr lang="en-US" sz="1600" b="1" dirty="0">
                <a:solidFill>
                  <a:srgbClr val="E63946"/>
                </a:solidFill>
                <a:latin typeface="Cambria" pitchFamily="34" charset="0"/>
                <a:ea typeface="Cambria" pitchFamily="34" charset="-122"/>
                <a:cs typeface="Cambria" pitchFamily="34" charset="-120"/>
              </a:rPr>
              <a:t>Vấn đề</a:t>
            </a:r>
            <a:endParaRPr lang="en-US" sz="1600" dirty="0"/>
          </a:p>
        </p:txBody>
      </p:sp>
      <p:sp>
        <p:nvSpPr>
          <p:cNvPr id="23" name="Text 20"/>
          <p:cNvSpPr/>
          <p:nvPr/>
        </p:nvSpPr>
        <p:spPr>
          <a:xfrm>
            <a:off x="822960" y="3767328"/>
            <a:ext cx="10515600" cy="822960"/>
          </a:xfrm>
          <a:prstGeom prst="rect">
            <a:avLst/>
          </a:prstGeom>
          <a:noFill/>
          <a:ln/>
        </p:spPr>
        <p:txBody>
          <a:bodyPr wrap="square" lIns="0" tIns="0" rIns="0" bIns="0" rtlCol="0" anchor="t"/>
          <a:lstStyle/>
          <a:p>
            <a:pPr indent="0" marL="0">
              <a:buNone/>
            </a:pPr>
            <a:r>
              <a:rPr lang="en-US" sz="1450" dirty="0">
                <a:solidFill>
                  <a:srgbClr val="1A2430"/>
                </a:solidFill>
                <a:latin typeface="Calibri" pitchFamily="34" charset="0"/>
                <a:ea typeface="Calibri" pitchFamily="34" charset="-122"/>
                <a:cs typeface="Calibri" pitchFamily="34" charset="-120"/>
              </a:rPr>
              <a:t>Tập valid/test — vốn dùng để CHẤM ĐIỂM — không được khử trùng. Vẫn còn 202 ảnh trùng chính xác và 423 ảnh gần trùng xuyên split trong dữ liệu đánh giá.</a:t>
            </a:r>
            <a:endParaRPr lang="en-US" sz="14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52238"/>
        </a:solidFill>
      </p:bgPr>
    </p:bg>
    <p:spTree>
      <p:nvGrpSpPr>
        <p:cNvPr id="1" name=""/>
        <p:cNvGrpSpPr/>
        <p:nvPr/>
      </p:nvGrpSpPr>
      <p:grpSpPr>
        <a:xfrm>
          <a:off x="0" y="0"/>
          <a:ext cx="0" cy="0"/>
          <a:chOff x="0" y="0"/>
          <a:chExt cx="0" cy="0"/>
        </a:xfrm>
      </p:grpSpPr>
      <p:sp>
        <p:nvSpPr>
          <p:cNvPr id="3" name="Text 0"/>
          <p:cNvSpPr/>
          <p:nvPr/>
        </p:nvSpPr>
        <p:spPr>
          <a:xfrm>
            <a:off x="548640" y="548640"/>
            <a:ext cx="11064240" cy="73152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Nhận xét A — Rò rỉ dữ liệu</a:t>
            </a:r>
            <a:endParaRPr lang="en-US" sz="3000" dirty="0"/>
          </a:p>
        </p:txBody>
      </p:sp>
      <p:sp>
        <p:nvSpPr>
          <p:cNvPr id="4" name="Shape 1"/>
          <p:cNvSpPr/>
          <p:nvPr/>
        </p:nvSpPr>
        <p:spPr>
          <a:xfrm>
            <a:off x="548640" y="1645920"/>
            <a:ext cx="11064240" cy="1051560"/>
          </a:xfrm>
          <a:prstGeom prst="roundRect">
            <a:avLst>
              <a:gd name="adj" fmla="val 8696"/>
            </a:avLst>
          </a:prstGeom>
          <a:solidFill>
            <a:srgbClr val="1E3050"/>
          </a:solidFill>
          <a:ln w="12700">
            <a:solidFill>
              <a:srgbClr val="E6ECF2"/>
            </a:solidFill>
            <a:prstDash val="solid"/>
          </a:ln>
          <a:effectLst>
            <a:outerShdw sx="100000" sy="100000" kx="0" ky="0" algn="bl" rotWithShape="0" blurRad="114300" dist="25400" dir="5400000">
              <a:srgbClr val="9FB0C0">
                <a:alpha val="22000"/>
              </a:srgbClr>
            </a:outerShdw>
          </a:effectLst>
        </p:spPr>
      </p:sp>
      <p:sp>
        <p:nvSpPr>
          <p:cNvPr id="5" name="Text 2"/>
          <p:cNvSpPr/>
          <p:nvPr/>
        </p:nvSpPr>
        <p:spPr>
          <a:xfrm>
            <a:off x="868680" y="1755648"/>
            <a:ext cx="4846320" cy="822960"/>
          </a:xfrm>
          <a:prstGeom prst="rect">
            <a:avLst/>
          </a:prstGeom>
          <a:noFill/>
          <a:ln/>
        </p:spPr>
        <p:txBody>
          <a:bodyPr wrap="square" lIns="0" tIns="0" rIns="0" bIns="0" rtlCol="0" anchor="ctr"/>
          <a:lstStyle/>
          <a:p>
            <a:pPr indent="0" marL="0">
              <a:buNone/>
            </a:pPr>
            <a:r>
              <a:rPr lang="en-US" sz="1800" b="1" dirty="0">
                <a:solidFill>
                  <a:srgbClr val="F4A261"/>
                </a:solidFill>
                <a:latin typeface="Cambria" pitchFamily="34" charset="0"/>
                <a:ea typeface="Cambria" pitchFamily="34" charset="-122"/>
                <a:cs typeface="Cambria" pitchFamily="34" charset="-120"/>
              </a:rPr>
              <a:t>Chỉ 91 ảnh bị loại khỏi train</a:t>
            </a:r>
            <a:endParaRPr lang="en-US" sz="1800" dirty="0"/>
          </a:p>
        </p:txBody>
      </p:sp>
      <p:sp>
        <p:nvSpPr>
          <p:cNvPr id="6" name="Text 3"/>
          <p:cNvSpPr/>
          <p:nvPr/>
        </p:nvSpPr>
        <p:spPr>
          <a:xfrm>
            <a:off x="5943600" y="1755648"/>
            <a:ext cx="5394960" cy="822960"/>
          </a:xfrm>
          <a:prstGeom prst="rect">
            <a:avLst/>
          </a:prstGeom>
          <a:noFill/>
          <a:ln/>
        </p:spPr>
        <p:txBody>
          <a:bodyPr wrap="square" lIns="0" tIns="0" rIns="0" bIns="0" rtlCol="0" anchor="ctr"/>
          <a:lstStyle/>
          <a:p>
            <a:pPr indent="0" marL="0">
              <a:buNone/>
            </a:pPr>
            <a:r>
              <a:rPr lang="en-US" sz="1500" dirty="0">
                <a:solidFill>
                  <a:srgbClr val="C6D4E2"/>
                </a:solidFill>
                <a:latin typeface="Calibri" pitchFamily="34" charset="0"/>
                <a:ea typeface="Calibri" pitchFamily="34" charset="-122"/>
                <a:cs typeface="Calibri" pitchFamily="34" charset="-120"/>
              </a:rPr>
              <a:t>notebook không khử trùng ở tập đánh giá</a:t>
            </a:r>
            <a:endParaRPr lang="en-US" sz="1500" dirty="0"/>
          </a:p>
        </p:txBody>
      </p:sp>
      <p:sp>
        <p:nvSpPr>
          <p:cNvPr id="7" name="Shape 4"/>
          <p:cNvSpPr/>
          <p:nvPr/>
        </p:nvSpPr>
        <p:spPr>
          <a:xfrm>
            <a:off x="548640" y="2880360"/>
            <a:ext cx="11064240" cy="1051560"/>
          </a:xfrm>
          <a:prstGeom prst="roundRect">
            <a:avLst>
              <a:gd name="adj" fmla="val 8696"/>
            </a:avLst>
          </a:prstGeom>
          <a:solidFill>
            <a:srgbClr val="1E3050"/>
          </a:solidFill>
          <a:ln w="12700">
            <a:solidFill>
              <a:srgbClr val="E6ECF2"/>
            </a:solidFill>
            <a:prstDash val="solid"/>
          </a:ln>
          <a:effectLst>
            <a:outerShdw sx="100000" sy="100000" kx="0" ky="0" algn="bl" rotWithShape="0" blurRad="114300" dist="25400" dir="5400000">
              <a:srgbClr val="9FB0C0">
                <a:alpha val="22000"/>
              </a:srgbClr>
            </a:outerShdw>
          </a:effectLst>
        </p:spPr>
      </p:sp>
      <p:sp>
        <p:nvSpPr>
          <p:cNvPr id="8" name="Text 5"/>
          <p:cNvSpPr/>
          <p:nvPr/>
        </p:nvSpPr>
        <p:spPr>
          <a:xfrm>
            <a:off x="868680" y="2990088"/>
            <a:ext cx="4846320" cy="822960"/>
          </a:xfrm>
          <a:prstGeom prst="rect">
            <a:avLst/>
          </a:prstGeom>
          <a:noFill/>
          <a:ln/>
        </p:spPr>
        <p:txBody>
          <a:bodyPr wrap="square" lIns="0" tIns="0" rIns="0" bIns="0" rtlCol="0" anchor="ctr"/>
          <a:lstStyle/>
          <a:p>
            <a:pPr indent="0" marL="0">
              <a:buNone/>
            </a:pPr>
            <a:r>
              <a:rPr lang="en-US" sz="1800" b="1" dirty="0">
                <a:solidFill>
                  <a:srgbClr val="F4A261"/>
                </a:solidFill>
                <a:latin typeface="Cambria" pitchFamily="34" charset="0"/>
                <a:ea typeface="Cambria" pitchFamily="34" charset="-122"/>
                <a:cs typeface="Cambria" pitchFamily="34" charset="-120"/>
              </a:rPr>
              <a:t>202 + 423 trùng xuyên split</a:t>
            </a:r>
            <a:endParaRPr lang="en-US" sz="1800" dirty="0"/>
          </a:p>
        </p:txBody>
      </p:sp>
      <p:sp>
        <p:nvSpPr>
          <p:cNvPr id="9" name="Text 6"/>
          <p:cNvSpPr/>
          <p:nvPr/>
        </p:nvSpPr>
        <p:spPr>
          <a:xfrm>
            <a:off x="5943600" y="2990088"/>
            <a:ext cx="5394960" cy="822960"/>
          </a:xfrm>
          <a:prstGeom prst="rect">
            <a:avLst/>
          </a:prstGeom>
          <a:noFill/>
          <a:ln/>
        </p:spPr>
        <p:txBody>
          <a:bodyPr wrap="square" lIns="0" tIns="0" rIns="0" bIns="0" rtlCol="0" anchor="ctr"/>
          <a:lstStyle/>
          <a:p>
            <a:pPr indent="0" marL="0">
              <a:buNone/>
            </a:pPr>
            <a:r>
              <a:rPr lang="en-US" sz="1500" dirty="0">
                <a:solidFill>
                  <a:srgbClr val="C6D4E2"/>
                </a:solidFill>
                <a:latin typeface="Calibri" pitchFamily="34" charset="0"/>
                <a:ea typeface="Calibri" pitchFamily="34" charset="-122"/>
                <a:cs typeface="Calibri" pitchFamily="34" charset="-120"/>
              </a:rPr>
              <a:t>vẫn còn trong valid/test</a:t>
            </a:r>
            <a:endParaRPr lang="en-US" sz="1500" dirty="0"/>
          </a:p>
        </p:txBody>
      </p:sp>
      <p:sp>
        <p:nvSpPr>
          <p:cNvPr id="10" name="Shape 7"/>
          <p:cNvSpPr/>
          <p:nvPr/>
        </p:nvSpPr>
        <p:spPr>
          <a:xfrm>
            <a:off x="548640" y="4114800"/>
            <a:ext cx="11064240" cy="1051560"/>
          </a:xfrm>
          <a:prstGeom prst="roundRect">
            <a:avLst>
              <a:gd name="adj" fmla="val 8696"/>
            </a:avLst>
          </a:prstGeom>
          <a:solidFill>
            <a:srgbClr val="1E3050"/>
          </a:solidFill>
          <a:ln w="12700">
            <a:solidFill>
              <a:srgbClr val="E6ECF2"/>
            </a:solidFill>
            <a:prstDash val="solid"/>
          </a:ln>
          <a:effectLst>
            <a:outerShdw sx="100000" sy="100000" kx="0" ky="0" algn="bl" rotWithShape="0" blurRad="114300" dist="25400" dir="5400000">
              <a:srgbClr val="9FB0C0">
                <a:alpha val="22000"/>
              </a:srgbClr>
            </a:outerShdw>
          </a:effectLst>
        </p:spPr>
      </p:sp>
      <p:sp>
        <p:nvSpPr>
          <p:cNvPr id="11" name="Text 8"/>
          <p:cNvSpPr/>
          <p:nvPr/>
        </p:nvSpPr>
        <p:spPr>
          <a:xfrm>
            <a:off x="868680" y="4224528"/>
            <a:ext cx="4846320" cy="822960"/>
          </a:xfrm>
          <a:prstGeom prst="rect">
            <a:avLst/>
          </a:prstGeom>
          <a:noFill/>
          <a:ln/>
        </p:spPr>
        <p:txBody>
          <a:bodyPr wrap="square" lIns="0" tIns="0" rIns="0" bIns="0" rtlCol="0" anchor="ctr"/>
          <a:lstStyle/>
          <a:p>
            <a:pPr indent="0" marL="0">
              <a:buNone/>
            </a:pPr>
            <a:r>
              <a:rPr lang="en-US" sz="1800" b="1" dirty="0">
                <a:solidFill>
                  <a:srgbClr val="F4A261"/>
                </a:solidFill>
                <a:latin typeface="Cambria" pitchFamily="34" charset="0"/>
                <a:ea typeface="Cambria" pitchFamily="34" charset="-122"/>
                <a:cs typeface="Cambria" pitchFamily="34" charset="-120"/>
              </a:rPr>
              <a:t>mAP 0,97 có thể LẠC QUAN</a:t>
            </a:r>
            <a:endParaRPr lang="en-US" sz="1800" dirty="0"/>
          </a:p>
        </p:txBody>
      </p:sp>
      <p:sp>
        <p:nvSpPr>
          <p:cNvPr id="12" name="Text 9"/>
          <p:cNvSpPr/>
          <p:nvPr/>
        </p:nvSpPr>
        <p:spPr>
          <a:xfrm>
            <a:off x="5943600" y="4224528"/>
            <a:ext cx="5394960" cy="822960"/>
          </a:xfrm>
          <a:prstGeom prst="rect">
            <a:avLst/>
          </a:prstGeom>
          <a:noFill/>
          <a:ln/>
        </p:spPr>
        <p:txBody>
          <a:bodyPr wrap="square" lIns="0" tIns="0" rIns="0" bIns="0" rtlCol="0" anchor="ctr"/>
          <a:lstStyle/>
          <a:p>
            <a:pPr indent="0" marL="0">
              <a:buNone/>
            </a:pPr>
            <a:r>
              <a:rPr lang="en-US" sz="1500" dirty="0">
                <a:solidFill>
                  <a:srgbClr val="C6D4E2"/>
                </a:solidFill>
                <a:latin typeface="Calibri" pitchFamily="34" charset="0"/>
                <a:ea typeface="Calibri" pitchFamily="34" charset="-122"/>
                <a:cs typeface="Calibri" pitchFamily="34" charset="-120"/>
              </a:rPr>
              <a:t>một phần điểm có thể do mô hình đã thấy ảnh rất giống</a:t>
            </a:r>
            <a:endParaRPr lang="en-US" sz="1500" dirty="0"/>
          </a:p>
        </p:txBody>
      </p:sp>
      <p:sp>
        <p:nvSpPr>
          <p:cNvPr id="13" name="Text 10"/>
          <p:cNvSpPr/>
          <p:nvPr/>
        </p:nvSpPr>
        <p:spPr>
          <a:xfrm>
            <a:off x="548640" y="5486400"/>
            <a:ext cx="11064240" cy="548640"/>
          </a:xfrm>
          <a:prstGeom prst="rect">
            <a:avLst/>
          </a:prstGeom>
          <a:noFill/>
          <a:ln/>
        </p:spPr>
        <p:txBody>
          <a:bodyPr wrap="square" lIns="0" tIns="0" rIns="0" bIns="0" rtlCol="0" anchor="ctr"/>
          <a:lstStyle/>
          <a:p>
            <a:pPr indent="0" marL="0">
              <a:buNone/>
            </a:pPr>
            <a:r>
              <a:rPr lang="en-US" sz="1500" dirty="0">
                <a:solidFill>
                  <a:srgbClr val="9DB2C6"/>
                </a:solidFill>
                <a:latin typeface="Calibri" pitchFamily="34" charset="0"/>
                <a:ea typeface="Calibri" pitchFamily="34" charset="-122"/>
                <a:cs typeface="Calibri" pitchFamily="34" charset="-120"/>
              </a:rPr>
              <a:t>Khuyến nghị: khử trùng ở CẢ valid/test và báo cáo thêm mAP sau khi loại near-duplicate.</a:t>
            </a:r>
            <a:endParaRPr lang="en-US" sz="15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52238"/>
        </a:solidFill>
      </p:bgPr>
    </p:bg>
    <p:spTree>
      <p:nvGrpSpPr>
        <p:cNvPr id="1" name=""/>
        <p:cNvGrpSpPr/>
        <p:nvPr/>
      </p:nvGrpSpPr>
      <p:grpSpPr>
        <a:xfrm>
          <a:off x="0" y="0"/>
          <a:ext cx="0" cy="0"/>
          <a:chOff x="0" y="0"/>
          <a:chExt cx="0" cy="0"/>
        </a:xfrm>
      </p:grpSpPr>
      <p:sp>
        <p:nvSpPr>
          <p:cNvPr id="3" name="Shape 0"/>
          <p:cNvSpPr/>
          <p:nvPr/>
        </p:nvSpPr>
        <p:spPr>
          <a:xfrm>
            <a:off x="548640" y="2286000"/>
            <a:ext cx="749808" cy="749808"/>
          </a:xfrm>
          <a:prstGeom prst="ellipse">
            <a:avLst/>
          </a:prstGeom>
          <a:solidFill>
            <a:srgbClr val="1C7293"/>
          </a:solidFill>
          <a:ln w="12700">
            <a:solidFill>
              <a:srgbClr val="333333"/>
            </a:solidFill>
            <a:prstDash val="solid"/>
          </a:ln>
          <a:effectLst>
            <a:outerShdw sx="100000" sy="100000" kx="0" ky="0" algn="bl" rotWithShape="0" blurRad="63500" dist="12700" dir="5400000">
              <a:srgbClr val="1C7293">
                <a:alpha val="35000"/>
              </a:srgbClr>
            </a:outerShdw>
          </a:effectLst>
        </p:spPr>
      </p:sp>
      <p:sp>
        <p:nvSpPr>
          <p:cNvPr id="4" name="Text 1"/>
          <p:cNvSpPr/>
          <p:nvPr/>
        </p:nvSpPr>
        <p:spPr>
          <a:xfrm>
            <a:off x="548640" y="2286000"/>
            <a:ext cx="749808" cy="74980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5" name="Text 2"/>
          <p:cNvSpPr/>
          <p:nvPr/>
        </p:nvSpPr>
        <p:spPr>
          <a:xfrm>
            <a:off x="548640" y="3200400"/>
            <a:ext cx="11064240" cy="82296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Khoảng cách đèn – biển</a:t>
            </a:r>
            <a:endParaRPr lang="en-US" sz="3800" dirty="0"/>
          </a:p>
        </p:txBody>
      </p:sp>
      <p:sp>
        <p:nvSpPr>
          <p:cNvPr id="6" name="Text 3"/>
          <p:cNvSpPr/>
          <p:nvPr/>
        </p:nvSpPr>
        <p:spPr>
          <a:xfrm>
            <a:off x="548640" y="4041648"/>
            <a:ext cx="9784080" cy="548640"/>
          </a:xfrm>
          <a:prstGeom prst="rect">
            <a:avLst/>
          </a:prstGeom>
          <a:noFill/>
          <a:ln/>
        </p:spPr>
        <p:txBody>
          <a:bodyPr wrap="square" lIns="0" tIns="0" rIns="0" bIns="0" rtlCol="0" anchor="ctr"/>
          <a:lstStyle/>
          <a:p>
            <a:pPr indent="0" marL="0">
              <a:buNone/>
            </a:pPr>
            <a:r>
              <a:rPr lang="en-US" sz="1600" dirty="0">
                <a:solidFill>
                  <a:srgbClr val="9DB2C6"/>
                </a:solidFill>
                <a:latin typeface="Calibri" pitchFamily="34" charset="0"/>
                <a:ea typeface="Calibri" pitchFamily="34" charset="-122"/>
                <a:cs typeface="Calibri" pitchFamily="34" charset="-120"/>
              </a:rPr>
              <a:t>Hiệu năng có đồng đều giữa các lớp không?</a:t>
            </a:r>
            <a:endParaRPr lang="en-US" sz="1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10789920" y="-1234440"/>
            <a:ext cx="2743200" cy="2743200"/>
          </a:xfrm>
          <a:prstGeom prst="ellipse">
            <a:avLst/>
          </a:prstGeom>
          <a:solidFill>
            <a:srgbClr val="EAF1F6"/>
          </a:solidFill>
          <a:ln w="12700">
            <a:solidFill>
              <a:srgbClr val="333333"/>
            </a:solidFill>
            <a:prstDash val="solid"/>
          </a:ln>
        </p:spPr>
      </p:sp>
      <p:sp>
        <p:nvSpPr>
          <p:cNvPr id="4" name="Shape 1"/>
          <p:cNvSpPr/>
          <p:nvPr/>
        </p:nvSpPr>
        <p:spPr>
          <a:xfrm>
            <a:off x="11475720" y="182880"/>
            <a:ext cx="822960" cy="822960"/>
          </a:xfrm>
          <a:prstGeom prst="ellipse">
            <a:avLst/>
          </a:prstGeom>
          <a:solidFill>
            <a:srgbClr val="DCE8F0"/>
          </a:solidFill>
          <a:ln w="12700">
            <a:solidFill>
              <a:srgbClr val="333333"/>
            </a:solidFill>
            <a:prstDash val="solid"/>
          </a:ln>
        </p:spPr>
      </p:sp>
      <p:sp>
        <p:nvSpPr>
          <p:cNvPr id="5" name="Shape 2"/>
          <p:cNvSpPr/>
          <p:nvPr/>
        </p:nvSpPr>
        <p:spPr>
          <a:xfrm>
            <a:off x="548640" y="6382512"/>
            <a:ext cx="11064240" cy="0"/>
          </a:xfrm>
          <a:prstGeom prst="line">
            <a:avLst/>
          </a:prstGeom>
          <a:noFill/>
          <a:ln w="12700">
            <a:solidFill>
              <a:srgbClr val="DDE3EA"/>
            </a:solidFill>
            <a:prstDash val="solid"/>
          </a:ln>
        </p:spPr>
      </p:sp>
      <p:sp>
        <p:nvSpPr>
          <p:cNvPr id="6" name="Text 3"/>
          <p:cNvSpPr/>
          <p:nvPr/>
        </p:nvSpPr>
        <p:spPr>
          <a:xfrm>
            <a:off x="548640" y="6419088"/>
            <a:ext cx="8686800" cy="274320"/>
          </a:xfrm>
          <a:prstGeom prst="rect">
            <a:avLst/>
          </a:prstGeom>
          <a:noFill/>
          <a:ln/>
        </p:spPr>
        <p:txBody>
          <a:bodyPr wrap="square" lIns="0" tIns="0" rIns="0" bIns="0" rtlCol="0" anchor="ctr"/>
          <a:lstStyle/>
          <a:p>
            <a:pPr indent="0" marL="0">
              <a:buNone/>
            </a:pPr>
            <a:r>
              <a:rPr lang="en-US" sz="900" dirty="0">
                <a:solidFill>
                  <a:srgbClr val="9AA7B4"/>
                </a:solidFill>
                <a:latin typeface="Calibri" pitchFamily="34" charset="0"/>
                <a:ea typeface="Calibri" pitchFamily="34" charset="-122"/>
                <a:cs typeface="Calibri" pitchFamily="34" charset="-120"/>
              </a:rPr>
              <a:t>Kiểm định độ tin cậy YOLOv8 · Nhóm KHMT836016/34/36</a:t>
            </a:r>
            <a:endParaRPr lang="en-US" sz="900" dirty="0"/>
          </a:p>
        </p:txBody>
      </p:sp>
      <p:sp>
        <p:nvSpPr>
          <p:cNvPr id="7" name="Text 4"/>
          <p:cNvSpPr/>
          <p:nvPr/>
        </p:nvSpPr>
        <p:spPr>
          <a:xfrm>
            <a:off x="11064240" y="6419088"/>
            <a:ext cx="548640" cy="274320"/>
          </a:xfrm>
          <a:prstGeom prst="rect">
            <a:avLst/>
          </a:prstGeom>
          <a:noFill/>
          <a:ln/>
        </p:spPr>
        <p:txBody>
          <a:bodyPr wrap="square" lIns="0" tIns="0" rIns="0" bIns="0" rtlCol="0" anchor="ctr"/>
          <a:lstStyle/>
          <a:p>
            <a:pPr algn="r" indent="0" marL="0">
              <a:buNone/>
            </a:pPr>
            <a:r>
              <a:rPr lang="en-US" sz="1000" b="1" dirty="0">
                <a:solidFill>
                  <a:srgbClr val="1C7293"/>
                </a:solidFill>
                <a:latin typeface="Calibri" pitchFamily="34" charset="0"/>
                <a:ea typeface="Calibri" pitchFamily="34" charset="-122"/>
                <a:cs typeface="Calibri" pitchFamily="34" charset="-120"/>
              </a:rPr>
              <a:t>25</a:t>
            </a:r>
            <a:endParaRPr lang="en-US" sz="1000" dirty="0"/>
          </a:p>
        </p:txBody>
      </p:sp>
      <p:sp>
        <p:nvSpPr>
          <p:cNvPr id="8" name="Shape 5"/>
          <p:cNvSpPr/>
          <p:nvPr/>
        </p:nvSpPr>
        <p:spPr>
          <a:xfrm>
            <a:off x="548640" y="457200"/>
            <a:ext cx="155448" cy="457200"/>
          </a:xfrm>
          <a:prstGeom prst="roundRect">
            <a:avLst>
              <a:gd name="adj" fmla="val 17647"/>
            </a:avLst>
          </a:prstGeom>
          <a:solidFill>
            <a:srgbClr val="1C7293"/>
          </a:solidFill>
          <a:ln w="12700">
            <a:solidFill>
              <a:srgbClr val="333333"/>
            </a:solidFill>
            <a:prstDash val="solid"/>
          </a:ln>
        </p:spPr>
      </p:sp>
      <p:sp>
        <p:nvSpPr>
          <p:cNvPr id="9" name="Text 6"/>
          <p:cNvSpPr/>
          <p:nvPr/>
        </p:nvSpPr>
        <p:spPr>
          <a:xfrm>
            <a:off x="877824" y="365760"/>
            <a:ext cx="10735056" cy="713232"/>
          </a:xfrm>
          <a:prstGeom prst="rect">
            <a:avLst/>
          </a:prstGeom>
          <a:noFill/>
          <a:ln/>
        </p:spPr>
        <p:txBody>
          <a:bodyPr wrap="square" lIns="0" tIns="0" rIns="0" bIns="0" rtlCol="0" anchor="ctr"/>
          <a:lstStyle/>
          <a:p>
            <a:pPr indent="0" marL="0">
              <a:buNone/>
            </a:pPr>
            <a:r>
              <a:rPr lang="en-US" sz="2500" b="1" dirty="0">
                <a:solidFill>
                  <a:srgbClr val="1A2430"/>
                </a:solidFill>
                <a:latin typeface="Cambria" pitchFamily="34" charset="0"/>
                <a:ea typeface="Cambria" pitchFamily="34" charset="-122"/>
                <a:cs typeface="Cambria" pitchFamily="34" charset="-120"/>
              </a:rPr>
              <a:t>B · Hiệu năng theo lớp (test) — đầy đủ 15 lớp</a:t>
            </a:r>
            <a:endParaRPr lang="en-US" sz="25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48640" y="1481328"/>
          <a:ext cx="5577840" cy="914400"/>
        </p:xfrm>
        <a:graphic>
          <a:graphicData uri="http://schemas.openxmlformats.org/drawingml/2006/table">
            <a:tbl>
              <a:tblPr/>
              <a:tblGrid>
                <a:gridCol w="2743200"/>
                <a:gridCol w="1554480"/>
                <a:gridCol w="1280160"/>
              </a:tblGrid>
              <a:tr h="310896">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Lớp</a:t>
                      </a:r>
                      <a:endParaRPr lang="en-US" sz="1250" dirty="0">
                        <a:latin typeface="Calibri" charset="0"/>
                        <a:ea typeface="Calibri" charset="0"/>
                        <a:cs typeface="Calibri" charset="0"/>
                      </a:endParaRPr>
                    </a:p>
                  </a:txBody>
                  <a:tcPr marL="45720" marR="45720" marT="45720" marB="45720" anchor="ctr">
                    <a:lnL w="12700" cap="flat" cmpd="sng" algn="ctr">
                      <a:solidFill>
                        <a:srgbClr val="DCE3EB"/>
                      </a:solidFill>
                      <a:prstDash val="solid"/>
                      <a:round/>
                      <a:headEnd type="none" w="med" len="med"/>
                      <a:tailEnd type="none" w="med" len="med"/>
                    </a:lnL>
                    <a:lnR w="12700" cap="flat" cmpd="sng" algn="ctr">
                      <a:solidFill>
                        <a:srgbClr val="DCE3EB"/>
                      </a:solidFill>
                      <a:prstDash val="solid"/>
                      <a:round/>
                      <a:headEnd type="none" w="med" len="med"/>
                      <a:tailEnd type="none" w="med" len="med"/>
                    </a:lnR>
                    <a:lnT w="12700" cap="flat" cmpd="sng" algn="ctr">
                      <a:solidFill>
                        <a:srgbClr val="DCE3EB"/>
                      </a:solidFill>
                      <a:prstDash val="solid"/>
                      <a:round/>
                      <a:headEnd type="none" w="med" len="med"/>
                      <a:tailEnd type="none" w="med" len="med"/>
                    </a:lnT>
                    <a:lnB w="12700" cap="flat" cmpd="sng" algn="ctr">
                      <a:solidFill>
                        <a:srgbClr val="DCE3EB"/>
                      </a:solidFill>
                      <a:prstDash val="solid"/>
                      <a:round/>
                      <a:headEnd type="none" w="med" len="med"/>
                      <a:tailEnd type="none" w="med" len="med"/>
                    </a:lnB>
                    <a:solidFill>
                      <a:srgbClr val="152238"/>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mAP@.5:.95</a:t>
                      </a:r>
                      <a:endParaRPr lang="en-US" sz="1250" dirty="0">
                        <a:latin typeface="Calibri" charset="0"/>
                        <a:ea typeface="Calibri" charset="0"/>
                        <a:cs typeface="Calibri" charset="0"/>
                      </a:endParaRPr>
                    </a:p>
                  </a:txBody>
                  <a:tcPr marL="45720" marR="45720" marT="45720" marB="45720" anchor="ctr">
                    <a:lnL w="12700" cap="flat" cmpd="sng" algn="ctr">
                      <a:solidFill>
                        <a:srgbClr val="DCE3EB"/>
                      </a:solidFill>
                      <a:prstDash val="solid"/>
                      <a:round/>
                      <a:headEnd type="none" w="med" len="med"/>
                      <a:tailEnd type="none" w="med" len="med"/>
                    </a:lnL>
                    <a:lnR w="12700" cap="flat" cmpd="sng" algn="ctr">
                      <a:solidFill>
                        <a:srgbClr val="DCE3EB"/>
                      </a:solidFill>
                      <a:prstDash val="solid"/>
                      <a:round/>
                      <a:headEnd type="none" w="med" len="med"/>
                      <a:tailEnd type="none" w="med" len="med"/>
                    </a:lnR>
                    <a:lnT w="12700" cap="flat" cmpd="sng" algn="ctr">
                      <a:solidFill>
                        <a:srgbClr val="DCE3EB"/>
                      </a:solidFill>
                      <a:prstDash val="solid"/>
                      <a:round/>
                      <a:headEnd type="none" w="med" len="med"/>
                      <a:tailEnd type="none" w="med" len="med"/>
                    </a:lnT>
                    <a:lnB w="12700" cap="flat" cmpd="sng" algn="ctr">
                      <a:solidFill>
                        <a:srgbClr val="DCE3EB"/>
                      </a:solidFill>
                      <a:prstDash val="solid"/>
                      <a:round/>
                      <a:headEnd type="none" w="med" len="med"/>
                      <a:tailEnd type="none" w="med" len="med"/>
                    </a:lnB>
                    <a:solidFill>
                      <a:srgbClr val="152238"/>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Recall</a:t>
                      </a:r>
                      <a:endParaRPr lang="en-US" sz="1250" dirty="0">
                        <a:latin typeface="Calibri" charset="0"/>
                        <a:ea typeface="Calibri" charset="0"/>
                        <a:cs typeface="Calibri" charset="0"/>
                      </a:endParaRPr>
                    </a:p>
                  </a:txBody>
                  <a:tcPr marL="45720" marR="45720" marT="45720" marB="45720" anchor="ctr">
                    <a:lnL w="12700" cap="flat" cmpd="sng" algn="ctr">
                      <a:solidFill>
                        <a:srgbClr val="DCE3EB"/>
                      </a:solidFill>
                      <a:prstDash val="solid"/>
                      <a:round/>
                      <a:headEnd type="none" w="med" len="med"/>
                      <a:tailEnd type="none" w="med" len="med"/>
                    </a:lnL>
                    <a:lnR w="12700" cap="flat" cmpd="sng" algn="ctr">
                      <a:solidFill>
                        <a:srgbClr val="DCE3EB"/>
                      </a:solidFill>
                      <a:prstDash val="solid"/>
                      <a:round/>
                      <a:headEnd type="none" w="med" len="med"/>
                      <a:tailEnd type="none" w="med" len="med"/>
                    </a:lnR>
                    <a:lnT w="12700" cap="flat" cmpd="sng" algn="ctr">
                      <a:solidFill>
                        <a:srgbClr val="DCE3EB"/>
                      </a:solidFill>
                      <a:prstDash val="solid"/>
                      <a:round/>
                      <a:headEnd type="none" w="med" len="med"/>
                      <a:tailEnd type="none" w="med" len="med"/>
                    </a:lnT>
                    <a:lnB w="12700" cap="flat" cmpd="sng" algn="ctr">
                      <a:solidFill>
                        <a:srgbClr val="DCE3EB"/>
                      </a:solidFill>
                      <a:prstDash val="solid"/>
                      <a:round/>
                      <a:headEnd type="none" w="med" len="med"/>
                      <a:tailEnd type="none" w="med" len="med"/>
                    </a:lnB>
                    <a:solidFill>
                      <a:srgbClr val="152238"/>
                    </a:solidFill>
                  </a:tcPr>
                </a:tc>
              </a:tr>
              <a:tr h="310896">
                <a:tc>
                  <a:txBody>
                    <a:bodyPr/>
                    <a:lstStyle/>
                    <a:p>
                      <a:pPr algn="l" indent="0" marL="0">
                        <a:buNone/>
                      </a:pPr>
                      <a:r>
                        <a:rPr lang="en-US" sz="1200" dirty="0">
                          <a:solidFill>
                            <a:srgbClr val="1A2430"/>
                          </a:solidFill>
                          <a:latin typeface="Calibri" pitchFamily="34" charset="0"/>
                          <a:ea typeface="Calibri" pitchFamily="34" charset="-122"/>
                          <a:cs typeface="Calibri" pitchFamily="34" charset="-120"/>
                        </a:rPr>
                        <a:t>Stop</a:t>
                      </a:r>
                      <a:endParaRPr lang="en-US" sz="1200" dirty="0">
                        <a:latin typeface="Calibri" charset="0"/>
                        <a:ea typeface="Calibri" charset="0"/>
                        <a:cs typeface="Calibri" charset="0"/>
                      </a:endParaRPr>
                    </a:p>
                  </a:txBody>
                  <a:tcPr marL="45720" marR="45720" marT="45720" marB="45720" anchor="ctr">
                    <a:lnL w="12700" cap="flat" cmpd="sng" algn="ctr">
                      <a:solidFill>
                        <a:srgbClr val="DCE3EB"/>
                      </a:solidFill>
                      <a:prstDash val="solid"/>
                      <a:round/>
                      <a:headEnd type="none" w="med" len="med"/>
                      <a:tailEnd type="none" w="med" len="med"/>
                    </a:lnL>
                    <a:lnR w="12700" cap="flat" cmpd="sng" algn="ctr">
                      <a:solidFill>
                        <a:srgbClr val="DCE3EB"/>
                      </a:solidFill>
                      <a:prstDash val="solid"/>
                      <a:round/>
                      <a:headEnd type="none" w="med" len="med"/>
                      <a:tailEnd type="none" w="med" len="med"/>
                    </a:lnR>
                    <a:lnT w="12700" cap="flat" cmpd="sng" algn="ctr">
                      <a:solidFill>
                        <a:srgbClr val="DCE3EB"/>
                      </a:solidFill>
                      <a:prstDash val="solid"/>
                      <a:round/>
                      <a:headEnd type="none" w="med" len="med"/>
                      <a:tailEnd type="none" w="med" len="med"/>
                    </a:lnT>
                    <a:lnB w="12700" cap="flat" cmpd="sng" algn="ctr">
                      <a:solidFill>
                        <a:srgbClr val="DCE3E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2430"/>
                          </a:solidFill>
                          <a:latin typeface="Calibri" pitchFamily="34" charset="0"/>
                          <a:ea typeface="Calibri" pitchFamily="34" charset="-122"/>
                          <a:cs typeface="Calibri" pitchFamily="34" charset="-120"/>
                        </a:rPr>
                        <a:t>0,899</a:t>
                      </a:r>
                      <a:endParaRPr lang="en-US" sz="1200" dirty="0">
                        <a:latin typeface="Calibri" charset="0"/>
                        <a:ea typeface="Calibri" charset="0"/>
                        <a:cs typeface="Calibri" charset="0"/>
                      </a:endParaRPr>
                    </a:p>
                  </a:txBody>
                  <a:tcPr marL="45720" marR="45720" marT="45720" marB="45720" anchor="ctr">
                    <a:lnL w="12700" cap="flat" cmpd="sng" algn="ctr">
                      <a:solidFill>
                        <a:srgbClr val="DCE3EB"/>
                      </a:solidFill>
                      <a:prstDash val="solid"/>
                      <a:round/>
                      <a:headEnd type="none" w="med" len="med"/>
                      <a:tailEnd type="none" w="med" len="med"/>
                    </a:lnL>
                    <a:lnR w="12700" cap="flat" cmpd="sng" algn="ctr">
                      <a:solidFill>
                        <a:srgbClr val="DCE3EB"/>
                      </a:solidFill>
                      <a:prstDash val="solid"/>
                      <a:round/>
                      <a:headEnd type="none" w="med" len="med"/>
                      <a:tailEnd type="none" w="med" len="med"/>
                    </a:lnR>
                    <a:lnT w="12700" cap="flat" cmpd="sng" algn="ctr">
                      <a:solidFill>
                        <a:srgbClr val="DCE3EB"/>
                      </a:solidFill>
                      <a:prstDash val="solid"/>
                      <a:round/>
                      <a:headEnd type="none" w="med" len="med"/>
                      <a:tailEnd type="none" w="med" len="med"/>
                    </a:lnT>
                    <a:lnB w="12700" cap="flat" cmpd="sng" algn="ctr">
                      <a:solidFill>
                        <a:srgbClr val="DCE3E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2430"/>
                          </a:solidFill>
                          <a:latin typeface="Calibri" pitchFamily="34" charset="0"/>
                          <a:ea typeface="Calibri" pitchFamily="34" charset="-122"/>
                          <a:cs typeface="Calibri" pitchFamily="34" charset="-120"/>
                        </a:rPr>
                        <a:t>1,000</a:t>
                      </a:r>
                      <a:endParaRPr lang="en-US" sz="1200" dirty="0">
                        <a:latin typeface="Calibri" charset="0"/>
                        <a:ea typeface="Calibri" charset="0"/>
                        <a:cs typeface="Calibri" charset="0"/>
                      </a:endParaRPr>
                    </a:p>
                  </a:txBody>
                  <a:tcPr marL="45720" marR="45720" marT="45720" marB="45720" anchor="ctr">
                    <a:lnL w="12700" cap="flat" cmpd="sng" algn="ctr">
                      <a:solidFill>
                        <a:srgbClr val="DCE3EB"/>
                      </a:solidFill>
                      <a:prstDash val="solid"/>
                      <a:round/>
                      <a:headEnd type="none" w="med" len="med"/>
                      <a:tailEnd type="none" w="med" len="med"/>
                    </a:lnL>
                    <a:lnR w="12700" cap="flat" cmpd="sng" algn="ctr">
                      <a:solidFill>
                        <a:srgbClr val="DCE3EB"/>
                      </a:solidFill>
                      <a:prstDash val="solid"/>
                      <a:round/>
                      <a:headEnd type="none" w="med" len="med"/>
                      <a:tailEnd type="none" w="med" len="med"/>
                    </a:lnR>
                    <a:lnT w="12700" cap="flat" cmpd="sng" algn="ctr">
                      <a:solidFill>
                        <a:srgbClr val="DCE3EB"/>
                      </a:solidFill>
                      <a:prstDash val="solid"/>
                      <a:round/>
                      <a:headEnd type="none" w="med" len="med"/>
                      <a:tailEnd type="none" w="med" len="med"/>
                    </a:lnT>
                    <a:lnB w="12700" cap="flat" cmpd="sng" algn="ctr">
                      <a:solidFill>
                        <a:srgbClr val="DCE3EB"/>
                      </a:solidFill>
                      <a:prstDash val="solid"/>
                      <a:round/>
                      <a:headEnd type="none" w="med" len="med"/>
                      <a:tailEnd type="none" w="med" len="med"/>
                    </a:lnB>
                    <a:solidFill>
                      <a:srgbClr val="FFFFFF"/>
                    </a:solidFill>
                  </a:tcPr>
                </a:tc>
              </a:tr>
              <a:tr h="310896">
                <a:tc>
                  <a:txBody>
                    <a:bodyPr/>
                    <a:lstStyle/>
                    <a:p>
                      <a:pPr algn="l" indent="0" marL="0">
                        <a:buNone/>
                      </a:pPr>
                      <a:r>
                        <a:rPr lang="en-US" sz="1200" dirty="0">
                          <a:solidFill>
                            <a:srgbClr val="1A2430"/>
                          </a:solidFill>
                          <a:latin typeface="Calibri" pitchFamily="34" charset="0"/>
                          <a:ea typeface="Calibri" pitchFamily="34" charset="-122"/>
                          <a:cs typeface="Calibri" pitchFamily="34" charset="-120"/>
                        </a:rPr>
                        <a:t>Speed Limit 80</a:t>
                      </a:r>
                      <a:endParaRPr lang="en-US" sz="1200" dirty="0">
                        <a:latin typeface="Calibri" charset="0"/>
                        <a:ea typeface="Calibri" charset="0"/>
                        <a:cs typeface="Calibri" charset="0"/>
                      </a:endParaRPr>
                    </a:p>
                  </a:txBody>
                  <a:tcPr marL="45720" marR="45720" marT="45720" marB="45720" anchor="ctr">
                    <a:lnL w="12700" cap="flat" cmpd="sng" algn="ctr">
                      <a:solidFill>
                        <a:srgbClr val="DCE3EB"/>
                      </a:solidFill>
                      <a:prstDash val="solid"/>
                      <a:round/>
                      <a:headEnd type="none" w="med" len="med"/>
                      <a:tailEnd type="none" w="med" len="med"/>
                    </a:lnL>
                    <a:lnR w="12700" cap="flat" cmpd="sng" algn="ctr">
                      <a:solidFill>
                        <a:srgbClr val="DCE3EB"/>
                      </a:solidFill>
                      <a:prstDash val="solid"/>
                      <a:round/>
                      <a:headEnd type="none" w="med" len="med"/>
                      <a:tailEnd type="none" w="med" len="med"/>
                    </a:lnR>
                    <a:lnT w="12700" cap="flat" cmpd="sng" algn="ctr">
                      <a:solidFill>
                        <a:srgbClr val="DCE3EB"/>
                      </a:solidFill>
                      <a:prstDash val="solid"/>
                      <a:round/>
                      <a:headEnd type="none" w="med" len="med"/>
                      <a:tailEnd type="none" w="med" len="med"/>
                    </a:lnT>
                    <a:lnB w="12700" cap="flat" cmpd="sng" algn="ctr">
                      <a:solidFill>
                        <a:srgbClr val="DCE3EB"/>
                      </a:solidFill>
                      <a:prstDash val="solid"/>
                      <a:round/>
                      <a:headEnd type="none" w="med" len="med"/>
                      <a:tailEnd type="none" w="med" len="med"/>
                    </a:lnB>
                    <a:solidFill>
                      <a:srgbClr val="EEF3F7"/>
                    </a:solidFill>
                  </a:tcPr>
                </a:tc>
                <a:tc>
                  <a:txBody>
                    <a:bodyPr/>
                    <a:lstStyle/>
                    <a:p>
                      <a:pPr algn="ctr" indent="0" marL="0">
                        <a:buNone/>
                      </a:pPr>
                      <a:r>
                        <a:rPr lang="en-US" sz="1200" dirty="0">
                          <a:solidFill>
                            <a:srgbClr val="1A2430"/>
                          </a:solidFill>
                          <a:latin typeface="Calibri" pitchFamily="34" charset="0"/>
                          <a:ea typeface="Calibri" pitchFamily="34" charset="-122"/>
                          <a:cs typeface="Calibri" pitchFamily="34" charset="-120"/>
                        </a:rPr>
                        <a:t>0,878</a:t>
                      </a:r>
                      <a:endParaRPr lang="en-US" sz="1200" dirty="0">
                        <a:latin typeface="Calibri" charset="0"/>
                        <a:ea typeface="Calibri" charset="0"/>
                        <a:cs typeface="Calibri" charset="0"/>
                      </a:endParaRPr>
                    </a:p>
                  </a:txBody>
                  <a:tcPr marL="45720" marR="45720" marT="45720" marB="45720" anchor="ctr">
                    <a:lnL w="12700" cap="flat" cmpd="sng" algn="ctr">
                      <a:solidFill>
                        <a:srgbClr val="DCE3EB"/>
                      </a:solidFill>
                      <a:prstDash val="solid"/>
                      <a:round/>
                      <a:headEnd type="none" w="med" len="med"/>
                      <a:tailEnd type="none" w="med" len="med"/>
                    </a:lnL>
                    <a:lnR w="12700" cap="flat" cmpd="sng" algn="ctr">
                      <a:solidFill>
                        <a:srgbClr val="DCE3EB"/>
                      </a:solidFill>
                      <a:prstDash val="solid"/>
                      <a:round/>
                      <a:headEnd type="none" w="med" len="med"/>
                      <a:tailEnd type="none" w="med" len="med"/>
                    </a:lnR>
                    <a:lnT w="12700" cap="flat" cmpd="sng" algn="ctr">
                      <a:solidFill>
                        <a:srgbClr val="DCE3EB"/>
                      </a:solidFill>
                      <a:prstDash val="solid"/>
                      <a:round/>
                      <a:headEnd type="none" w="med" len="med"/>
                      <a:tailEnd type="none" w="med" len="med"/>
                    </a:lnT>
                    <a:lnB w="12700" cap="flat" cmpd="sng" algn="ctr">
                      <a:solidFill>
                        <a:srgbClr val="DCE3EB"/>
                      </a:solidFill>
                      <a:prstDash val="solid"/>
                      <a:round/>
                      <a:headEnd type="none" w="med" len="med"/>
                      <a:tailEnd type="none" w="med" len="med"/>
                    </a:lnB>
                    <a:solidFill>
                      <a:srgbClr val="EEF3F7"/>
                    </a:solidFill>
                  </a:tcPr>
                </a:tc>
                <a:tc>
                  <a:txBody>
                    <a:bodyPr/>
                    <a:lstStyle/>
                    <a:p>
                      <a:pPr algn="ctr" indent="0" marL="0">
                        <a:buNone/>
                      </a:pPr>
                      <a:r>
                        <a:rPr lang="en-US" sz="1200" dirty="0">
                          <a:solidFill>
                            <a:srgbClr val="1A2430"/>
                          </a:solidFill>
                          <a:latin typeface="Calibri" pitchFamily="34" charset="0"/>
                          <a:ea typeface="Calibri" pitchFamily="34" charset="-122"/>
                          <a:cs typeface="Calibri" pitchFamily="34" charset="-120"/>
                        </a:rPr>
                        <a:t>1,000</a:t>
                      </a:r>
                      <a:endParaRPr lang="en-US" sz="1200" dirty="0">
                        <a:latin typeface="Calibri" charset="0"/>
                        <a:ea typeface="Calibri" charset="0"/>
                        <a:cs typeface="Calibri" charset="0"/>
                      </a:endParaRPr>
                    </a:p>
                  </a:txBody>
                  <a:tcPr marL="45720" marR="45720" marT="45720" marB="45720" anchor="ctr">
                    <a:lnL w="12700" cap="flat" cmpd="sng" algn="ctr">
                      <a:solidFill>
                        <a:srgbClr val="DCE3EB"/>
                      </a:solidFill>
                      <a:prstDash val="solid"/>
                      <a:round/>
                      <a:headEnd type="none" w="med" len="med"/>
                      <a:tailEnd type="none" w="med" len="med"/>
                    </a:lnL>
                    <a:lnR w="12700" cap="flat" cmpd="sng" algn="ctr">
                      <a:solidFill>
                        <a:srgbClr val="DCE3EB"/>
                      </a:solidFill>
                      <a:prstDash val="solid"/>
                      <a:round/>
                      <a:headEnd type="none" w="med" len="med"/>
                      <a:tailEnd type="none" w="med" len="med"/>
                    </a:lnR>
                    <a:lnT w="12700" cap="flat" cmpd="sng" algn="ctr">
                      <a:solidFill>
                        <a:srgbClr val="DCE3EB"/>
                      </a:solidFill>
                      <a:prstDash val="solid"/>
                      <a:round/>
                      <a:headEnd type="none" w="med" len="med"/>
                      <a:tailEnd type="none" w="med" len="med"/>
                    </a:lnT>
                    <a:lnB w="12700" cap="flat" cmpd="sng" algn="ctr">
                      <a:solidFill>
                        <a:srgbClr val="DCE3EB"/>
                      </a:solidFill>
                      <a:prstDash val="solid"/>
                      <a:round/>
                      <a:headEnd type="none" w="med" len="med"/>
                      <a:tailEnd type="none" w="med" len="med"/>
                    </a:lnB>
                    <a:solidFill>
                      <a:srgbClr val="EEF3F7"/>
                    </a:solidFill>
                  </a:tcPr>
                </a:tc>
              </a:tr>
              <a:tr h="310896">
                <a:tc>
                  <a:txBody>
                    <a:bodyPr/>
                    <a:lstStyle/>
                    <a:p>
                      <a:pPr algn="l" indent="0" marL="0">
                        <a:buNone/>
                      </a:pPr>
                      <a:r>
                        <a:rPr lang="en-US" sz="1200" dirty="0">
                          <a:solidFill>
                            <a:srgbClr val="1A2430"/>
                          </a:solidFill>
                          <a:latin typeface="Calibri" pitchFamily="34" charset="0"/>
                          <a:ea typeface="Calibri" pitchFamily="34" charset="-122"/>
                          <a:cs typeface="Calibri" pitchFamily="34" charset="-120"/>
                        </a:rPr>
                        <a:t>Speed Limit 100</a:t>
                      </a:r>
                      <a:endParaRPr lang="en-US" sz="1200" dirty="0">
                        <a:latin typeface="Calibri" charset="0"/>
                        <a:ea typeface="Calibri" charset="0"/>
                        <a:cs typeface="Calibri" charset="0"/>
                      </a:endParaRPr>
                    </a:p>
                  </a:txBody>
                  <a:tcPr marL="45720" marR="45720" marT="45720" marB="45720" anchor="ctr">
                    <a:lnL w="12700" cap="flat" cmpd="sng" algn="ctr">
                      <a:solidFill>
                        <a:srgbClr val="DCE3EB"/>
                      </a:solidFill>
                      <a:prstDash val="solid"/>
                      <a:round/>
                      <a:headEnd type="none" w="med" len="med"/>
                      <a:tailEnd type="none" w="med" len="med"/>
                    </a:lnL>
                    <a:lnR w="12700" cap="flat" cmpd="sng" algn="ctr">
                      <a:solidFill>
                        <a:srgbClr val="DCE3EB"/>
                      </a:solidFill>
                      <a:prstDash val="solid"/>
                      <a:round/>
                      <a:headEnd type="none" w="med" len="med"/>
                      <a:tailEnd type="none" w="med" len="med"/>
                    </a:lnR>
                    <a:lnT w="12700" cap="flat" cmpd="sng" algn="ctr">
                      <a:solidFill>
                        <a:srgbClr val="DCE3EB"/>
                      </a:solidFill>
                      <a:prstDash val="solid"/>
                      <a:round/>
                      <a:headEnd type="none" w="med" len="med"/>
                      <a:tailEnd type="none" w="med" len="med"/>
                    </a:lnT>
                    <a:lnB w="12700" cap="flat" cmpd="sng" algn="ctr">
                      <a:solidFill>
                        <a:srgbClr val="DCE3E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2430"/>
                          </a:solidFill>
                          <a:latin typeface="Calibri" pitchFamily="34" charset="0"/>
                          <a:ea typeface="Calibri" pitchFamily="34" charset="-122"/>
                          <a:cs typeface="Calibri" pitchFamily="34" charset="-120"/>
                        </a:rPr>
                        <a:t>0,871</a:t>
                      </a:r>
                      <a:endParaRPr lang="en-US" sz="1200" dirty="0">
                        <a:latin typeface="Calibri" charset="0"/>
                        <a:ea typeface="Calibri" charset="0"/>
                        <a:cs typeface="Calibri" charset="0"/>
                      </a:endParaRPr>
                    </a:p>
                  </a:txBody>
                  <a:tcPr marL="45720" marR="45720" marT="45720" marB="45720" anchor="ctr">
                    <a:lnL w="12700" cap="flat" cmpd="sng" algn="ctr">
                      <a:solidFill>
                        <a:srgbClr val="DCE3EB"/>
                      </a:solidFill>
                      <a:prstDash val="solid"/>
                      <a:round/>
                      <a:headEnd type="none" w="med" len="med"/>
                      <a:tailEnd type="none" w="med" len="med"/>
                    </a:lnL>
                    <a:lnR w="12700" cap="flat" cmpd="sng" algn="ctr">
                      <a:solidFill>
                        <a:srgbClr val="DCE3EB"/>
                      </a:solidFill>
                      <a:prstDash val="solid"/>
                      <a:round/>
                      <a:headEnd type="none" w="med" len="med"/>
                      <a:tailEnd type="none" w="med" len="med"/>
                    </a:lnR>
                    <a:lnT w="12700" cap="flat" cmpd="sng" algn="ctr">
                      <a:solidFill>
                        <a:srgbClr val="DCE3EB"/>
                      </a:solidFill>
                      <a:prstDash val="solid"/>
                      <a:round/>
                      <a:headEnd type="none" w="med" len="med"/>
                      <a:tailEnd type="none" w="med" len="med"/>
                    </a:lnT>
                    <a:lnB w="12700" cap="flat" cmpd="sng" algn="ctr">
                      <a:solidFill>
                        <a:srgbClr val="DCE3E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2430"/>
                          </a:solidFill>
                          <a:latin typeface="Calibri" pitchFamily="34" charset="0"/>
                          <a:ea typeface="Calibri" pitchFamily="34" charset="-122"/>
                          <a:cs typeface="Calibri" pitchFamily="34" charset="-120"/>
                        </a:rPr>
                        <a:t>1,000</a:t>
                      </a:r>
                      <a:endParaRPr lang="en-US" sz="1200" dirty="0">
                        <a:latin typeface="Calibri" charset="0"/>
                        <a:ea typeface="Calibri" charset="0"/>
                        <a:cs typeface="Calibri" charset="0"/>
                      </a:endParaRPr>
                    </a:p>
                  </a:txBody>
                  <a:tcPr marL="45720" marR="45720" marT="45720" marB="45720" anchor="ctr">
                    <a:lnL w="12700" cap="flat" cmpd="sng" algn="ctr">
                      <a:solidFill>
                        <a:srgbClr val="DCE3EB"/>
                      </a:solidFill>
                      <a:prstDash val="solid"/>
                      <a:round/>
                      <a:headEnd type="none" w="med" len="med"/>
                      <a:tailEnd type="none" w="med" len="med"/>
                    </a:lnL>
                    <a:lnR w="12700" cap="flat" cmpd="sng" algn="ctr">
                      <a:solidFill>
                        <a:srgbClr val="DCE3EB"/>
                      </a:solidFill>
                      <a:prstDash val="solid"/>
                      <a:round/>
                      <a:headEnd type="none" w="med" len="med"/>
                      <a:tailEnd type="none" w="med" len="med"/>
                    </a:lnR>
                    <a:lnT w="12700" cap="flat" cmpd="sng" algn="ctr">
                      <a:solidFill>
                        <a:srgbClr val="DCE3EB"/>
                      </a:solidFill>
                      <a:prstDash val="solid"/>
                      <a:round/>
                      <a:headEnd type="none" w="med" len="med"/>
                      <a:tailEnd type="none" w="med" len="med"/>
                    </a:lnT>
                    <a:lnB w="12700" cap="flat" cmpd="sng" algn="ctr">
                      <a:solidFill>
                        <a:srgbClr val="DCE3EB"/>
                      </a:solidFill>
                      <a:prstDash val="solid"/>
                      <a:round/>
                      <a:headEnd type="none" w="med" len="med"/>
                      <a:tailEnd type="none" w="med" len="med"/>
                    </a:lnB>
                    <a:solidFill>
                      <a:srgbClr val="FFFFFF"/>
                    </a:solidFill>
                  </a:tcPr>
                </a:tc>
              </a:tr>
              <a:tr h="310896">
                <a:tc>
                  <a:txBody>
                    <a:bodyPr/>
                    <a:lstStyle/>
                    <a:p>
                      <a:pPr algn="l" indent="0" marL="0">
                        <a:buNone/>
                      </a:pPr>
                      <a:r>
                        <a:rPr lang="en-US" sz="1200" dirty="0">
                          <a:solidFill>
                            <a:srgbClr val="1A2430"/>
                          </a:solidFill>
                          <a:latin typeface="Calibri" pitchFamily="34" charset="0"/>
                          <a:ea typeface="Calibri" pitchFamily="34" charset="-122"/>
                          <a:cs typeface="Calibri" pitchFamily="34" charset="-120"/>
                        </a:rPr>
                        <a:t>Speed Limit 70</a:t>
                      </a:r>
                      <a:endParaRPr lang="en-US" sz="1200" dirty="0">
                        <a:latin typeface="Calibri" charset="0"/>
                        <a:ea typeface="Calibri" charset="0"/>
                        <a:cs typeface="Calibri" charset="0"/>
                      </a:endParaRPr>
                    </a:p>
                  </a:txBody>
                  <a:tcPr marL="45720" marR="45720" marT="45720" marB="45720" anchor="ctr">
                    <a:lnL w="12700" cap="flat" cmpd="sng" algn="ctr">
                      <a:solidFill>
                        <a:srgbClr val="DCE3EB"/>
                      </a:solidFill>
                      <a:prstDash val="solid"/>
                      <a:round/>
                      <a:headEnd type="none" w="med" len="med"/>
                      <a:tailEnd type="none" w="med" len="med"/>
                    </a:lnL>
                    <a:lnR w="12700" cap="flat" cmpd="sng" algn="ctr">
                      <a:solidFill>
                        <a:srgbClr val="DCE3EB"/>
                      </a:solidFill>
                      <a:prstDash val="solid"/>
                      <a:round/>
                      <a:headEnd type="none" w="med" len="med"/>
                      <a:tailEnd type="none" w="med" len="med"/>
                    </a:lnR>
                    <a:lnT w="12700" cap="flat" cmpd="sng" algn="ctr">
                      <a:solidFill>
                        <a:srgbClr val="DCE3EB"/>
                      </a:solidFill>
                      <a:prstDash val="solid"/>
                      <a:round/>
                      <a:headEnd type="none" w="med" len="med"/>
                      <a:tailEnd type="none" w="med" len="med"/>
                    </a:lnT>
                    <a:lnB w="12700" cap="flat" cmpd="sng" algn="ctr">
                      <a:solidFill>
                        <a:srgbClr val="DCE3EB"/>
                      </a:solidFill>
                      <a:prstDash val="solid"/>
                      <a:round/>
                      <a:headEnd type="none" w="med" len="med"/>
                      <a:tailEnd type="none" w="med" len="med"/>
                    </a:lnB>
                    <a:solidFill>
                      <a:srgbClr val="EEF3F7"/>
                    </a:solidFill>
                  </a:tcPr>
                </a:tc>
                <a:tc>
                  <a:txBody>
                    <a:bodyPr/>
                    <a:lstStyle/>
                    <a:p>
                      <a:pPr algn="ctr" indent="0" marL="0">
                        <a:buNone/>
                      </a:pPr>
                      <a:r>
                        <a:rPr lang="en-US" sz="1200" dirty="0">
                          <a:solidFill>
                            <a:srgbClr val="1A2430"/>
                          </a:solidFill>
                          <a:latin typeface="Calibri" pitchFamily="34" charset="0"/>
                          <a:ea typeface="Calibri" pitchFamily="34" charset="-122"/>
                          <a:cs typeface="Calibri" pitchFamily="34" charset="-120"/>
                        </a:rPr>
                        <a:t>0,867</a:t>
                      </a:r>
                      <a:endParaRPr lang="en-US" sz="1200" dirty="0">
                        <a:latin typeface="Calibri" charset="0"/>
                        <a:ea typeface="Calibri" charset="0"/>
                        <a:cs typeface="Calibri" charset="0"/>
                      </a:endParaRPr>
                    </a:p>
                  </a:txBody>
                  <a:tcPr marL="45720" marR="45720" marT="45720" marB="45720" anchor="ctr">
                    <a:lnL w="12700" cap="flat" cmpd="sng" algn="ctr">
                      <a:solidFill>
                        <a:srgbClr val="DCE3EB"/>
                      </a:solidFill>
                      <a:prstDash val="solid"/>
                      <a:round/>
                      <a:headEnd type="none" w="med" len="med"/>
                      <a:tailEnd type="none" w="med" len="med"/>
                    </a:lnL>
                    <a:lnR w="12700" cap="flat" cmpd="sng" algn="ctr">
                      <a:solidFill>
                        <a:srgbClr val="DCE3EB"/>
                      </a:solidFill>
                      <a:prstDash val="solid"/>
                      <a:round/>
                      <a:headEnd type="none" w="med" len="med"/>
                      <a:tailEnd type="none" w="med" len="med"/>
                    </a:lnR>
                    <a:lnT w="12700" cap="flat" cmpd="sng" algn="ctr">
                      <a:solidFill>
                        <a:srgbClr val="DCE3EB"/>
                      </a:solidFill>
                      <a:prstDash val="solid"/>
                      <a:round/>
                      <a:headEnd type="none" w="med" len="med"/>
                      <a:tailEnd type="none" w="med" len="med"/>
                    </a:lnT>
                    <a:lnB w="12700" cap="flat" cmpd="sng" algn="ctr">
                      <a:solidFill>
                        <a:srgbClr val="DCE3EB"/>
                      </a:solidFill>
                      <a:prstDash val="solid"/>
                      <a:round/>
                      <a:headEnd type="none" w="med" len="med"/>
                      <a:tailEnd type="none" w="med" len="med"/>
                    </a:lnB>
                    <a:solidFill>
                      <a:srgbClr val="EEF3F7"/>
                    </a:solidFill>
                  </a:tcPr>
                </a:tc>
                <a:tc>
                  <a:txBody>
                    <a:bodyPr/>
                    <a:lstStyle/>
                    <a:p>
                      <a:pPr algn="ctr" indent="0" marL="0">
                        <a:buNone/>
                      </a:pPr>
                      <a:r>
                        <a:rPr lang="en-US" sz="1200" dirty="0">
                          <a:solidFill>
                            <a:srgbClr val="1A2430"/>
                          </a:solidFill>
                          <a:latin typeface="Calibri" pitchFamily="34" charset="0"/>
                          <a:ea typeface="Calibri" pitchFamily="34" charset="-122"/>
                          <a:cs typeface="Calibri" pitchFamily="34" charset="-120"/>
                        </a:rPr>
                        <a:t>0,943</a:t>
                      </a:r>
                      <a:endParaRPr lang="en-US" sz="1200" dirty="0">
                        <a:latin typeface="Calibri" charset="0"/>
                        <a:ea typeface="Calibri" charset="0"/>
                        <a:cs typeface="Calibri" charset="0"/>
                      </a:endParaRPr>
                    </a:p>
                  </a:txBody>
                  <a:tcPr marL="45720" marR="45720" marT="45720" marB="45720" anchor="ctr">
                    <a:lnL w="12700" cap="flat" cmpd="sng" algn="ctr">
                      <a:solidFill>
                        <a:srgbClr val="DCE3EB"/>
                      </a:solidFill>
                      <a:prstDash val="solid"/>
                      <a:round/>
                      <a:headEnd type="none" w="med" len="med"/>
                      <a:tailEnd type="none" w="med" len="med"/>
                    </a:lnL>
                    <a:lnR w="12700" cap="flat" cmpd="sng" algn="ctr">
                      <a:solidFill>
                        <a:srgbClr val="DCE3EB"/>
                      </a:solidFill>
                      <a:prstDash val="solid"/>
                      <a:round/>
                      <a:headEnd type="none" w="med" len="med"/>
                      <a:tailEnd type="none" w="med" len="med"/>
                    </a:lnR>
                    <a:lnT w="12700" cap="flat" cmpd="sng" algn="ctr">
                      <a:solidFill>
                        <a:srgbClr val="DCE3EB"/>
                      </a:solidFill>
                      <a:prstDash val="solid"/>
                      <a:round/>
                      <a:headEnd type="none" w="med" len="med"/>
                      <a:tailEnd type="none" w="med" len="med"/>
                    </a:lnT>
                    <a:lnB w="12700" cap="flat" cmpd="sng" algn="ctr">
                      <a:solidFill>
                        <a:srgbClr val="DCE3EB"/>
                      </a:solidFill>
                      <a:prstDash val="solid"/>
                      <a:round/>
                      <a:headEnd type="none" w="med" len="med"/>
                      <a:tailEnd type="none" w="med" len="med"/>
                    </a:lnB>
                    <a:solidFill>
                      <a:srgbClr val="EEF3F7"/>
                    </a:solidFill>
                  </a:tcPr>
                </a:tc>
              </a:tr>
              <a:tr h="310896">
                <a:tc>
                  <a:txBody>
                    <a:bodyPr/>
                    <a:lstStyle/>
                    <a:p>
                      <a:pPr algn="l" indent="0" marL="0">
                        <a:buNone/>
                      </a:pPr>
                      <a:r>
                        <a:rPr lang="en-US" sz="1200" dirty="0">
                          <a:solidFill>
                            <a:srgbClr val="1A2430"/>
                          </a:solidFill>
                          <a:latin typeface="Calibri" pitchFamily="34" charset="0"/>
                          <a:ea typeface="Calibri" pitchFamily="34" charset="-122"/>
                          <a:cs typeface="Calibri" pitchFamily="34" charset="-120"/>
                        </a:rPr>
                        <a:t>Speed Limit 20</a:t>
                      </a:r>
                      <a:endParaRPr lang="en-US" sz="1200" dirty="0">
                        <a:latin typeface="Calibri" charset="0"/>
                        <a:ea typeface="Calibri" charset="0"/>
                        <a:cs typeface="Calibri" charset="0"/>
                      </a:endParaRPr>
                    </a:p>
                  </a:txBody>
                  <a:tcPr marL="45720" marR="45720" marT="45720" marB="45720" anchor="ctr">
                    <a:lnL w="12700" cap="flat" cmpd="sng" algn="ctr">
                      <a:solidFill>
                        <a:srgbClr val="DCE3EB"/>
                      </a:solidFill>
                      <a:prstDash val="solid"/>
                      <a:round/>
                      <a:headEnd type="none" w="med" len="med"/>
                      <a:tailEnd type="none" w="med" len="med"/>
                    </a:lnL>
                    <a:lnR w="12700" cap="flat" cmpd="sng" algn="ctr">
                      <a:solidFill>
                        <a:srgbClr val="DCE3EB"/>
                      </a:solidFill>
                      <a:prstDash val="solid"/>
                      <a:round/>
                      <a:headEnd type="none" w="med" len="med"/>
                      <a:tailEnd type="none" w="med" len="med"/>
                    </a:lnR>
                    <a:lnT w="12700" cap="flat" cmpd="sng" algn="ctr">
                      <a:solidFill>
                        <a:srgbClr val="DCE3EB"/>
                      </a:solidFill>
                      <a:prstDash val="solid"/>
                      <a:round/>
                      <a:headEnd type="none" w="med" len="med"/>
                      <a:tailEnd type="none" w="med" len="med"/>
                    </a:lnT>
                    <a:lnB w="12700" cap="flat" cmpd="sng" algn="ctr">
                      <a:solidFill>
                        <a:srgbClr val="DCE3E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2430"/>
                          </a:solidFill>
                          <a:latin typeface="Calibri" pitchFamily="34" charset="0"/>
                          <a:ea typeface="Calibri" pitchFamily="34" charset="-122"/>
                          <a:cs typeface="Calibri" pitchFamily="34" charset="-120"/>
                        </a:rPr>
                        <a:t>0,866</a:t>
                      </a:r>
                      <a:endParaRPr lang="en-US" sz="1200" dirty="0">
                        <a:latin typeface="Calibri" charset="0"/>
                        <a:ea typeface="Calibri" charset="0"/>
                        <a:cs typeface="Calibri" charset="0"/>
                      </a:endParaRPr>
                    </a:p>
                  </a:txBody>
                  <a:tcPr marL="45720" marR="45720" marT="45720" marB="45720" anchor="ctr">
                    <a:lnL w="12700" cap="flat" cmpd="sng" algn="ctr">
                      <a:solidFill>
                        <a:srgbClr val="DCE3EB"/>
                      </a:solidFill>
                      <a:prstDash val="solid"/>
                      <a:round/>
                      <a:headEnd type="none" w="med" len="med"/>
                      <a:tailEnd type="none" w="med" len="med"/>
                    </a:lnL>
                    <a:lnR w="12700" cap="flat" cmpd="sng" algn="ctr">
                      <a:solidFill>
                        <a:srgbClr val="DCE3EB"/>
                      </a:solidFill>
                      <a:prstDash val="solid"/>
                      <a:round/>
                      <a:headEnd type="none" w="med" len="med"/>
                      <a:tailEnd type="none" w="med" len="med"/>
                    </a:lnR>
                    <a:lnT w="12700" cap="flat" cmpd="sng" algn="ctr">
                      <a:solidFill>
                        <a:srgbClr val="DCE3EB"/>
                      </a:solidFill>
                      <a:prstDash val="solid"/>
                      <a:round/>
                      <a:headEnd type="none" w="med" len="med"/>
                      <a:tailEnd type="none" w="med" len="med"/>
                    </a:lnT>
                    <a:lnB w="12700" cap="flat" cmpd="sng" algn="ctr">
                      <a:solidFill>
                        <a:srgbClr val="DCE3E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2430"/>
                          </a:solidFill>
                          <a:latin typeface="Calibri" pitchFamily="34" charset="0"/>
                          <a:ea typeface="Calibri" pitchFamily="34" charset="-122"/>
                          <a:cs typeface="Calibri" pitchFamily="34" charset="-120"/>
                        </a:rPr>
                        <a:t>0,978</a:t>
                      </a:r>
                      <a:endParaRPr lang="en-US" sz="1200" dirty="0">
                        <a:latin typeface="Calibri" charset="0"/>
                        <a:ea typeface="Calibri" charset="0"/>
                        <a:cs typeface="Calibri" charset="0"/>
                      </a:endParaRPr>
                    </a:p>
                  </a:txBody>
                  <a:tcPr marL="45720" marR="45720" marT="45720" marB="45720" anchor="ctr">
                    <a:lnL w="12700" cap="flat" cmpd="sng" algn="ctr">
                      <a:solidFill>
                        <a:srgbClr val="DCE3EB"/>
                      </a:solidFill>
                      <a:prstDash val="solid"/>
                      <a:round/>
                      <a:headEnd type="none" w="med" len="med"/>
                      <a:tailEnd type="none" w="med" len="med"/>
                    </a:lnL>
                    <a:lnR w="12700" cap="flat" cmpd="sng" algn="ctr">
                      <a:solidFill>
                        <a:srgbClr val="DCE3EB"/>
                      </a:solidFill>
                      <a:prstDash val="solid"/>
                      <a:round/>
                      <a:headEnd type="none" w="med" len="med"/>
                      <a:tailEnd type="none" w="med" len="med"/>
                    </a:lnR>
                    <a:lnT w="12700" cap="flat" cmpd="sng" algn="ctr">
                      <a:solidFill>
                        <a:srgbClr val="DCE3EB"/>
                      </a:solidFill>
                      <a:prstDash val="solid"/>
                      <a:round/>
                      <a:headEnd type="none" w="med" len="med"/>
                      <a:tailEnd type="none" w="med" len="med"/>
                    </a:lnT>
                    <a:lnB w="12700" cap="flat" cmpd="sng" algn="ctr">
                      <a:solidFill>
                        <a:srgbClr val="DCE3EB"/>
                      </a:solidFill>
                      <a:prstDash val="solid"/>
                      <a:round/>
                      <a:headEnd type="none" w="med" len="med"/>
                      <a:tailEnd type="none" w="med" len="med"/>
                    </a:lnB>
                    <a:solidFill>
                      <a:srgbClr val="FFFFFF"/>
                    </a:solidFill>
                  </a:tcPr>
                </a:tc>
              </a:tr>
              <a:tr h="310896">
                <a:tc>
                  <a:txBody>
                    <a:bodyPr/>
                    <a:lstStyle/>
                    <a:p>
                      <a:pPr algn="l" indent="0" marL="0">
                        <a:buNone/>
                      </a:pPr>
                      <a:r>
                        <a:rPr lang="en-US" sz="1200" dirty="0">
                          <a:solidFill>
                            <a:srgbClr val="1A2430"/>
                          </a:solidFill>
                          <a:latin typeface="Calibri" pitchFamily="34" charset="0"/>
                          <a:ea typeface="Calibri" pitchFamily="34" charset="-122"/>
                          <a:cs typeface="Calibri" pitchFamily="34" charset="-120"/>
                        </a:rPr>
                        <a:t>Speed Limit 120</a:t>
                      </a:r>
                      <a:endParaRPr lang="en-US" sz="1200" dirty="0">
                        <a:latin typeface="Calibri" charset="0"/>
                        <a:ea typeface="Calibri" charset="0"/>
                        <a:cs typeface="Calibri" charset="0"/>
                      </a:endParaRPr>
                    </a:p>
                  </a:txBody>
                  <a:tcPr marL="45720" marR="45720" marT="45720" marB="45720" anchor="ctr">
                    <a:lnL w="12700" cap="flat" cmpd="sng" algn="ctr">
                      <a:solidFill>
                        <a:srgbClr val="DCE3EB"/>
                      </a:solidFill>
                      <a:prstDash val="solid"/>
                      <a:round/>
                      <a:headEnd type="none" w="med" len="med"/>
                      <a:tailEnd type="none" w="med" len="med"/>
                    </a:lnL>
                    <a:lnR w="12700" cap="flat" cmpd="sng" algn="ctr">
                      <a:solidFill>
                        <a:srgbClr val="DCE3EB"/>
                      </a:solidFill>
                      <a:prstDash val="solid"/>
                      <a:round/>
                      <a:headEnd type="none" w="med" len="med"/>
                      <a:tailEnd type="none" w="med" len="med"/>
                    </a:lnR>
                    <a:lnT w="12700" cap="flat" cmpd="sng" algn="ctr">
                      <a:solidFill>
                        <a:srgbClr val="DCE3EB"/>
                      </a:solidFill>
                      <a:prstDash val="solid"/>
                      <a:round/>
                      <a:headEnd type="none" w="med" len="med"/>
                      <a:tailEnd type="none" w="med" len="med"/>
                    </a:lnT>
                    <a:lnB w="12700" cap="flat" cmpd="sng" algn="ctr">
                      <a:solidFill>
                        <a:srgbClr val="DCE3EB"/>
                      </a:solidFill>
                      <a:prstDash val="solid"/>
                      <a:round/>
                      <a:headEnd type="none" w="med" len="med"/>
                      <a:tailEnd type="none" w="med" len="med"/>
                    </a:lnB>
                    <a:solidFill>
                      <a:srgbClr val="EEF3F7"/>
                    </a:solidFill>
                  </a:tcPr>
                </a:tc>
                <a:tc>
                  <a:txBody>
                    <a:bodyPr/>
                    <a:lstStyle/>
                    <a:p>
                      <a:pPr algn="ctr" indent="0" marL="0">
                        <a:buNone/>
                      </a:pPr>
                      <a:r>
                        <a:rPr lang="en-US" sz="1200" dirty="0">
                          <a:solidFill>
                            <a:srgbClr val="1A2430"/>
                          </a:solidFill>
                          <a:latin typeface="Calibri" pitchFamily="34" charset="0"/>
                          <a:ea typeface="Calibri" pitchFamily="34" charset="-122"/>
                          <a:cs typeface="Calibri" pitchFamily="34" charset="-120"/>
                        </a:rPr>
                        <a:t>0,863</a:t>
                      </a:r>
                      <a:endParaRPr lang="en-US" sz="1200" dirty="0">
                        <a:latin typeface="Calibri" charset="0"/>
                        <a:ea typeface="Calibri" charset="0"/>
                        <a:cs typeface="Calibri" charset="0"/>
                      </a:endParaRPr>
                    </a:p>
                  </a:txBody>
                  <a:tcPr marL="45720" marR="45720" marT="45720" marB="45720" anchor="ctr">
                    <a:lnL w="12700" cap="flat" cmpd="sng" algn="ctr">
                      <a:solidFill>
                        <a:srgbClr val="DCE3EB"/>
                      </a:solidFill>
                      <a:prstDash val="solid"/>
                      <a:round/>
                      <a:headEnd type="none" w="med" len="med"/>
                      <a:tailEnd type="none" w="med" len="med"/>
                    </a:lnL>
                    <a:lnR w="12700" cap="flat" cmpd="sng" algn="ctr">
                      <a:solidFill>
                        <a:srgbClr val="DCE3EB"/>
                      </a:solidFill>
                      <a:prstDash val="solid"/>
                      <a:round/>
                      <a:headEnd type="none" w="med" len="med"/>
                      <a:tailEnd type="none" w="med" len="med"/>
                    </a:lnR>
                    <a:lnT w="12700" cap="flat" cmpd="sng" algn="ctr">
                      <a:solidFill>
                        <a:srgbClr val="DCE3EB"/>
                      </a:solidFill>
                      <a:prstDash val="solid"/>
                      <a:round/>
                      <a:headEnd type="none" w="med" len="med"/>
                      <a:tailEnd type="none" w="med" len="med"/>
                    </a:lnT>
                    <a:lnB w="12700" cap="flat" cmpd="sng" algn="ctr">
                      <a:solidFill>
                        <a:srgbClr val="DCE3EB"/>
                      </a:solidFill>
                      <a:prstDash val="solid"/>
                      <a:round/>
                      <a:headEnd type="none" w="med" len="med"/>
                      <a:tailEnd type="none" w="med" len="med"/>
                    </a:lnB>
                    <a:solidFill>
                      <a:srgbClr val="EEF3F7"/>
                    </a:solidFill>
                  </a:tcPr>
                </a:tc>
                <a:tc>
                  <a:txBody>
                    <a:bodyPr/>
                    <a:lstStyle/>
                    <a:p>
                      <a:pPr algn="ctr" indent="0" marL="0">
                        <a:buNone/>
                      </a:pPr>
                      <a:r>
                        <a:rPr lang="en-US" sz="1200" dirty="0">
                          <a:solidFill>
                            <a:srgbClr val="1A2430"/>
                          </a:solidFill>
                          <a:latin typeface="Calibri" pitchFamily="34" charset="0"/>
                          <a:ea typeface="Calibri" pitchFamily="34" charset="-122"/>
                          <a:cs typeface="Calibri" pitchFamily="34" charset="-120"/>
                        </a:rPr>
                        <a:t>1,000</a:t>
                      </a:r>
                      <a:endParaRPr lang="en-US" sz="1200" dirty="0">
                        <a:latin typeface="Calibri" charset="0"/>
                        <a:ea typeface="Calibri" charset="0"/>
                        <a:cs typeface="Calibri" charset="0"/>
                      </a:endParaRPr>
                    </a:p>
                  </a:txBody>
                  <a:tcPr marL="45720" marR="45720" marT="45720" marB="45720" anchor="ctr">
                    <a:lnL w="12700" cap="flat" cmpd="sng" algn="ctr">
                      <a:solidFill>
                        <a:srgbClr val="DCE3EB"/>
                      </a:solidFill>
                      <a:prstDash val="solid"/>
                      <a:round/>
                      <a:headEnd type="none" w="med" len="med"/>
                      <a:tailEnd type="none" w="med" len="med"/>
                    </a:lnL>
                    <a:lnR w="12700" cap="flat" cmpd="sng" algn="ctr">
                      <a:solidFill>
                        <a:srgbClr val="DCE3EB"/>
                      </a:solidFill>
                      <a:prstDash val="solid"/>
                      <a:round/>
                      <a:headEnd type="none" w="med" len="med"/>
                      <a:tailEnd type="none" w="med" len="med"/>
                    </a:lnR>
                    <a:lnT w="12700" cap="flat" cmpd="sng" algn="ctr">
                      <a:solidFill>
                        <a:srgbClr val="DCE3EB"/>
                      </a:solidFill>
                      <a:prstDash val="solid"/>
                      <a:round/>
                      <a:headEnd type="none" w="med" len="med"/>
                      <a:tailEnd type="none" w="med" len="med"/>
                    </a:lnT>
                    <a:lnB w="12700" cap="flat" cmpd="sng" algn="ctr">
                      <a:solidFill>
                        <a:srgbClr val="DCE3EB"/>
                      </a:solidFill>
                      <a:prstDash val="solid"/>
                      <a:round/>
                      <a:headEnd type="none" w="med" len="med"/>
                      <a:tailEnd type="none" w="med" len="med"/>
                    </a:lnB>
                    <a:solidFill>
                      <a:srgbClr val="EEF3F7"/>
                    </a:solidFill>
                  </a:tcPr>
                </a:tc>
              </a:tr>
              <a:tr h="310896">
                <a:tc>
                  <a:txBody>
                    <a:bodyPr/>
                    <a:lstStyle/>
                    <a:p>
                      <a:pPr algn="l" indent="0" marL="0">
                        <a:buNone/>
                      </a:pPr>
                      <a:r>
                        <a:rPr lang="en-US" sz="1200" dirty="0">
                          <a:solidFill>
                            <a:srgbClr val="1A2430"/>
                          </a:solidFill>
                          <a:latin typeface="Calibri" pitchFamily="34" charset="0"/>
                          <a:ea typeface="Calibri" pitchFamily="34" charset="-122"/>
                          <a:cs typeface="Calibri" pitchFamily="34" charset="-120"/>
                        </a:rPr>
                        <a:t>Speed Limit 30</a:t>
                      </a:r>
                      <a:endParaRPr lang="en-US" sz="1200" dirty="0">
                        <a:latin typeface="Calibri" charset="0"/>
                        <a:ea typeface="Calibri" charset="0"/>
                        <a:cs typeface="Calibri" charset="0"/>
                      </a:endParaRPr>
                    </a:p>
                  </a:txBody>
                  <a:tcPr marL="45720" marR="45720" marT="45720" marB="45720" anchor="ctr">
                    <a:lnL w="12700" cap="flat" cmpd="sng" algn="ctr">
                      <a:solidFill>
                        <a:srgbClr val="DCE3EB"/>
                      </a:solidFill>
                      <a:prstDash val="solid"/>
                      <a:round/>
                      <a:headEnd type="none" w="med" len="med"/>
                      <a:tailEnd type="none" w="med" len="med"/>
                    </a:lnL>
                    <a:lnR w="12700" cap="flat" cmpd="sng" algn="ctr">
                      <a:solidFill>
                        <a:srgbClr val="DCE3EB"/>
                      </a:solidFill>
                      <a:prstDash val="solid"/>
                      <a:round/>
                      <a:headEnd type="none" w="med" len="med"/>
                      <a:tailEnd type="none" w="med" len="med"/>
                    </a:lnR>
                    <a:lnT w="12700" cap="flat" cmpd="sng" algn="ctr">
                      <a:solidFill>
                        <a:srgbClr val="DCE3EB"/>
                      </a:solidFill>
                      <a:prstDash val="solid"/>
                      <a:round/>
                      <a:headEnd type="none" w="med" len="med"/>
                      <a:tailEnd type="none" w="med" len="med"/>
                    </a:lnT>
                    <a:lnB w="12700" cap="flat" cmpd="sng" algn="ctr">
                      <a:solidFill>
                        <a:srgbClr val="DCE3E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2430"/>
                          </a:solidFill>
                          <a:latin typeface="Calibri" pitchFamily="34" charset="0"/>
                          <a:ea typeface="Calibri" pitchFamily="34" charset="-122"/>
                          <a:cs typeface="Calibri" pitchFamily="34" charset="-120"/>
                        </a:rPr>
                        <a:t>0,860</a:t>
                      </a:r>
                      <a:endParaRPr lang="en-US" sz="1200" dirty="0">
                        <a:latin typeface="Calibri" charset="0"/>
                        <a:ea typeface="Calibri" charset="0"/>
                        <a:cs typeface="Calibri" charset="0"/>
                      </a:endParaRPr>
                    </a:p>
                  </a:txBody>
                  <a:tcPr marL="45720" marR="45720" marT="45720" marB="45720" anchor="ctr">
                    <a:lnL w="12700" cap="flat" cmpd="sng" algn="ctr">
                      <a:solidFill>
                        <a:srgbClr val="DCE3EB"/>
                      </a:solidFill>
                      <a:prstDash val="solid"/>
                      <a:round/>
                      <a:headEnd type="none" w="med" len="med"/>
                      <a:tailEnd type="none" w="med" len="med"/>
                    </a:lnL>
                    <a:lnR w="12700" cap="flat" cmpd="sng" algn="ctr">
                      <a:solidFill>
                        <a:srgbClr val="DCE3EB"/>
                      </a:solidFill>
                      <a:prstDash val="solid"/>
                      <a:round/>
                      <a:headEnd type="none" w="med" len="med"/>
                      <a:tailEnd type="none" w="med" len="med"/>
                    </a:lnR>
                    <a:lnT w="12700" cap="flat" cmpd="sng" algn="ctr">
                      <a:solidFill>
                        <a:srgbClr val="DCE3EB"/>
                      </a:solidFill>
                      <a:prstDash val="solid"/>
                      <a:round/>
                      <a:headEnd type="none" w="med" len="med"/>
                      <a:tailEnd type="none" w="med" len="med"/>
                    </a:lnT>
                    <a:lnB w="12700" cap="flat" cmpd="sng" algn="ctr">
                      <a:solidFill>
                        <a:srgbClr val="DCE3E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2430"/>
                          </a:solidFill>
                          <a:latin typeface="Calibri" pitchFamily="34" charset="0"/>
                          <a:ea typeface="Calibri" pitchFamily="34" charset="-122"/>
                          <a:cs typeface="Calibri" pitchFamily="34" charset="-120"/>
                        </a:rPr>
                        <a:t>0,966</a:t>
                      </a:r>
                      <a:endParaRPr lang="en-US" sz="1200" dirty="0">
                        <a:latin typeface="Calibri" charset="0"/>
                        <a:ea typeface="Calibri" charset="0"/>
                        <a:cs typeface="Calibri" charset="0"/>
                      </a:endParaRPr>
                    </a:p>
                  </a:txBody>
                  <a:tcPr marL="45720" marR="45720" marT="45720" marB="45720" anchor="ctr">
                    <a:lnL w="12700" cap="flat" cmpd="sng" algn="ctr">
                      <a:solidFill>
                        <a:srgbClr val="DCE3EB"/>
                      </a:solidFill>
                      <a:prstDash val="solid"/>
                      <a:round/>
                      <a:headEnd type="none" w="med" len="med"/>
                      <a:tailEnd type="none" w="med" len="med"/>
                    </a:lnL>
                    <a:lnR w="12700" cap="flat" cmpd="sng" algn="ctr">
                      <a:solidFill>
                        <a:srgbClr val="DCE3EB"/>
                      </a:solidFill>
                      <a:prstDash val="solid"/>
                      <a:round/>
                      <a:headEnd type="none" w="med" len="med"/>
                      <a:tailEnd type="none" w="med" len="med"/>
                    </a:lnR>
                    <a:lnT w="12700" cap="flat" cmpd="sng" algn="ctr">
                      <a:solidFill>
                        <a:srgbClr val="DCE3EB"/>
                      </a:solidFill>
                      <a:prstDash val="solid"/>
                      <a:round/>
                      <a:headEnd type="none" w="med" len="med"/>
                      <a:tailEnd type="none" w="med" len="med"/>
                    </a:lnT>
                    <a:lnB w="12700" cap="flat" cmpd="sng" algn="ctr">
                      <a:solidFill>
                        <a:srgbClr val="DCE3EB"/>
                      </a:solidFill>
                      <a:prstDash val="solid"/>
                      <a:round/>
                      <a:headEnd type="none" w="med" len="med"/>
                      <a:tailEnd type="none" w="med" len="med"/>
                    </a:lnB>
                    <a:solidFill>
                      <a:srgbClr val="FFFFFF"/>
                    </a:solidFill>
                  </a:tcPr>
                </a:tc>
              </a:tr>
              <a:tr h="310896">
                <a:tc>
                  <a:txBody>
                    <a:bodyPr/>
                    <a:lstStyle/>
                    <a:p>
                      <a:pPr algn="l" indent="0" marL="0">
                        <a:buNone/>
                      </a:pPr>
                      <a:r>
                        <a:rPr lang="en-US" sz="1200" dirty="0">
                          <a:solidFill>
                            <a:srgbClr val="1A2430"/>
                          </a:solidFill>
                          <a:latin typeface="Calibri" pitchFamily="34" charset="0"/>
                          <a:ea typeface="Calibri" pitchFamily="34" charset="-122"/>
                          <a:cs typeface="Calibri" pitchFamily="34" charset="-120"/>
                        </a:rPr>
                        <a:t>Speed Limit 60</a:t>
                      </a:r>
                      <a:endParaRPr lang="en-US" sz="1200" dirty="0">
                        <a:latin typeface="Calibri" charset="0"/>
                        <a:ea typeface="Calibri" charset="0"/>
                        <a:cs typeface="Calibri" charset="0"/>
                      </a:endParaRPr>
                    </a:p>
                  </a:txBody>
                  <a:tcPr marL="45720" marR="45720" marT="45720" marB="45720" anchor="ctr">
                    <a:lnL w="12700" cap="flat" cmpd="sng" algn="ctr">
                      <a:solidFill>
                        <a:srgbClr val="DCE3EB"/>
                      </a:solidFill>
                      <a:prstDash val="solid"/>
                      <a:round/>
                      <a:headEnd type="none" w="med" len="med"/>
                      <a:tailEnd type="none" w="med" len="med"/>
                    </a:lnL>
                    <a:lnR w="12700" cap="flat" cmpd="sng" algn="ctr">
                      <a:solidFill>
                        <a:srgbClr val="DCE3EB"/>
                      </a:solidFill>
                      <a:prstDash val="solid"/>
                      <a:round/>
                      <a:headEnd type="none" w="med" len="med"/>
                      <a:tailEnd type="none" w="med" len="med"/>
                    </a:lnR>
                    <a:lnT w="12700" cap="flat" cmpd="sng" algn="ctr">
                      <a:solidFill>
                        <a:srgbClr val="DCE3EB"/>
                      </a:solidFill>
                      <a:prstDash val="solid"/>
                      <a:round/>
                      <a:headEnd type="none" w="med" len="med"/>
                      <a:tailEnd type="none" w="med" len="med"/>
                    </a:lnT>
                    <a:lnB w="12700" cap="flat" cmpd="sng" algn="ctr">
                      <a:solidFill>
                        <a:srgbClr val="DCE3EB"/>
                      </a:solidFill>
                      <a:prstDash val="solid"/>
                      <a:round/>
                      <a:headEnd type="none" w="med" len="med"/>
                      <a:tailEnd type="none" w="med" len="med"/>
                    </a:lnB>
                    <a:solidFill>
                      <a:srgbClr val="EEF3F7"/>
                    </a:solidFill>
                  </a:tcPr>
                </a:tc>
                <a:tc>
                  <a:txBody>
                    <a:bodyPr/>
                    <a:lstStyle/>
                    <a:p>
                      <a:pPr algn="ctr" indent="0" marL="0">
                        <a:buNone/>
                      </a:pPr>
                      <a:r>
                        <a:rPr lang="en-US" sz="1200" dirty="0">
                          <a:solidFill>
                            <a:srgbClr val="1A2430"/>
                          </a:solidFill>
                          <a:latin typeface="Calibri" pitchFamily="34" charset="0"/>
                          <a:ea typeface="Calibri" pitchFamily="34" charset="-122"/>
                          <a:cs typeface="Calibri" pitchFamily="34" charset="-120"/>
                        </a:rPr>
                        <a:t>0,859</a:t>
                      </a:r>
                      <a:endParaRPr lang="en-US" sz="1200" dirty="0">
                        <a:latin typeface="Calibri" charset="0"/>
                        <a:ea typeface="Calibri" charset="0"/>
                        <a:cs typeface="Calibri" charset="0"/>
                      </a:endParaRPr>
                    </a:p>
                  </a:txBody>
                  <a:tcPr marL="45720" marR="45720" marT="45720" marB="45720" anchor="ctr">
                    <a:lnL w="12700" cap="flat" cmpd="sng" algn="ctr">
                      <a:solidFill>
                        <a:srgbClr val="DCE3EB"/>
                      </a:solidFill>
                      <a:prstDash val="solid"/>
                      <a:round/>
                      <a:headEnd type="none" w="med" len="med"/>
                      <a:tailEnd type="none" w="med" len="med"/>
                    </a:lnL>
                    <a:lnR w="12700" cap="flat" cmpd="sng" algn="ctr">
                      <a:solidFill>
                        <a:srgbClr val="DCE3EB"/>
                      </a:solidFill>
                      <a:prstDash val="solid"/>
                      <a:round/>
                      <a:headEnd type="none" w="med" len="med"/>
                      <a:tailEnd type="none" w="med" len="med"/>
                    </a:lnR>
                    <a:lnT w="12700" cap="flat" cmpd="sng" algn="ctr">
                      <a:solidFill>
                        <a:srgbClr val="DCE3EB"/>
                      </a:solidFill>
                      <a:prstDash val="solid"/>
                      <a:round/>
                      <a:headEnd type="none" w="med" len="med"/>
                      <a:tailEnd type="none" w="med" len="med"/>
                    </a:lnT>
                    <a:lnB w="12700" cap="flat" cmpd="sng" algn="ctr">
                      <a:solidFill>
                        <a:srgbClr val="DCE3EB"/>
                      </a:solidFill>
                      <a:prstDash val="solid"/>
                      <a:round/>
                      <a:headEnd type="none" w="med" len="med"/>
                      <a:tailEnd type="none" w="med" len="med"/>
                    </a:lnB>
                    <a:solidFill>
                      <a:srgbClr val="EEF3F7"/>
                    </a:solidFill>
                  </a:tcPr>
                </a:tc>
                <a:tc>
                  <a:txBody>
                    <a:bodyPr/>
                    <a:lstStyle/>
                    <a:p>
                      <a:pPr algn="ctr" indent="0" marL="0">
                        <a:buNone/>
                      </a:pPr>
                      <a:r>
                        <a:rPr lang="en-US" sz="1200" dirty="0">
                          <a:solidFill>
                            <a:srgbClr val="1A2430"/>
                          </a:solidFill>
                          <a:latin typeface="Calibri" pitchFamily="34" charset="0"/>
                          <a:ea typeface="Calibri" pitchFamily="34" charset="-122"/>
                          <a:cs typeface="Calibri" pitchFamily="34" charset="-120"/>
                        </a:rPr>
                        <a:t>0,933</a:t>
                      </a:r>
                      <a:endParaRPr lang="en-US" sz="1200" dirty="0">
                        <a:latin typeface="Calibri" charset="0"/>
                        <a:ea typeface="Calibri" charset="0"/>
                        <a:cs typeface="Calibri" charset="0"/>
                      </a:endParaRPr>
                    </a:p>
                  </a:txBody>
                  <a:tcPr marL="45720" marR="45720" marT="45720" marB="45720" anchor="ctr">
                    <a:lnL w="12700" cap="flat" cmpd="sng" algn="ctr">
                      <a:solidFill>
                        <a:srgbClr val="DCE3EB"/>
                      </a:solidFill>
                      <a:prstDash val="solid"/>
                      <a:round/>
                      <a:headEnd type="none" w="med" len="med"/>
                      <a:tailEnd type="none" w="med" len="med"/>
                    </a:lnL>
                    <a:lnR w="12700" cap="flat" cmpd="sng" algn="ctr">
                      <a:solidFill>
                        <a:srgbClr val="DCE3EB"/>
                      </a:solidFill>
                      <a:prstDash val="solid"/>
                      <a:round/>
                      <a:headEnd type="none" w="med" len="med"/>
                      <a:tailEnd type="none" w="med" len="med"/>
                    </a:lnR>
                    <a:lnT w="12700" cap="flat" cmpd="sng" algn="ctr">
                      <a:solidFill>
                        <a:srgbClr val="DCE3EB"/>
                      </a:solidFill>
                      <a:prstDash val="solid"/>
                      <a:round/>
                      <a:headEnd type="none" w="med" len="med"/>
                      <a:tailEnd type="none" w="med" len="med"/>
                    </a:lnT>
                    <a:lnB w="12700" cap="flat" cmpd="sng" algn="ctr">
                      <a:solidFill>
                        <a:srgbClr val="DCE3EB"/>
                      </a:solidFill>
                      <a:prstDash val="solid"/>
                      <a:round/>
                      <a:headEnd type="none" w="med" len="med"/>
                      <a:tailEnd type="none" w="med" len="med"/>
                    </a:lnB>
                    <a:solidFill>
                      <a:srgbClr val="EEF3F7"/>
                    </a:solidFill>
                  </a:tcPr>
                </a:tc>
              </a:tr>
            </a:tbl>
          </a:graphicData>
        </a:graphic>
      </p:graphicFrame>
      <p:graphicFrame>
        <p:nvGraphicFramePr>
          <p:cNvPr id="51" name="Table 1"/>
          <p:cNvGraphicFramePr>
            <a:graphicFrameLocks noGrp="1"/>
          </p:cNvGraphicFramePr>
          <p:nvPr>
            <p:extLst>
              <p:ext uri="{D42A27DB-BD31-4B8C-83A1-F6EECF244321}">
                <p14:modId xmlns:p14="http://schemas.microsoft.com/office/powerpoint/2010/main" val="1579011935"/>
              </p:ext>
            </p:extLst>
          </p:nvPr>
        </p:nvGraphicFramePr>
        <p:xfrm>
          <a:off x="6309360" y="1481328"/>
          <a:ext cx="5577840" cy="914400"/>
        </p:xfrm>
        <a:graphic>
          <a:graphicData uri="http://schemas.openxmlformats.org/drawingml/2006/table">
            <a:tbl>
              <a:tblPr/>
              <a:tblGrid>
                <a:gridCol w="2743200"/>
                <a:gridCol w="1554480"/>
                <a:gridCol w="1280160"/>
              </a:tblGrid>
              <a:tr h="310896">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Lớp</a:t>
                      </a:r>
                      <a:endParaRPr lang="en-US" sz="1250" dirty="0">
                        <a:latin typeface="Calibri" charset="0"/>
                        <a:ea typeface="Calibri" charset="0"/>
                        <a:cs typeface="Calibri" charset="0"/>
                      </a:endParaRPr>
                    </a:p>
                  </a:txBody>
                  <a:tcPr marL="45720" marR="45720" marT="45720" marB="45720" anchor="ctr">
                    <a:lnL w="12700" cap="flat" cmpd="sng" algn="ctr">
                      <a:solidFill>
                        <a:srgbClr val="DCE3EB"/>
                      </a:solidFill>
                      <a:prstDash val="solid"/>
                      <a:round/>
                      <a:headEnd type="none" w="med" len="med"/>
                      <a:tailEnd type="none" w="med" len="med"/>
                    </a:lnL>
                    <a:lnR w="12700" cap="flat" cmpd="sng" algn="ctr">
                      <a:solidFill>
                        <a:srgbClr val="DCE3EB"/>
                      </a:solidFill>
                      <a:prstDash val="solid"/>
                      <a:round/>
                      <a:headEnd type="none" w="med" len="med"/>
                      <a:tailEnd type="none" w="med" len="med"/>
                    </a:lnR>
                    <a:lnT w="12700" cap="flat" cmpd="sng" algn="ctr">
                      <a:solidFill>
                        <a:srgbClr val="DCE3EB"/>
                      </a:solidFill>
                      <a:prstDash val="solid"/>
                      <a:round/>
                      <a:headEnd type="none" w="med" len="med"/>
                      <a:tailEnd type="none" w="med" len="med"/>
                    </a:lnT>
                    <a:lnB w="12700" cap="flat" cmpd="sng" algn="ctr">
                      <a:solidFill>
                        <a:srgbClr val="DCE3EB"/>
                      </a:solidFill>
                      <a:prstDash val="solid"/>
                      <a:round/>
                      <a:headEnd type="none" w="med" len="med"/>
                      <a:tailEnd type="none" w="med" len="med"/>
                    </a:lnB>
                    <a:solidFill>
                      <a:srgbClr val="152238"/>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mAP@.5:.95</a:t>
                      </a:r>
                      <a:endParaRPr lang="en-US" sz="1250" dirty="0">
                        <a:latin typeface="Calibri" charset="0"/>
                        <a:ea typeface="Calibri" charset="0"/>
                        <a:cs typeface="Calibri" charset="0"/>
                      </a:endParaRPr>
                    </a:p>
                  </a:txBody>
                  <a:tcPr marL="45720" marR="45720" marT="45720" marB="45720" anchor="ctr">
                    <a:lnL w="12700" cap="flat" cmpd="sng" algn="ctr">
                      <a:solidFill>
                        <a:srgbClr val="DCE3EB"/>
                      </a:solidFill>
                      <a:prstDash val="solid"/>
                      <a:round/>
                      <a:headEnd type="none" w="med" len="med"/>
                      <a:tailEnd type="none" w="med" len="med"/>
                    </a:lnL>
                    <a:lnR w="12700" cap="flat" cmpd="sng" algn="ctr">
                      <a:solidFill>
                        <a:srgbClr val="DCE3EB"/>
                      </a:solidFill>
                      <a:prstDash val="solid"/>
                      <a:round/>
                      <a:headEnd type="none" w="med" len="med"/>
                      <a:tailEnd type="none" w="med" len="med"/>
                    </a:lnR>
                    <a:lnT w="12700" cap="flat" cmpd="sng" algn="ctr">
                      <a:solidFill>
                        <a:srgbClr val="DCE3EB"/>
                      </a:solidFill>
                      <a:prstDash val="solid"/>
                      <a:round/>
                      <a:headEnd type="none" w="med" len="med"/>
                      <a:tailEnd type="none" w="med" len="med"/>
                    </a:lnT>
                    <a:lnB w="12700" cap="flat" cmpd="sng" algn="ctr">
                      <a:solidFill>
                        <a:srgbClr val="DCE3EB"/>
                      </a:solidFill>
                      <a:prstDash val="solid"/>
                      <a:round/>
                      <a:headEnd type="none" w="med" len="med"/>
                      <a:tailEnd type="none" w="med" len="med"/>
                    </a:lnB>
                    <a:solidFill>
                      <a:srgbClr val="152238"/>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Recall</a:t>
                      </a:r>
                      <a:endParaRPr lang="en-US" sz="1250" dirty="0">
                        <a:latin typeface="Calibri" charset="0"/>
                        <a:ea typeface="Calibri" charset="0"/>
                        <a:cs typeface="Calibri" charset="0"/>
                      </a:endParaRPr>
                    </a:p>
                  </a:txBody>
                  <a:tcPr marL="45720" marR="45720" marT="45720" marB="45720" anchor="ctr">
                    <a:lnL w="12700" cap="flat" cmpd="sng" algn="ctr">
                      <a:solidFill>
                        <a:srgbClr val="DCE3EB"/>
                      </a:solidFill>
                      <a:prstDash val="solid"/>
                      <a:round/>
                      <a:headEnd type="none" w="med" len="med"/>
                      <a:tailEnd type="none" w="med" len="med"/>
                    </a:lnL>
                    <a:lnR w="12700" cap="flat" cmpd="sng" algn="ctr">
                      <a:solidFill>
                        <a:srgbClr val="DCE3EB"/>
                      </a:solidFill>
                      <a:prstDash val="solid"/>
                      <a:round/>
                      <a:headEnd type="none" w="med" len="med"/>
                      <a:tailEnd type="none" w="med" len="med"/>
                    </a:lnR>
                    <a:lnT w="12700" cap="flat" cmpd="sng" algn="ctr">
                      <a:solidFill>
                        <a:srgbClr val="DCE3EB"/>
                      </a:solidFill>
                      <a:prstDash val="solid"/>
                      <a:round/>
                      <a:headEnd type="none" w="med" len="med"/>
                      <a:tailEnd type="none" w="med" len="med"/>
                    </a:lnT>
                    <a:lnB w="12700" cap="flat" cmpd="sng" algn="ctr">
                      <a:solidFill>
                        <a:srgbClr val="DCE3EB"/>
                      </a:solidFill>
                      <a:prstDash val="solid"/>
                      <a:round/>
                      <a:headEnd type="none" w="med" len="med"/>
                      <a:tailEnd type="none" w="med" len="med"/>
                    </a:lnB>
                    <a:solidFill>
                      <a:srgbClr val="152238"/>
                    </a:solidFill>
                  </a:tcPr>
                </a:tc>
              </a:tr>
              <a:tr h="310896">
                <a:tc>
                  <a:txBody>
                    <a:bodyPr/>
                    <a:lstStyle/>
                    <a:p>
                      <a:pPr algn="l" indent="0" marL="0">
                        <a:buNone/>
                      </a:pPr>
                      <a:r>
                        <a:rPr lang="en-US" sz="1200" dirty="0">
                          <a:solidFill>
                            <a:srgbClr val="1A2430"/>
                          </a:solidFill>
                          <a:latin typeface="Calibri" pitchFamily="34" charset="0"/>
                          <a:ea typeface="Calibri" pitchFamily="34" charset="-122"/>
                          <a:cs typeface="Calibri" pitchFamily="34" charset="-120"/>
                        </a:rPr>
                        <a:t>Speed Limit 50</a:t>
                      </a:r>
                      <a:endParaRPr lang="en-US" sz="1200" dirty="0">
                        <a:latin typeface="Calibri" charset="0"/>
                        <a:ea typeface="Calibri" charset="0"/>
                        <a:cs typeface="Calibri" charset="0"/>
                      </a:endParaRPr>
                    </a:p>
                  </a:txBody>
                  <a:tcPr marL="45720" marR="45720" marT="45720" marB="45720" anchor="ctr">
                    <a:lnL w="12700" cap="flat" cmpd="sng" algn="ctr">
                      <a:solidFill>
                        <a:srgbClr val="DCE3EB"/>
                      </a:solidFill>
                      <a:prstDash val="solid"/>
                      <a:round/>
                      <a:headEnd type="none" w="med" len="med"/>
                      <a:tailEnd type="none" w="med" len="med"/>
                    </a:lnL>
                    <a:lnR w="12700" cap="flat" cmpd="sng" algn="ctr">
                      <a:solidFill>
                        <a:srgbClr val="DCE3EB"/>
                      </a:solidFill>
                      <a:prstDash val="solid"/>
                      <a:round/>
                      <a:headEnd type="none" w="med" len="med"/>
                      <a:tailEnd type="none" w="med" len="med"/>
                    </a:lnR>
                    <a:lnT w="12700" cap="flat" cmpd="sng" algn="ctr">
                      <a:solidFill>
                        <a:srgbClr val="DCE3EB"/>
                      </a:solidFill>
                      <a:prstDash val="solid"/>
                      <a:round/>
                      <a:headEnd type="none" w="med" len="med"/>
                      <a:tailEnd type="none" w="med" len="med"/>
                    </a:lnT>
                    <a:lnB w="12700" cap="flat" cmpd="sng" algn="ctr">
                      <a:solidFill>
                        <a:srgbClr val="DCE3E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2430"/>
                          </a:solidFill>
                          <a:latin typeface="Calibri" pitchFamily="34" charset="0"/>
                          <a:ea typeface="Calibri" pitchFamily="34" charset="-122"/>
                          <a:cs typeface="Calibri" pitchFamily="34" charset="-120"/>
                        </a:rPr>
                        <a:t>0,856</a:t>
                      </a:r>
                      <a:endParaRPr lang="en-US" sz="1200" dirty="0">
                        <a:latin typeface="Calibri" charset="0"/>
                        <a:ea typeface="Calibri" charset="0"/>
                        <a:cs typeface="Calibri" charset="0"/>
                      </a:endParaRPr>
                    </a:p>
                  </a:txBody>
                  <a:tcPr marL="45720" marR="45720" marT="45720" marB="45720" anchor="ctr">
                    <a:lnL w="12700" cap="flat" cmpd="sng" algn="ctr">
                      <a:solidFill>
                        <a:srgbClr val="DCE3EB"/>
                      </a:solidFill>
                      <a:prstDash val="solid"/>
                      <a:round/>
                      <a:headEnd type="none" w="med" len="med"/>
                      <a:tailEnd type="none" w="med" len="med"/>
                    </a:lnL>
                    <a:lnR w="12700" cap="flat" cmpd="sng" algn="ctr">
                      <a:solidFill>
                        <a:srgbClr val="DCE3EB"/>
                      </a:solidFill>
                      <a:prstDash val="solid"/>
                      <a:round/>
                      <a:headEnd type="none" w="med" len="med"/>
                      <a:tailEnd type="none" w="med" len="med"/>
                    </a:lnR>
                    <a:lnT w="12700" cap="flat" cmpd="sng" algn="ctr">
                      <a:solidFill>
                        <a:srgbClr val="DCE3EB"/>
                      </a:solidFill>
                      <a:prstDash val="solid"/>
                      <a:round/>
                      <a:headEnd type="none" w="med" len="med"/>
                      <a:tailEnd type="none" w="med" len="med"/>
                    </a:lnT>
                    <a:lnB w="12700" cap="flat" cmpd="sng" algn="ctr">
                      <a:solidFill>
                        <a:srgbClr val="DCE3E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2430"/>
                          </a:solidFill>
                          <a:latin typeface="Calibri" pitchFamily="34" charset="0"/>
                          <a:ea typeface="Calibri" pitchFamily="34" charset="-122"/>
                          <a:cs typeface="Calibri" pitchFamily="34" charset="-120"/>
                        </a:rPr>
                        <a:t>0,960</a:t>
                      </a:r>
                      <a:endParaRPr lang="en-US" sz="1200" dirty="0">
                        <a:latin typeface="Calibri" charset="0"/>
                        <a:ea typeface="Calibri" charset="0"/>
                        <a:cs typeface="Calibri" charset="0"/>
                      </a:endParaRPr>
                    </a:p>
                  </a:txBody>
                  <a:tcPr marL="45720" marR="45720" marT="45720" marB="45720" anchor="ctr">
                    <a:lnL w="12700" cap="flat" cmpd="sng" algn="ctr">
                      <a:solidFill>
                        <a:srgbClr val="DCE3EB"/>
                      </a:solidFill>
                      <a:prstDash val="solid"/>
                      <a:round/>
                      <a:headEnd type="none" w="med" len="med"/>
                      <a:tailEnd type="none" w="med" len="med"/>
                    </a:lnL>
                    <a:lnR w="12700" cap="flat" cmpd="sng" algn="ctr">
                      <a:solidFill>
                        <a:srgbClr val="DCE3EB"/>
                      </a:solidFill>
                      <a:prstDash val="solid"/>
                      <a:round/>
                      <a:headEnd type="none" w="med" len="med"/>
                      <a:tailEnd type="none" w="med" len="med"/>
                    </a:lnR>
                    <a:lnT w="12700" cap="flat" cmpd="sng" algn="ctr">
                      <a:solidFill>
                        <a:srgbClr val="DCE3EB"/>
                      </a:solidFill>
                      <a:prstDash val="solid"/>
                      <a:round/>
                      <a:headEnd type="none" w="med" len="med"/>
                      <a:tailEnd type="none" w="med" len="med"/>
                    </a:lnT>
                    <a:lnB w="12700" cap="flat" cmpd="sng" algn="ctr">
                      <a:solidFill>
                        <a:srgbClr val="DCE3EB"/>
                      </a:solidFill>
                      <a:prstDash val="solid"/>
                      <a:round/>
                      <a:headEnd type="none" w="med" len="med"/>
                      <a:tailEnd type="none" w="med" len="med"/>
                    </a:lnB>
                    <a:solidFill>
                      <a:srgbClr val="FFFFFF"/>
                    </a:solidFill>
                  </a:tcPr>
                </a:tc>
              </a:tr>
              <a:tr h="310896">
                <a:tc>
                  <a:txBody>
                    <a:bodyPr/>
                    <a:lstStyle/>
                    <a:p>
                      <a:pPr algn="l" indent="0" marL="0">
                        <a:buNone/>
                      </a:pPr>
                      <a:r>
                        <a:rPr lang="en-US" sz="1200" dirty="0">
                          <a:solidFill>
                            <a:srgbClr val="1A2430"/>
                          </a:solidFill>
                          <a:latin typeface="Calibri" pitchFamily="34" charset="0"/>
                          <a:ea typeface="Calibri" pitchFamily="34" charset="-122"/>
                          <a:cs typeface="Calibri" pitchFamily="34" charset="-120"/>
                        </a:rPr>
                        <a:t>Speed Limit 40</a:t>
                      </a:r>
                      <a:endParaRPr lang="en-US" sz="1200" dirty="0">
                        <a:latin typeface="Calibri" charset="0"/>
                        <a:ea typeface="Calibri" charset="0"/>
                        <a:cs typeface="Calibri" charset="0"/>
                      </a:endParaRPr>
                    </a:p>
                  </a:txBody>
                  <a:tcPr marL="45720" marR="45720" marT="45720" marB="45720" anchor="ctr">
                    <a:lnL w="12700" cap="flat" cmpd="sng" algn="ctr">
                      <a:solidFill>
                        <a:srgbClr val="DCE3EB"/>
                      </a:solidFill>
                      <a:prstDash val="solid"/>
                      <a:round/>
                      <a:headEnd type="none" w="med" len="med"/>
                      <a:tailEnd type="none" w="med" len="med"/>
                    </a:lnL>
                    <a:lnR w="12700" cap="flat" cmpd="sng" algn="ctr">
                      <a:solidFill>
                        <a:srgbClr val="DCE3EB"/>
                      </a:solidFill>
                      <a:prstDash val="solid"/>
                      <a:round/>
                      <a:headEnd type="none" w="med" len="med"/>
                      <a:tailEnd type="none" w="med" len="med"/>
                    </a:lnR>
                    <a:lnT w="12700" cap="flat" cmpd="sng" algn="ctr">
                      <a:solidFill>
                        <a:srgbClr val="DCE3EB"/>
                      </a:solidFill>
                      <a:prstDash val="solid"/>
                      <a:round/>
                      <a:headEnd type="none" w="med" len="med"/>
                      <a:tailEnd type="none" w="med" len="med"/>
                    </a:lnT>
                    <a:lnB w="12700" cap="flat" cmpd="sng" algn="ctr">
                      <a:solidFill>
                        <a:srgbClr val="DCE3EB"/>
                      </a:solidFill>
                      <a:prstDash val="solid"/>
                      <a:round/>
                      <a:headEnd type="none" w="med" len="med"/>
                      <a:tailEnd type="none" w="med" len="med"/>
                    </a:lnB>
                    <a:solidFill>
                      <a:srgbClr val="EEF3F7"/>
                    </a:solidFill>
                  </a:tcPr>
                </a:tc>
                <a:tc>
                  <a:txBody>
                    <a:bodyPr/>
                    <a:lstStyle/>
                    <a:p>
                      <a:pPr algn="ctr" indent="0" marL="0">
                        <a:buNone/>
                      </a:pPr>
                      <a:r>
                        <a:rPr lang="en-US" sz="1200" dirty="0">
                          <a:solidFill>
                            <a:srgbClr val="1A2430"/>
                          </a:solidFill>
                          <a:latin typeface="Calibri" pitchFamily="34" charset="0"/>
                          <a:ea typeface="Calibri" pitchFamily="34" charset="-122"/>
                          <a:cs typeface="Calibri" pitchFamily="34" charset="-120"/>
                        </a:rPr>
                        <a:t>0,838</a:t>
                      </a:r>
                      <a:endParaRPr lang="en-US" sz="1200" dirty="0">
                        <a:latin typeface="Calibri" charset="0"/>
                        <a:ea typeface="Calibri" charset="0"/>
                        <a:cs typeface="Calibri" charset="0"/>
                      </a:endParaRPr>
                    </a:p>
                  </a:txBody>
                  <a:tcPr marL="45720" marR="45720" marT="45720" marB="45720" anchor="ctr">
                    <a:lnL w="12700" cap="flat" cmpd="sng" algn="ctr">
                      <a:solidFill>
                        <a:srgbClr val="DCE3EB"/>
                      </a:solidFill>
                      <a:prstDash val="solid"/>
                      <a:round/>
                      <a:headEnd type="none" w="med" len="med"/>
                      <a:tailEnd type="none" w="med" len="med"/>
                    </a:lnL>
                    <a:lnR w="12700" cap="flat" cmpd="sng" algn="ctr">
                      <a:solidFill>
                        <a:srgbClr val="DCE3EB"/>
                      </a:solidFill>
                      <a:prstDash val="solid"/>
                      <a:round/>
                      <a:headEnd type="none" w="med" len="med"/>
                      <a:tailEnd type="none" w="med" len="med"/>
                    </a:lnR>
                    <a:lnT w="12700" cap="flat" cmpd="sng" algn="ctr">
                      <a:solidFill>
                        <a:srgbClr val="DCE3EB"/>
                      </a:solidFill>
                      <a:prstDash val="solid"/>
                      <a:round/>
                      <a:headEnd type="none" w="med" len="med"/>
                      <a:tailEnd type="none" w="med" len="med"/>
                    </a:lnT>
                    <a:lnB w="12700" cap="flat" cmpd="sng" algn="ctr">
                      <a:solidFill>
                        <a:srgbClr val="DCE3EB"/>
                      </a:solidFill>
                      <a:prstDash val="solid"/>
                      <a:round/>
                      <a:headEnd type="none" w="med" len="med"/>
                      <a:tailEnd type="none" w="med" len="med"/>
                    </a:lnB>
                    <a:solidFill>
                      <a:srgbClr val="EEF3F7"/>
                    </a:solidFill>
                  </a:tcPr>
                </a:tc>
                <a:tc>
                  <a:txBody>
                    <a:bodyPr/>
                    <a:lstStyle/>
                    <a:p>
                      <a:pPr algn="ctr" indent="0" marL="0">
                        <a:buNone/>
                      </a:pPr>
                      <a:r>
                        <a:rPr lang="en-US" sz="1200" dirty="0">
                          <a:solidFill>
                            <a:srgbClr val="1A2430"/>
                          </a:solidFill>
                          <a:latin typeface="Calibri" pitchFamily="34" charset="0"/>
                          <a:ea typeface="Calibri" pitchFamily="34" charset="-122"/>
                          <a:cs typeface="Calibri" pitchFamily="34" charset="-120"/>
                        </a:rPr>
                        <a:t>0,962</a:t>
                      </a:r>
                      <a:endParaRPr lang="en-US" sz="1200" dirty="0">
                        <a:latin typeface="Calibri" charset="0"/>
                        <a:ea typeface="Calibri" charset="0"/>
                        <a:cs typeface="Calibri" charset="0"/>
                      </a:endParaRPr>
                    </a:p>
                  </a:txBody>
                  <a:tcPr marL="45720" marR="45720" marT="45720" marB="45720" anchor="ctr">
                    <a:lnL w="12700" cap="flat" cmpd="sng" algn="ctr">
                      <a:solidFill>
                        <a:srgbClr val="DCE3EB"/>
                      </a:solidFill>
                      <a:prstDash val="solid"/>
                      <a:round/>
                      <a:headEnd type="none" w="med" len="med"/>
                      <a:tailEnd type="none" w="med" len="med"/>
                    </a:lnL>
                    <a:lnR w="12700" cap="flat" cmpd="sng" algn="ctr">
                      <a:solidFill>
                        <a:srgbClr val="DCE3EB"/>
                      </a:solidFill>
                      <a:prstDash val="solid"/>
                      <a:round/>
                      <a:headEnd type="none" w="med" len="med"/>
                      <a:tailEnd type="none" w="med" len="med"/>
                    </a:lnR>
                    <a:lnT w="12700" cap="flat" cmpd="sng" algn="ctr">
                      <a:solidFill>
                        <a:srgbClr val="DCE3EB"/>
                      </a:solidFill>
                      <a:prstDash val="solid"/>
                      <a:round/>
                      <a:headEnd type="none" w="med" len="med"/>
                      <a:tailEnd type="none" w="med" len="med"/>
                    </a:lnT>
                    <a:lnB w="12700" cap="flat" cmpd="sng" algn="ctr">
                      <a:solidFill>
                        <a:srgbClr val="DCE3EB"/>
                      </a:solidFill>
                      <a:prstDash val="solid"/>
                      <a:round/>
                      <a:headEnd type="none" w="med" len="med"/>
                      <a:tailEnd type="none" w="med" len="med"/>
                    </a:lnB>
                    <a:solidFill>
                      <a:srgbClr val="EEF3F7"/>
                    </a:solidFill>
                  </a:tcPr>
                </a:tc>
              </a:tr>
              <a:tr h="310896">
                <a:tc>
                  <a:txBody>
                    <a:bodyPr/>
                    <a:lstStyle/>
                    <a:p>
                      <a:pPr algn="l" indent="0" marL="0">
                        <a:buNone/>
                      </a:pPr>
                      <a:r>
                        <a:rPr lang="en-US" sz="1200" dirty="0">
                          <a:solidFill>
                            <a:srgbClr val="1A2430"/>
                          </a:solidFill>
                          <a:latin typeface="Calibri" pitchFamily="34" charset="0"/>
                          <a:ea typeface="Calibri" pitchFamily="34" charset="-122"/>
                          <a:cs typeface="Calibri" pitchFamily="34" charset="-120"/>
                        </a:rPr>
                        <a:t>Speed Limit 10</a:t>
                      </a:r>
                      <a:endParaRPr lang="en-US" sz="1200" dirty="0">
                        <a:latin typeface="Calibri" charset="0"/>
                        <a:ea typeface="Calibri" charset="0"/>
                        <a:cs typeface="Calibri" charset="0"/>
                      </a:endParaRPr>
                    </a:p>
                  </a:txBody>
                  <a:tcPr marL="45720" marR="45720" marT="45720" marB="45720" anchor="ctr">
                    <a:lnL w="12700" cap="flat" cmpd="sng" algn="ctr">
                      <a:solidFill>
                        <a:srgbClr val="DCE3EB"/>
                      </a:solidFill>
                      <a:prstDash val="solid"/>
                      <a:round/>
                      <a:headEnd type="none" w="med" len="med"/>
                      <a:tailEnd type="none" w="med" len="med"/>
                    </a:lnL>
                    <a:lnR w="12700" cap="flat" cmpd="sng" algn="ctr">
                      <a:solidFill>
                        <a:srgbClr val="DCE3EB"/>
                      </a:solidFill>
                      <a:prstDash val="solid"/>
                      <a:round/>
                      <a:headEnd type="none" w="med" len="med"/>
                      <a:tailEnd type="none" w="med" len="med"/>
                    </a:lnR>
                    <a:lnT w="12700" cap="flat" cmpd="sng" algn="ctr">
                      <a:solidFill>
                        <a:srgbClr val="DCE3EB"/>
                      </a:solidFill>
                      <a:prstDash val="solid"/>
                      <a:round/>
                      <a:headEnd type="none" w="med" len="med"/>
                      <a:tailEnd type="none" w="med" len="med"/>
                    </a:lnT>
                    <a:lnB w="12700" cap="flat" cmpd="sng" algn="ctr">
                      <a:solidFill>
                        <a:srgbClr val="DCE3E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2430"/>
                          </a:solidFill>
                          <a:latin typeface="Calibri" pitchFamily="34" charset="0"/>
                          <a:ea typeface="Calibri" pitchFamily="34" charset="-122"/>
                          <a:cs typeface="Calibri" pitchFamily="34" charset="-120"/>
                        </a:rPr>
                        <a:t>0,830</a:t>
                      </a:r>
                      <a:endParaRPr lang="en-US" sz="1200" dirty="0">
                        <a:latin typeface="Calibri" charset="0"/>
                        <a:ea typeface="Calibri" charset="0"/>
                        <a:cs typeface="Calibri" charset="0"/>
                      </a:endParaRPr>
                    </a:p>
                  </a:txBody>
                  <a:tcPr marL="45720" marR="45720" marT="45720" marB="45720" anchor="ctr">
                    <a:lnL w="12700" cap="flat" cmpd="sng" algn="ctr">
                      <a:solidFill>
                        <a:srgbClr val="DCE3EB"/>
                      </a:solidFill>
                      <a:prstDash val="solid"/>
                      <a:round/>
                      <a:headEnd type="none" w="med" len="med"/>
                      <a:tailEnd type="none" w="med" len="med"/>
                    </a:lnL>
                    <a:lnR w="12700" cap="flat" cmpd="sng" algn="ctr">
                      <a:solidFill>
                        <a:srgbClr val="DCE3EB"/>
                      </a:solidFill>
                      <a:prstDash val="solid"/>
                      <a:round/>
                      <a:headEnd type="none" w="med" len="med"/>
                      <a:tailEnd type="none" w="med" len="med"/>
                    </a:lnR>
                    <a:lnT w="12700" cap="flat" cmpd="sng" algn="ctr">
                      <a:solidFill>
                        <a:srgbClr val="DCE3EB"/>
                      </a:solidFill>
                      <a:prstDash val="solid"/>
                      <a:round/>
                      <a:headEnd type="none" w="med" len="med"/>
                      <a:tailEnd type="none" w="med" len="med"/>
                    </a:lnT>
                    <a:lnB w="12700" cap="flat" cmpd="sng" algn="ctr">
                      <a:solidFill>
                        <a:srgbClr val="DCE3E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2430"/>
                          </a:solidFill>
                          <a:latin typeface="Calibri" pitchFamily="34" charset="0"/>
                          <a:ea typeface="Calibri" pitchFamily="34" charset="-122"/>
                          <a:cs typeface="Calibri" pitchFamily="34" charset="-120"/>
                        </a:rPr>
                        <a:t>0,971</a:t>
                      </a:r>
                      <a:endParaRPr lang="en-US" sz="1200" dirty="0">
                        <a:latin typeface="Calibri" charset="0"/>
                        <a:ea typeface="Calibri" charset="0"/>
                        <a:cs typeface="Calibri" charset="0"/>
                      </a:endParaRPr>
                    </a:p>
                  </a:txBody>
                  <a:tcPr marL="45720" marR="45720" marT="45720" marB="45720" anchor="ctr">
                    <a:lnL w="12700" cap="flat" cmpd="sng" algn="ctr">
                      <a:solidFill>
                        <a:srgbClr val="DCE3EB"/>
                      </a:solidFill>
                      <a:prstDash val="solid"/>
                      <a:round/>
                      <a:headEnd type="none" w="med" len="med"/>
                      <a:tailEnd type="none" w="med" len="med"/>
                    </a:lnL>
                    <a:lnR w="12700" cap="flat" cmpd="sng" algn="ctr">
                      <a:solidFill>
                        <a:srgbClr val="DCE3EB"/>
                      </a:solidFill>
                      <a:prstDash val="solid"/>
                      <a:round/>
                      <a:headEnd type="none" w="med" len="med"/>
                      <a:tailEnd type="none" w="med" len="med"/>
                    </a:lnR>
                    <a:lnT w="12700" cap="flat" cmpd="sng" algn="ctr">
                      <a:solidFill>
                        <a:srgbClr val="DCE3EB"/>
                      </a:solidFill>
                      <a:prstDash val="solid"/>
                      <a:round/>
                      <a:headEnd type="none" w="med" len="med"/>
                      <a:tailEnd type="none" w="med" len="med"/>
                    </a:lnT>
                    <a:lnB w="12700" cap="flat" cmpd="sng" algn="ctr">
                      <a:solidFill>
                        <a:srgbClr val="DCE3EB"/>
                      </a:solidFill>
                      <a:prstDash val="solid"/>
                      <a:round/>
                      <a:headEnd type="none" w="med" len="med"/>
                      <a:tailEnd type="none" w="med" len="med"/>
                    </a:lnB>
                    <a:solidFill>
                      <a:srgbClr val="FFFFFF"/>
                    </a:solidFill>
                  </a:tcPr>
                </a:tc>
              </a:tr>
              <a:tr h="310896">
                <a:tc>
                  <a:txBody>
                    <a:bodyPr/>
                    <a:lstStyle/>
                    <a:p>
                      <a:pPr algn="l" indent="0" marL="0">
                        <a:buNone/>
                      </a:pPr>
                      <a:r>
                        <a:rPr lang="en-US" sz="1200" dirty="0">
                          <a:solidFill>
                            <a:srgbClr val="1A2430"/>
                          </a:solidFill>
                          <a:latin typeface="Calibri" pitchFamily="34" charset="0"/>
                          <a:ea typeface="Calibri" pitchFamily="34" charset="-122"/>
                          <a:cs typeface="Calibri" pitchFamily="34" charset="-120"/>
                        </a:rPr>
                        <a:t>Speed Limit 90</a:t>
                      </a:r>
                      <a:endParaRPr lang="en-US" sz="1200" dirty="0">
                        <a:latin typeface="Calibri" charset="0"/>
                        <a:ea typeface="Calibri" charset="0"/>
                        <a:cs typeface="Calibri" charset="0"/>
                      </a:endParaRPr>
                    </a:p>
                  </a:txBody>
                  <a:tcPr marL="45720" marR="45720" marT="45720" marB="45720" anchor="ctr">
                    <a:lnL w="12700" cap="flat" cmpd="sng" algn="ctr">
                      <a:solidFill>
                        <a:srgbClr val="DCE3EB"/>
                      </a:solidFill>
                      <a:prstDash val="solid"/>
                      <a:round/>
                      <a:headEnd type="none" w="med" len="med"/>
                      <a:tailEnd type="none" w="med" len="med"/>
                    </a:lnL>
                    <a:lnR w="12700" cap="flat" cmpd="sng" algn="ctr">
                      <a:solidFill>
                        <a:srgbClr val="DCE3EB"/>
                      </a:solidFill>
                      <a:prstDash val="solid"/>
                      <a:round/>
                      <a:headEnd type="none" w="med" len="med"/>
                      <a:tailEnd type="none" w="med" len="med"/>
                    </a:lnR>
                    <a:lnT w="12700" cap="flat" cmpd="sng" algn="ctr">
                      <a:solidFill>
                        <a:srgbClr val="DCE3EB"/>
                      </a:solidFill>
                      <a:prstDash val="solid"/>
                      <a:round/>
                      <a:headEnd type="none" w="med" len="med"/>
                      <a:tailEnd type="none" w="med" len="med"/>
                    </a:lnT>
                    <a:lnB w="12700" cap="flat" cmpd="sng" algn="ctr">
                      <a:solidFill>
                        <a:srgbClr val="DCE3EB"/>
                      </a:solidFill>
                      <a:prstDash val="solid"/>
                      <a:round/>
                      <a:headEnd type="none" w="med" len="med"/>
                      <a:tailEnd type="none" w="med" len="med"/>
                    </a:lnB>
                    <a:solidFill>
                      <a:srgbClr val="EEF3F7"/>
                    </a:solidFill>
                  </a:tcPr>
                </a:tc>
                <a:tc>
                  <a:txBody>
                    <a:bodyPr/>
                    <a:lstStyle/>
                    <a:p>
                      <a:pPr algn="ctr" indent="0" marL="0">
                        <a:buNone/>
                      </a:pPr>
                      <a:r>
                        <a:rPr lang="en-US" sz="1200" dirty="0">
                          <a:solidFill>
                            <a:srgbClr val="1A2430"/>
                          </a:solidFill>
                          <a:latin typeface="Calibri" pitchFamily="34" charset="0"/>
                          <a:ea typeface="Calibri" pitchFamily="34" charset="-122"/>
                          <a:cs typeface="Calibri" pitchFamily="34" charset="-120"/>
                        </a:rPr>
                        <a:t>0,827</a:t>
                      </a:r>
                      <a:endParaRPr lang="en-US" sz="1200" dirty="0">
                        <a:latin typeface="Calibri" charset="0"/>
                        <a:ea typeface="Calibri" charset="0"/>
                        <a:cs typeface="Calibri" charset="0"/>
                      </a:endParaRPr>
                    </a:p>
                  </a:txBody>
                  <a:tcPr marL="45720" marR="45720" marT="45720" marB="45720" anchor="ctr">
                    <a:lnL w="12700" cap="flat" cmpd="sng" algn="ctr">
                      <a:solidFill>
                        <a:srgbClr val="DCE3EB"/>
                      </a:solidFill>
                      <a:prstDash val="solid"/>
                      <a:round/>
                      <a:headEnd type="none" w="med" len="med"/>
                      <a:tailEnd type="none" w="med" len="med"/>
                    </a:lnL>
                    <a:lnR w="12700" cap="flat" cmpd="sng" algn="ctr">
                      <a:solidFill>
                        <a:srgbClr val="DCE3EB"/>
                      </a:solidFill>
                      <a:prstDash val="solid"/>
                      <a:round/>
                      <a:headEnd type="none" w="med" len="med"/>
                      <a:tailEnd type="none" w="med" len="med"/>
                    </a:lnR>
                    <a:lnT w="12700" cap="flat" cmpd="sng" algn="ctr">
                      <a:solidFill>
                        <a:srgbClr val="DCE3EB"/>
                      </a:solidFill>
                      <a:prstDash val="solid"/>
                      <a:round/>
                      <a:headEnd type="none" w="med" len="med"/>
                      <a:tailEnd type="none" w="med" len="med"/>
                    </a:lnT>
                    <a:lnB w="12700" cap="flat" cmpd="sng" algn="ctr">
                      <a:solidFill>
                        <a:srgbClr val="DCE3EB"/>
                      </a:solidFill>
                      <a:prstDash val="solid"/>
                      <a:round/>
                      <a:headEnd type="none" w="med" len="med"/>
                      <a:tailEnd type="none" w="med" len="med"/>
                    </a:lnB>
                    <a:solidFill>
                      <a:srgbClr val="EEF3F7"/>
                    </a:solidFill>
                  </a:tcPr>
                </a:tc>
                <a:tc>
                  <a:txBody>
                    <a:bodyPr/>
                    <a:lstStyle/>
                    <a:p>
                      <a:pPr algn="ctr" indent="0" marL="0">
                        <a:buNone/>
                      </a:pPr>
                      <a:r>
                        <a:rPr lang="en-US" sz="1200" dirty="0">
                          <a:solidFill>
                            <a:srgbClr val="1A2430"/>
                          </a:solidFill>
                          <a:latin typeface="Calibri" pitchFamily="34" charset="0"/>
                          <a:ea typeface="Calibri" pitchFamily="34" charset="-122"/>
                          <a:cs typeface="Calibri" pitchFamily="34" charset="-120"/>
                        </a:rPr>
                        <a:t>0,971</a:t>
                      </a:r>
                      <a:endParaRPr lang="en-US" sz="1200" dirty="0">
                        <a:latin typeface="Calibri" charset="0"/>
                        <a:ea typeface="Calibri" charset="0"/>
                        <a:cs typeface="Calibri" charset="0"/>
                      </a:endParaRPr>
                    </a:p>
                  </a:txBody>
                  <a:tcPr marL="45720" marR="45720" marT="45720" marB="45720" anchor="ctr">
                    <a:lnL w="12700" cap="flat" cmpd="sng" algn="ctr">
                      <a:solidFill>
                        <a:srgbClr val="DCE3EB"/>
                      </a:solidFill>
                      <a:prstDash val="solid"/>
                      <a:round/>
                      <a:headEnd type="none" w="med" len="med"/>
                      <a:tailEnd type="none" w="med" len="med"/>
                    </a:lnL>
                    <a:lnR w="12700" cap="flat" cmpd="sng" algn="ctr">
                      <a:solidFill>
                        <a:srgbClr val="DCE3EB"/>
                      </a:solidFill>
                      <a:prstDash val="solid"/>
                      <a:round/>
                      <a:headEnd type="none" w="med" len="med"/>
                      <a:tailEnd type="none" w="med" len="med"/>
                    </a:lnR>
                    <a:lnT w="12700" cap="flat" cmpd="sng" algn="ctr">
                      <a:solidFill>
                        <a:srgbClr val="DCE3EB"/>
                      </a:solidFill>
                      <a:prstDash val="solid"/>
                      <a:round/>
                      <a:headEnd type="none" w="med" len="med"/>
                      <a:tailEnd type="none" w="med" len="med"/>
                    </a:lnT>
                    <a:lnB w="12700" cap="flat" cmpd="sng" algn="ctr">
                      <a:solidFill>
                        <a:srgbClr val="DCE3EB"/>
                      </a:solidFill>
                      <a:prstDash val="solid"/>
                      <a:round/>
                      <a:headEnd type="none" w="med" len="med"/>
                      <a:tailEnd type="none" w="med" len="med"/>
                    </a:lnB>
                    <a:solidFill>
                      <a:srgbClr val="EEF3F7"/>
                    </a:solidFill>
                  </a:tcPr>
                </a:tc>
              </a:tr>
              <a:tr h="310896">
                <a:tc>
                  <a:txBody>
                    <a:bodyPr/>
                    <a:lstStyle/>
                    <a:p>
                      <a:pPr algn="l" indent="0" marL="0">
                        <a:buNone/>
                      </a:pPr>
                      <a:r>
                        <a:rPr lang="en-US" sz="1200" dirty="0">
                          <a:solidFill>
                            <a:srgbClr val="1A2430"/>
                          </a:solidFill>
                          <a:latin typeface="Calibri" pitchFamily="34" charset="0"/>
                          <a:ea typeface="Calibri" pitchFamily="34" charset="-122"/>
                          <a:cs typeface="Calibri" pitchFamily="34" charset="-120"/>
                        </a:rPr>
                        <a:t>Speed Limit 110</a:t>
                      </a:r>
                      <a:endParaRPr lang="en-US" sz="1200" dirty="0">
                        <a:latin typeface="Calibri" charset="0"/>
                        <a:ea typeface="Calibri" charset="0"/>
                        <a:cs typeface="Calibri" charset="0"/>
                      </a:endParaRPr>
                    </a:p>
                  </a:txBody>
                  <a:tcPr marL="45720" marR="45720" marT="45720" marB="45720" anchor="ctr">
                    <a:lnL w="12700" cap="flat" cmpd="sng" algn="ctr">
                      <a:solidFill>
                        <a:srgbClr val="DCE3EB"/>
                      </a:solidFill>
                      <a:prstDash val="solid"/>
                      <a:round/>
                      <a:headEnd type="none" w="med" len="med"/>
                      <a:tailEnd type="none" w="med" len="med"/>
                    </a:lnL>
                    <a:lnR w="12700" cap="flat" cmpd="sng" algn="ctr">
                      <a:solidFill>
                        <a:srgbClr val="DCE3EB"/>
                      </a:solidFill>
                      <a:prstDash val="solid"/>
                      <a:round/>
                      <a:headEnd type="none" w="med" len="med"/>
                      <a:tailEnd type="none" w="med" len="med"/>
                    </a:lnR>
                    <a:lnT w="12700" cap="flat" cmpd="sng" algn="ctr">
                      <a:solidFill>
                        <a:srgbClr val="DCE3EB"/>
                      </a:solidFill>
                      <a:prstDash val="solid"/>
                      <a:round/>
                      <a:headEnd type="none" w="med" len="med"/>
                      <a:tailEnd type="none" w="med" len="med"/>
                    </a:lnT>
                    <a:lnB w="12700" cap="flat" cmpd="sng" algn="ctr">
                      <a:solidFill>
                        <a:srgbClr val="DCE3E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2430"/>
                          </a:solidFill>
                          <a:latin typeface="Calibri" pitchFamily="34" charset="0"/>
                          <a:ea typeface="Calibri" pitchFamily="34" charset="-122"/>
                          <a:cs typeface="Calibri" pitchFamily="34" charset="-120"/>
                        </a:rPr>
                        <a:t>0,784</a:t>
                      </a:r>
                      <a:endParaRPr lang="en-US" sz="1200" dirty="0">
                        <a:latin typeface="Calibri" charset="0"/>
                        <a:ea typeface="Calibri" charset="0"/>
                        <a:cs typeface="Calibri" charset="0"/>
                      </a:endParaRPr>
                    </a:p>
                  </a:txBody>
                  <a:tcPr marL="45720" marR="45720" marT="45720" marB="45720" anchor="ctr">
                    <a:lnL w="12700" cap="flat" cmpd="sng" algn="ctr">
                      <a:solidFill>
                        <a:srgbClr val="DCE3EB"/>
                      </a:solidFill>
                      <a:prstDash val="solid"/>
                      <a:round/>
                      <a:headEnd type="none" w="med" len="med"/>
                      <a:tailEnd type="none" w="med" len="med"/>
                    </a:lnL>
                    <a:lnR w="12700" cap="flat" cmpd="sng" algn="ctr">
                      <a:solidFill>
                        <a:srgbClr val="DCE3EB"/>
                      </a:solidFill>
                      <a:prstDash val="solid"/>
                      <a:round/>
                      <a:headEnd type="none" w="med" len="med"/>
                      <a:tailEnd type="none" w="med" len="med"/>
                    </a:lnR>
                    <a:lnT w="12700" cap="flat" cmpd="sng" algn="ctr">
                      <a:solidFill>
                        <a:srgbClr val="DCE3EB"/>
                      </a:solidFill>
                      <a:prstDash val="solid"/>
                      <a:round/>
                      <a:headEnd type="none" w="med" len="med"/>
                      <a:tailEnd type="none" w="med" len="med"/>
                    </a:lnT>
                    <a:lnB w="12700" cap="flat" cmpd="sng" algn="ctr">
                      <a:solidFill>
                        <a:srgbClr val="DCE3E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2430"/>
                          </a:solidFill>
                          <a:latin typeface="Calibri" pitchFamily="34" charset="0"/>
                          <a:ea typeface="Calibri" pitchFamily="34" charset="-122"/>
                          <a:cs typeface="Calibri" pitchFamily="34" charset="-120"/>
                        </a:rPr>
                        <a:t>0,905</a:t>
                      </a:r>
                      <a:endParaRPr lang="en-US" sz="1200" dirty="0">
                        <a:latin typeface="Calibri" charset="0"/>
                        <a:ea typeface="Calibri" charset="0"/>
                        <a:cs typeface="Calibri" charset="0"/>
                      </a:endParaRPr>
                    </a:p>
                  </a:txBody>
                  <a:tcPr marL="45720" marR="45720" marT="45720" marB="45720" anchor="ctr">
                    <a:lnL w="12700" cap="flat" cmpd="sng" algn="ctr">
                      <a:solidFill>
                        <a:srgbClr val="DCE3EB"/>
                      </a:solidFill>
                      <a:prstDash val="solid"/>
                      <a:round/>
                      <a:headEnd type="none" w="med" len="med"/>
                      <a:tailEnd type="none" w="med" len="med"/>
                    </a:lnL>
                    <a:lnR w="12700" cap="flat" cmpd="sng" algn="ctr">
                      <a:solidFill>
                        <a:srgbClr val="DCE3EB"/>
                      </a:solidFill>
                      <a:prstDash val="solid"/>
                      <a:round/>
                      <a:headEnd type="none" w="med" len="med"/>
                      <a:tailEnd type="none" w="med" len="med"/>
                    </a:lnR>
                    <a:lnT w="12700" cap="flat" cmpd="sng" algn="ctr">
                      <a:solidFill>
                        <a:srgbClr val="DCE3EB"/>
                      </a:solidFill>
                      <a:prstDash val="solid"/>
                      <a:round/>
                      <a:headEnd type="none" w="med" len="med"/>
                      <a:tailEnd type="none" w="med" len="med"/>
                    </a:lnT>
                    <a:lnB w="12700" cap="flat" cmpd="sng" algn="ctr">
                      <a:solidFill>
                        <a:srgbClr val="DCE3EB"/>
                      </a:solidFill>
                      <a:prstDash val="solid"/>
                      <a:round/>
                      <a:headEnd type="none" w="med" len="med"/>
                      <a:tailEnd type="none" w="med" len="med"/>
                    </a:lnB>
                    <a:solidFill>
                      <a:srgbClr val="FFFFFF"/>
                    </a:solidFill>
                  </a:tcPr>
                </a:tc>
              </a:tr>
              <a:tr h="310896">
                <a:tc>
                  <a:txBody>
                    <a:bodyPr/>
                    <a:lstStyle/>
                    <a:p>
                      <a:pPr algn="l" indent="0" marL="0">
                        <a:buNone/>
                      </a:pPr>
                      <a:r>
                        <a:rPr lang="en-US" sz="1200" b="1" dirty="0">
                          <a:solidFill>
                            <a:srgbClr val="E63946"/>
                          </a:solidFill>
                          <a:latin typeface="Calibri" pitchFamily="34" charset="0"/>
                          <a:ea typeface="Calibri" pitchFamily="34" charset="-122"/>
                          <a:cs typeface="Calibri" pitchFamily="34" charset="-120"/>
                        </a:rPr>
                        <a:t>Green Light</a:t>
                      </a:r>
                      <a:endParaRPr lang="en-US" sz="1200" dirty="0">
                        <a:latin typeface="Calibri" charset="0"/>
                        <a:ea typeface="Calibri" charset="0"/>
                        <a:cs typeface="Calibri" charset="0"/>
                      </a:endParaRPr>
                    </a:p>
                  </a:txBody>
                  <a:tcPr marL="45720" marR="45720" marT="45720" marB="45720" anchor="ctr">
                    <a:lnL w="12700" cap="flat" cmpd="sng" algn="ctr">
                      <a:solidFill>
                        <a:srgbClr val="DCE3EB"/>
                      </a:solidFill>
                      <a:prstDash val="solid"/>
                      <a:round/>
                      <a:headEnd type="none" w="med" len="med"/>
                      <a:tailEnd type="none" w="med" len="med"/>
                    </a:lnL>
                    <a:lnR w="12700" cap="flat" cmpd="sng" algn="ctr">
                      <a:solidFill>
                        <a:srgbClr val="DCE3EB"/>
                      </a:solidFill>
                      <a:prstDash val="solid"/>
                      <a:round/>
                      <a:headEnd type="none" w="med" len="med"/>
                      <a:tailEnd type="none" w="med" len="med"/>
                    </a:lnR>
                    <a:lnT w="12700" cap="flat" cmpd="sng" algn="ctr">
                      <a:solidFill>
                        <a:srgbClr val="DCE3EB"/>
                      </a:solidFill>
                      <a:prstDash val="solid"/>
                      <a:round/>
                      <a:headEnd type="none" w="med" len="med"/>
                      <a:tailEnd type="none" w="med" len="med"/>
                    </a:lnT>
                    <a:lnB w="12700" cap="flat" cmpd="sng" algn="ctr">
                      <a:solidFill>
                        <a:srgbClr val="DCE3EB"/>
                      </a:solidFill>
                      <a:prstDash val="solid"/>
                      <a:round/>
                      <a:headEnd type="none" w="med" len="med"/>
                      <a:tailEnd type="none" w="med" len="med"/>
                    </a:lnB>
                    <a:solidFill>
                      <a:srgbClr val="EEF3F7"/>
                    </a:solidFill>
                  </a:tcPr>
                </a:tc>
                <a:tc>
                  <a:txBody>
                    <a:bodyPr/>
                    <a:lstStyle/>
                    <a:p>
                      <a:pPr algn="ctr" indent="0" marL="0">
                        <a:buNone/>
                      </a:pPr>
                      <a:r>
                        <a:rPr lang="en-US" sz="1200" b="1" dirty="0">
                          <a:solidFill>
                            <a:srgbClr val="E63946"/>
                          </a:solidFill>
                          <a:latin typeface="Calibri" pitchFamily="34" charset="0"/>
                          <a:ea typeface="Calibri" pitchFamily="34" charset="-122"/>
                          <a:cs typeface="Calibri" pitchFamily="34" charset="-120"/>
                        </a:rPr>
                        <a:t>0,576</a:t>
                      </a:r>
                      <a:endParaRPr lang="en-US" sz="1200" dirty="0">
                        <a:latin typeface="Calibri" charset="0"/>
                        <a:ea typeface="Calibri" charset="0"/>
                        <a:cs typeface="Calibri" charset="0"/>
                      </a:endParaRPr>
                    </a:p>
                  </a:txBody>
                  <a:tcPr marL="45720" marR="45720" marT="45720" marB="45720" anchor="ctr">
                    <a:lnL w="12700" cap="flat" cmpd="sng" algn="ctr">
                      <a:solidFill>
                        <a:srgbClr val="DCE3EB"/>
                      </a:solidFill>
                      <a:prstDash val="solid"/>
                      <a:round/>
                      <a:headEnd type="none" w="med" len="med"/>
                      <a:tailEnd type="none" w="med" len="med"/>
                    </a:lnL>
                    <a:lnR w="12700" cap="flat" cmpd="sng" algn="ctr">
                      <a:solidFill>
                        <a:srgbClr val="DCE3EB"/>
                      </a:solidFill>
                      <a:prstDash val="solid"/>
                      <a:round/>
                      <a:headEnd type="none" w="med" len="med"/>
                      <a:tailEnd type="none" w="med" len="med"/>
                    </a:lnR>
                    <a:lnT w="12700" cap="flat" cmpd="sng" algn="ctr">
                      <a:solidFill>
                        <a:srgbClr val="DCE3EB"/>
                      </a:solidFill>
                      <a:prstDash val="solid"/>
                      <a:round/>
                      <a:headEnd type="none" w="med" len="med"/>
                      <a:tailEnd type="none" w="med" len="med"/>
                    </a:lnT>
                    <a:lnB w="12700" cap="flat" cmpd="sng" algn="ctr">
                      <a:solidFill>
                        <a:srgbClr val="DCE3EB"/>
                      </a:solidFill>
                      <a:prstDash val="solid"/>
                      <a:round/>
                      <a:headEnd type="none" w="med" len="med"/>
                      <a:tailEnd type="none" w="med" len="med"/>
                    </a:lnB>
                    <a:solidFill>
                      <a:srgbClr val="EEF3F7"/>
                    </a:solidFill>
                  </a:tcPr>
                </a:tc>
                <a:tc>
                  <a:txBody>
                    <a:bodyPr/>
                    <a:lstStyle/>
                    <a:p>
                      <a:pPr algn="ctr" indent="0" marL="0">
                        <a:buNone/>
                      </a:pPr>
                      <a:r>
                        <a:rPr lang="en-US" sz="1200" b="1" dirty="0">
                          <a:solidFill>
                            <a:srgbClr val="E63946"/>
                          </a:solidFill>
                          <a:latin typeface="Calibri" pitchFamily="34" charset="0"/>
                          <a:ea typeface="Calibri" pitchFamily="34" charset="-122"/>
                          <a:cs typeface="Calibri" pitchFamily="34" charset="-120"/>
                        </a:rPr>
                        <a:t>0,921</a:t>
                      </a:r>
                      <a:endParaRPr lang="en-US" sz="1200" dirty="0">
                        <a:latin typeface="Calibri" charset="0"/>
                        <a:ea typeface="Calibri" charset="0"/>
                        <a:cs typeface="Calibri" charset="0"/>
                      </a:endParaRPr>
                    </a:p>
                  </a:txBody>
                  <a:tcPr marL="45720" marR="45720" marT="45720" marB="45720" anchor="ctr">
                    <a:lnL w="12700" cap="flat" cmpd="sng" algn="ctr">
                      <a:solidFill>
                        <a:srgbClr val="DCE3EB"/>
                      </a:solidFill>
                      <a:prstDash val="solid"/>
                      <a:round/>
                      <a:headEnd type="none" w="med" len="med"/>
                      <a:tailEnd type="none" w="med" len="med"/>
                    </a:lnL>
                    <a:lnR w="12700" cap="flat" cmpd="sng" algn="ctr">
                      <a:solidFill>
                        <a:srgbClr val="DCE3EB"/>
                      </a:solidFill>
                      <a:prstDash val="solid"/>
                      <a:round/>
                      <a:headEnd type="none" w="med" len="med"/>
                      <a:tailEnd type="none" w="med" len="med"/>
                    </a:lnR>
                    <a:lnT w="12700" cap="flat" cmpd="sng" algn="ctr">
                      <a:solidFill>
                        <a:srgbClr val="DCE3EB"/>
                      </a:solidFill>
                      <a:prstDash val="solid"/>
                      <a:round/>
                      <a:headEnd type="none" w="med" len="med"/>
                      <a:tailEnd type="none" w="med" len="med"/>
                    </a:lnT>
                    <a:lnB w="12700" cap="flat" cmpd="sng" algn="ctr">
                      <a:solidFill>
                        <a:srgbClr val="DCE3EB"/>
                      </a:solidFill>
                      <a:prstDash val="solid"/>
                      <a:round/>
                      <a:headEnd type="none" w="med" len="med"/>
                      <a:tailEnd type="none" w="med" len="med"/>
                    </a:lnB>
                    <a:solidFill>
                      <a:srgbClr val="EEF3F7"/>
                    </a:solidFill>
                  </a:tcPr>
                </a:tc>
              </a:tr>
              <a:tr h="310896">
                <a:tc>
                  <a:txBody>
                    <a:bodyPr/>
                    <a:lstStyle/>
                    <a:p>
                      <a:pPr algn="l" indent="0" marL="0">
                        <a:buNone/>
                      </a:pPr>
                      <a:r>
                        <a:rPr lang="en-US" sz="1200" b="1" dirty="0">
                          <a:solidFill>
                            <a:srgbClr val="E63946"/>
                          </a:solidFill>
                          <a:latin typeface="Calibri" pitchFamily="34" charset="0"/>
                          <a:ea typeface="Calibri" pitchFamily="34" charset="-122"/>
                          <a:cs typeface="Calibri" pitchFamily="34" charset="-120"/>
                        </a:rPr>
                        <a:t>Red Light</a:t>
                      </a:r>
                      <a:endParaRPr lang="en-US" sz="1200" dirty="0">
                        <a:latin typeface="Calibri" charset="0"/>
                        <a:ea typeface="Calibri" charset="0"/>
                        <a:cs typeface="Calibri" charset="0"/>
                      </a:endParaRPr>
                    </a:p>
                  </a:txBody>
                  <a:tcPr marL="45720" marR="45720" marT="45720" marB="45720" anchor="ctr">
                    <a:lnL w="12700" cap="flat" cmpd="sng" algn="ctr">
                      <a:solidFill>
                        <a:srgbClr val="DCE3EB"/>
                      </a:solidFill>
                      <a:prstDash val="solid"/>
                      <a:round/>
                      <a:headEnd type="none" w="med" len="med"/>
                      <a:tailEnd type="none" w="med" len="med"/>
                    </a:lnL>
                    <a:lnR w="12700" cap="flat" cmpd="sng" algn="ctr">
                      <a:solidFill>
                        <a:srgbClr val="DCE3EB"/>
                      </a:solidFill>
                      <a:prstDash val="solid"/>
                      <a:round/>
                      <a:headEnd type="none" w="med" len="med"/>
                      <a:tailEnd type="none" w="med" len="med"/>
                    </a:lnR>
                    <a:lnT w="12700" cap="flat" cmpd="sng" algn="ctr">
                      <a:solidFill>
                        <a:srgbClr val="DCE3EB"/>
                      </a:solidFill>
                      <a:prstDash val="solid"/>
                      <a:round/>
                      <a:headEnd type="none" w="med" len="med"/>
                      <a:tailEnd type="none" w="med" len="med"/>
                    </a:lnT>
                    <a:lnB w="12700" cap="flat" cmpd="sng" algn="ctr">
                      <a:solidFill>
                        <a:srgbClr val="DCE3EB"/>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E63946"/>
                          </a:solidFill>
                          <a:latin typeface="Calibri" pitchFamily="34" charset="0"/>
                          <a:ea typeface="Calibri" pitchFamily="34" charset="-122"/>
                          <a:cs typeface="Calibri" pitchFamily="34" charset="-120"/>
                        </a:rPr>
                        <a:t>0,506</a:t>
                      </a:r>
                      <a:endParaRPr lang="en-US" sz="1200" dirty="0">
                        <a:latin typeface="Calibri" charset="0"/>
                        <a:ea typeface="Calibri" charset="0"/>
                        <a:cs typeface="Calibri" charset="0"/>
                      </a:endParaRPr>
                    </a:p>
                  </a:txBody>
                  <a:tcPr marL="45720" marR="45720" marT="45720" marB="45720" anchor="ctr">
                    <a:lnL w="12700" cap="flat" cmpd="sng" algn="ctr">
                      <a:solidFill>
                        <a:srgbClr val="DCE3EB"/>
                      </a:solidFill>
                      <a:prstDash val="solid"/>
                      <a:round/>
                      <a:headEnd type="none" w="med" len="med"/>
                      <a:tailEnd type="none" w="med" len="med"/>
                    </a:lnL>
                    <a:lnR w="12700" cap="flat" cmpd="sng" algn="ctr">
                      <a:solidFill>
                        <a:srgbClr val="DCE3EB"/>
                      </a:solidFill>
                      <a:prstDash val="solid"/>
                      <a:round/>
                      <a:headEnd type="none" w="med" len="med"/>
                      <a:tailEnd type="none" w="med" len="med"/>
                    </a:lnR>
                    <a:lnT w="12700" cap="flat" cmpd="sng" algn="ctr">
                      <a:solidFill>
                        <a:srgbClr val="DCE3EB"/>
                      </a:solidFill>
                      <a:prstDash val="solid"/>
                      <a:round/>
                      <a:headEnd type="none" w="med" len="med"/>
                      <a:tailEnd type="none" w="med" len="med"/>
                    </a:lnT>
                    <a:lnB w="12700" cap="flat" cmpd="sng" algn="ctr">
                      <a:solidFill>
                        <a:srgbClr val="DCE3EB"/>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E63946"/>
                          </a:solidFill>
                          <a:latin typeface="Calibri" pitchFamily="34" charset="0"/>
                          <a:ea typeface="Calibri" pitchFamily="34" charset="-122"/>
                          <a:cs typeface="Calibri" pitchFamily="34" charset="-120"/>
                        </a:rPr>
                        <a:t>0,755</a:t>
                      </a:r>
                      <a:endParaRPr lang="en-US" sz="1200" dirty="0">
                        <a:latin typeface="Calibri" charset="0"/>
                        <a:ea typeface="Calibri" charset="0"/>
                        <a:cs typeface="Calibri" charset="0"/>
                      </a:endParaRPr>
                    </a:p>
                  </a:txBody>
                  <a:tcPr marL="45720" marR="45720" marT="45720" marB="45720" anchor="ctr">
                    <a:lnL w="12700" cap="flat" cmpd="sng" algn="ctr">
                      <a:solidFill>
                        <a:srgbClr val="DCE3EB"/>
                      </a:solidFill>
                      <a:prstDash val="solid"/>
                      <a:round/>
                      <a:headEnd type="none" w="med" len="med"/>
                      <a:tailEnd type="none" w="med" len="med"/>
                    </a:lnL>
                    <a:lnR w="12700" cap="flat" cmpd="sng" algn="ctr">
                      <a:solidFill>
                        <a:srgbClr val="DCE3EB"/>
                      </a:solidFill>
                      <a:prstDash val="solid"/>
                      <a:round/>
                      <a:headEnd type="none" w="med" len="med"/>
                      <a:tailEnd type="none" w="med" len="med"/>
                    </a:lnR>
                    <a:lnT w="12700" cap="flat" cmpd="sng" algn="ctr">
                      <a:solidFill>
                        <a:srgbClr val="DCE3EB"/>
                      </a:solidFill>
                      <a:prstDash val="solid"/>
                      <a:round/>
                      <a:headEnd type="none" w="med" len="med"/>
                      <a:tailEnd type="none" w="med" len="med"/>
                    </a:lnT>
                    <a:lnB w="12700" cap="flat" cmpd="sng" algn="ctr">
                      <a:solidFill>
                        <a:srgbClr val="DCE3EB"/>
                      </a:solidFill>
                      <a:prstDash val="solid"/>
                      <a:round/>
                      <a:headEnd type="none" w="med" len="med"/>
                      <a:tailEnd type="none" w="med" len="med"/>
                    </a:lnB>
                    <a:solidFill>
                      <a:srgbClr val="FFFFFF"/>
                    </a:solidFill>
                  </a:tcPr>
                </a:tc>
              </a:tr>
            </a:tbl>
          </a:graphicData>
        </a:graphic>
      </p:graphicFrame>
      <p:sp>
        <p:nvSpPr>
          <p:cNvPr id="12" name="Shape 7"/>
          <p:cNvSpPr/>
          <p:nvPr/>
        </p:nvSpPr>
        <p:spPr>
          <a:xfrm>
            <a:off x="548640" y="4270248"/>
            <a:ext cx="11064240" cy="896112"/>
          </a:xfrm>
          <a:prstGeom prst="roundRect">
            <a:avLst>
              <a:gd name="adj" fmla="val 10204"/>
            </a:avLst>
          </a:prstGeom>
          <a:solidFill>
            <a:srgbClr val="152238"/>
          </a:solidFill>
          <a:ln w="12700">
            <a:solidFill>
              <a:srgbClr val="333333"/>
            </a:solidFill>
            <a:prstDash val="solid"/>
          </a:ln>
          <a:effectLst>
            <a:outerShdw sx="100000" sy="100000" kx="0" ky="0" algn="bl" rotWithShape="0" blurRad="101600" dist="25400" dir="5400000">
              <a:srgbClr val="6E7C8A">
                <a:alpha val="30000"/>
              </a:srgbClr>
            </a:outerShdw>
          </a:effectLst>
        </p:spPr>
      </p:sp>
      <p:sp>
        <p:nvSpPr>
          <p:cNvPr id="13" name="Shape 8"/>
          <p:cNvSpPr/>
          <p:nvPr/>
        </p:nvSpPr>
        <p:spPr>
          <a:xfrm>
            <a:off x="804672" y="4636008"/>
            <a:ext cx="164592" cy="164592"/>
          </a:xfrm>
          <a:prstGeom prst="ellipse">
            <a:avLst/>
          </a:prstGeom>
          <a:solidFill>
            <a:srgbClr val="F4A261"/>
          </a:solidFill>
          <a:ln w="12700">
            <a:solidFill>
              <a:srgbClr val="333333"/>
            </a:solidFill>
            <a:prstDash val="solid"/>
          </a:ln>
        </p:spPr>
      </p:sp>
      <p:sp>
        <p:nvSpPr>
          <p:cNvPr id="14" name="Text 9"/>
          <p:cNvSpPr/>
          <p:nvPr/>
        </p:nvSpPr>
        <p:spPr>
          <a:xfrm>
            <a:off x="1133856" y="4343400"/>
            <a:ext cx="10222992" cy="749808"/>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13 lớp biển báo đều ≥ 0,78. Hai lớp đèn (đỏ, cột phải) rơi xuống 0,58 và 0,51 — tách hẳn khỏi phần còn lại.</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10789920" y="-1234440"/>
            <a:ext cx="2743200" cy="2743200"/>
          </a:xfrm>
          <a:prstGeom prst="ellipse">
            <a:avLst/>
          </a:prstGeom>
          <a:solidFill>
            <a:srgbClr val="EAF1F6"/>
          </a:solidFill>
          <a:ln w="12700">
            <a:solidFill>
              <a:srgbClr val="333333"/>
            </a:solidFill>
            <a:prstDash val="solid"/>
          </a:ln>
        </p:spPr>
      </p:sp>
      <p:sp>
        <p:nvSpPr>
          <p:cNvPr id="4" name="Shape 1"/>
          <p:cNvSpPr/>
          <p:nvPr/>
        </p:nvSpPr>
        <p:spPr>
          <a:xfrm>
            <a:off x="11475720" y="182880"/>
            <a:ext cx="822960" cy="822960"/>
          </a:xfrm>
          <a:prstGeom prst="ellipse">
            <a:avLst/>
          </a:prstGeom>
          <a:solidFill>
            <a:srgbClr val="DCE8F0"/>
          </a:solidFill>
          <a:ln w="12700">
            <a:solidFill>
              <a:srgbClr val="333333"/>
            </a:solidFill>
            <a:prstDash val="solid"/>
          </a:ln>
        </p:spPr>
      </p:sp>
      <p:sp>
        <p:nvSpPr>
          <p:cNvPr id="5" name="Shape 2"/>
          <p:cNvSpPr/>
          <p:nvPr/>
        </p:nvSpPr>
        <p:spPr>
          <a:xfrm>
            <a:off x="548640" y="6382512"/>
            <a:ext cx="11064240" cy="0"/>
          </a:xfrm>
          <a:prstGeom prst="line">
            <a:avLst/>
          </a:prstGeom>
          <a:noFill/>
          <a:ln w="12700">
            <a:solidFill>
              <a:srgbClr val="DDE3EA"/>
            </a:solidFill>
            <a:prstDash val="solid"/>
          </a:ln>
        </p:spPr>
      </p:sp>
      <p:sp>
        <p:nvSpPr>
          <p:cNvPr id="6" name="Text 3"/>
          <p:cNvSpPr/>
          <p:nvPr/>
        </p:nvSpPr>
        <p:spPr>
          <a:xfrm>
            <a:off x="548640" y="6419088"/>
            <a:ext cx="8686800" cy="274320"/>
          </a:xfrm>
          <a:prstGeom prst="rect">
            <a:avLst/>
          </a:prstGeom>
          <a:noFill/>
          <a:ln/>
        </p:spPr>
        <p:txBody>
          <a:bodyPr wrap="square" lIns="0" tIns="0" rIns="0" bIns="0" rtlCol="0" anchor="ctr"/>
          <a:lstStyle/>
          <a:p>
            <a:pPr indent="0" marL="0">
              <a:buNone/>
            </a:pPr>
            <a:r>
              <a:rPr lang="en-US" sz="900" dirty="0">
                <a:solidFill>
                  <a:srgbClr val="9AA7B4"/>
                </a:solidFill>
                <a:latin typeface="Calibri" pitchFamily="34" charset="0"/>
                <a:ea typeface="Calibri" pitchFamily="34" charset="-122"/>
                <a:cs typeface="Calibri" pitchFamily="34" charset="-120"/>
              </a:rPr>
              <a:t>Kiểm định độ tin cậy YOLOv8 · Nhóm KHMT836016/34/36</a:t>
            </a:r>
            <a:endParaRPr lang="en-US" sz="900" dirty="0"/>
          </a:p>
        </p:txBody>
      </p:sp>
      <p:sp>
        <p:nvSpPr>
          <p:cNvPr id="7" name="Text 4"/>
          <p:cNvSpPr/>
          <p:nvPr/>
        </p:nvSpPr>
        <p:spPr>
          <a:xfrm>
            <a:off x="11064240" y="6419088"/>
            <a:ext cx="548640" cy="274320"/>
          </a:xfrm>
          <a:prstGeom prst="rect">
            <a:avLst/>
          </a:prstGeom>
          <a:noFill/>
          <a:ln/>
        </p:spPr>
        <p:txBody>
          <a:bodyPr wrap="square" lIns="0" tIns="0" rIns="0" bIns="0" rtlCol="0" anchor="ctr"/>
          <a:lstStyle/>
          <a:p>
            <a:pPr algn="r" indent="0" marL="0">
              <a:buNone/>
            </a:pPr>
            <a:r>
              <a:rPr lang="en-US" sz="1000" b="1" dirty="0">
                <a:solidFill>
                  <a:srgbClr val="1C7293"/>
                </a:solidFill>
                <a:latin typeface="Calibri" pitchFamily="34" charset="0"/>
                <a:ea typeface="Calibri" pitchFamily="34" charset="-122"/>
                <a:cs typeface="Calibri" pitchFamily="34" charset="-120"/>
              </a:rPr>
              <a:t>26</a:t>
            </a:r>
            <a:endParaRPr lang="en-US" sz="1000" dirty="0"/>
          </a:p>
        </p:txBody>
      </p:sp>
      <p:sp>
        <p:nvSpPr>
          <p:cNvPr id="8" name="Shape 5"/>
          <p:cNvSpPr/>
          <p:nvPr/>
        </p:nvSpPr>
        <p:spPr>
          <a:xfrm>
            <a:off x="548640" y="457200"/>
            <a:ext cx="155448" cy="457200"/>
          </a:xfrm>
          <a:prstGeom prst="roundRect">
            <a:avLst>
              <a:gd name="adj" fmla="val 17647"/>
            </a:avLst>
          </a:prstGeom>
          <a:solidFill>
            <a:srgbClr val="1C7293"/>
          </a:solidFill>
          <a:ln w="12700">
            <a:solidFill>
              <a:srgbClr val="333333"/>
            </a:solidFill>
            <a:prstDash val="solid"/>
          </a:ln>
        </p:spPr>
      </p:sp>
      <p:sp>
        <p:nvSpPr>
          <p:cNvPr id="9" name="Text 6"/>
          <p:cNvSpPr/>
          <p:nvPr/>
        </p:nvSpPr>
        <p:spPr>
          <a:xfrm>
            <a:off x="877824" y="365760"/>
            <a:ext cx="10735056" cy="713232"/>
          </a:xfrm>
          <a:prstGeom prst="rect">
            <a:avLst/>
          </a:prstGeom>
          <a:noFill/>
          <a:ln/>
        </p:spPr>
        <p:txBody>
          <a:bodyPr wrap="square" lIns="0" tIns="0" rIns="0" bIns="0" rtlCol="0" anchor="ctr"/>
          <a:lstStyle/>
          <a:p>
            <a:pPr indent="0" marL="0">
              <a:buNone/>
            </a:pPr>
            <a:r>
              <a:rPr lang="en-US" sz="2900" b="1" dirty="0">
                <a:solidFill>
                  <a:srgbClr val="1A2430"/>
                </a:solidFill>
                <a:latin typeface="Cambria" pitchFamily="34" charset="0"/>
                <a:ea typeface="Cambria" pitchFamily="34" charset="-122"/>
                <a:cs typeface="Cambria" pitchFamily="34" charset="-120"/>
              </a:rPr>
              <a:t>B · Hai lớp đèn tách hẳn khỏi 13 lớp biển</a:t>
            </a:r>
            <a:endParaRPr lang="en-US" sz="2900" dirty="0"/>
          </a:p>
        </p:txBody>
      </p:sp>
      <p:pic>
        <p:nvPicPr>
          <p:cNvPr id="10" name="Image 0" descr="/sessions/magical-intelligent-fermat/mnt/master/traffic-yolo-analysis/results/figs/01_per_class_ap.png">    </p:cNvPr>
          <p:cNvPicPr>
            <a:picLocks noChangeAspect="1"/>
          </p:cNvPicPr>
          <p:nvPr/>
        </p:nvPicPr>
        <p:blipFill>
          <a:blip r:embed="rId1"/>
          <a:stretch>
            <a:fillRect/>
          </a:stretch>
        </p:blipFill>
        <p:spPr>
          <a:xfrm>
            <a:off x="548640" y="1527048"/>
            <a:ext cx="7315200" cy="3931920"/>
          </a:xfrm>
          <a:prstGeom prst="rect">
            <a:avLst/>
          </a:prstGeom>
        </p:spPr>
      </p:pic>
      <p:sp>
        <p:nvSpPr>
          <p:cNvPr id="11" name="Text 7"/>
          <p:cNvSpPr/>
          <p:nvPr/>
        </p:nvSpPr>
        <p:spPr>
          <a:xfrm>
            <a:off x="8138160" y="1847088"/>
            <a:ext cx="3474720" cy="3291840"/>
          </a:xfrm>
          <a:prstGeom prst="rect">
            <a:avLst/>
          </a:prstGeom>
          <a:noFill/>
          <a:ln/>
        </p:spPr>
        <p:txBody>
          <a:bodyPr wrap="square" lIns="0" tIns="0" rIns="0" bIns="0" rtlCol="0" anchor="t"/>
          <a:lstStyle/>
          <a:p>
            <a:pPr indent="0" marL="0">
              <a:lnSpc>
                <a:spcPct val="105000"/>
              </a:lnSpc>
              <a:buNone/>
            </a:pPr>
            <a:r>
              <a:rPr lang="en-US" sz="1700" b="1" dirty="0">
                <a:solidFill>
                  <a:srgbClr val="152238"/>
                </a:solidFill>
                <a:latin typeface="Calibri" pitchFamily="34" charset="0"/>
                <a:ea typeface="Calibri" pitchFamily="34" charset="-122"/>
                <a:cs typeface="Calibri" pitchFamily="34" charset="-120"/>
              </a:rPr>
              <a:t>Đọc biểu đồ
</a:t>
            </a:r>
            <a:endParaRPr lang="en-US" sz="1700" dirty="0"/>
          </a:p>
          <a:p>
            <a:pPr indent="0" marL="0">
              <a:lnSpc>
                <a:spcPct val="105000"/>
              </a:lnSpc>
              <a:buNone/>
            </a:pPr>
            <a:r>
              <a:rPr lang="en-US" sz="1400" b="1" dirty="0">
                <a:solidFill>
                  <a:srgbClr val="1C7293"/>
                </a:solidFill>
                <a:latin typeface="Calibri" pitchFamily="34" charset="0"/>
                <a:ea typeface="Calibri" pitchFamily="34" charset="-122"/>
                <a:cs typeface="Calibri" pitchFamily="34" charset="-120"/>
              </a:rPr>
              <a:t>13 biển báo: 0,78–0,90
</a:t>
            </a:r>
            <a:endParaRPr lang="en-US" sz="1700" dirty="0"/>
          </a:p>
          <a:p>
            <a:pPr indent="0" marL="0">
              <a:lnSpc>
                <a:spcPct val="105000"/>
              </a:lnSpc>
              <a:buNone/>
            </a:pPr>
            <a:r>
              <a:rPr lang="en-US" sz="1400" b="1" dirty="0">
                <a:solidFill>
                  <a:srgbClr val="E63946"/>
                </a:solidFill>
                <a:latin typeface="Calibri" pitchFamily="34" charset="0"/>
                <a:ea typeface="Calibri" pitchFamily="34" charset="-122"/>
                <a:cs typeface="Calibri" pitchFamily="34" charset="-120"/>
              </a:rPr>
              <a:t>2 lớp đèn (đỏ):
</a:t>
            </a:r>
            <a:endParaRPr lang="en-US" sz="1700" dirty="0"/>
          </a:p>
          <a:p>
            <a:pPr indent="0" marL="0">
              <a:lnSpc>
                <a:spcPct val="105000"/>
              </a:lnSpc>
              <a:buNone/>
            </a:pPr>
            <a:r>
              <a:rPr lang="en-US" sz="1400" dirty="0">
                <a:solidFill>
                  <a:srgbClr val="E63946"/>
                </a:solidFill>
                <a:latin typeface="Calibri" pitchFamily="34" charset="0"/>
                <a:ea typeface="Calibri" pitchFamily="34" charset="-122"/>
                <a:cs typeface="Calibri" pitchFamily="34" charset="-120"/>
              </a:rPr>
              <a:t>Green Light 0,576
Red Light 0,506
</a:t>
            </a:r>
            <a:endParaRPr lang="en-US" sz="1700" dirty="0"/>
          </a:p>
          <a:p>
            <a:pPr indent="0" marL="0">
              <a:lnSpc>
                <a:spcPct val="105000"/>
              </a:lnSpc>
              <a:buNone/>
            </a:pPr>
            <a:r>
              <a:rPr lang="en-US" sz="1250" dirty="0">
                <a:solidFill>
                  <a:srgbClr val="5A6B7D"/>
                </a:solidFill>
                <a:latin typeface="Calibri" pitchFamily="34" charset="0"/>
                <a:ea typeface="Calibri" pitchFamily="34" charset="-122"/>
                <a:cs typeface="Calibri" pitchFamily="34" charset="-120"/>
              </a:rPr>
              <a:t>Đường đứt = trung bình mỗi nhóm.</a:t>
            </a:r>
            <a:endParaRPr lang="en-US" sz="17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10789920" y="-1234440"/>
            <a:ext cx="2743200" cy="2743200"/>
          </a:xfrm>
          <a:prstGeom prst="ellipse">
            <a:avLst/>
          </a:prstGeom>
          <a:solidFill>
            <a:srgbClr val="EAF1F6"/>
          </a:solidFill>
          <a:ln w="12700">
            <a:solidFill>
              <a:srgbClr val="333333"/>
            </a:solidFill>
            <a:prstDash val="solid"/>
          </a:ln>
        </p:spPr>
      </p:sp>
      <p:sp>
        <p:nvSpPr>
          <p:cNvPr id="4" name="Shape 1"/>
          <p:cNvSpPr/>
          <p:nvPr/>
        </p:nvSpPr>
        <p:spPr>
          <a:xfrm>
            <a:off x="11475720" y="182880"/>
            <a:ext cx="822960" cy="822960"/>
          </a:xfrm>
          <a:prstGeom prst="ellipse">
            <a:avLst/>
          </a:prstGeom>
          <a:solidFill>
            <a:srgbClr val="DCE8F0"/>
          </a:solidFill>
          <a:ln w="12700">
            <a:solidFill>
              <a:srgbClr val="333333"/>
            </a:solidFill>
            <a:prstDash val="solid"/>
          </a:ln>
        </p:spPr>
      </p:sp>
      <p:sp>
        <p:nvSpPr>
          <p:cNvPr id="5" name="Shape 2"/>
          <p:cNvSpPr/>
          <p:nvPr/>
        </p:nvSpPr>
        <p:spPr>
          <a:xfrm>
            <a:off x="548640" y="6382512"/>
            <a:ext cx="11064240" cy="0"/>
          </a:xfrm>
          <a:prstGeom prst="line">
            <a:avLst/>
          </a:prstGeom>
          <a:noFill/>
          <a:ln w="12700">
            <a:solidFill>
              <a:srgbClr val="DDE3EA"/>
            </a:solidFill>
            <a:prstDash val="solid"/>
          </a:ln>
        </p:spPr>
      </p:sp>
      <p:sp>
        <p:nvSpPr>
          <p:cNvPr id="6" name="Text 3"/>
          <p:cNvSpPr/>
          <p:nvPr/>
        </p:nvSpPr>
        <p:spPr>
          <a:xfrm>
            <a:off x="548640" y="6419088"/>
            <a:ext cx="8686800" cy="274320"/>
          </a:xfrm>
          <a:prstGeom prst="rect">
            <a:avLst/>
          </a:prstGeom>
          <a:noFill/>
          <a:ln/>
        </p:spPr>
        <p:txBody>
          <a:bodyPr wrap="square" lIns="0" tIns="0" rIns="0" bIns="0" rtlCol="0" anchor="ctr"/>
          <a:lstStyle/>
          <a:p>
            <a:pPr indent="0" marL="0">
              <a:buNone/>
            </a:pPr>
            <a:r>
              <a:rPr lang="en-US" sz="900" dirty="0">
                <a:solidFill>
                  <a:srgbClr val="9AA7B4"/>
                </a:solidFill>
                <a:latin typeface="Calibri" pitchFamily="34" charset="0"/>
                <a:ea typeface="Calibri" pitchFamily="34" charset="-122"/>
                <a:cs typeface="Calibri" pitchFamily="34" charset="-120"/>
              </a:rPr>
              <a:t>Kiểm định độ tin cậy YOLOv8 · Nhóm KHMT836016/34/36</a:t>
            </a:r>
            <a:endParaRPr lang="en-US" sz="900" dirty="0"/>
          </a:p>
        </p:txBody>
      </p:sp>
      <p:sp>
        <p:nvSpPr>
          <p:cNvPr id="7" name="Text 4"/>
          <p:cNvSpPr/>
          <p:nvPr/>
        </p:nvSpPr>
        <p:spPr>
          <a:xfrm>
            <a:off x="11064240" y="6419088"/>
            <a:ext cx="548640" cy="274320"/>
          </a:xfrm>
          <a:prstGeom prst="rect">
            <a:avLst/>
          </a:prstGeom>
          <a:noFill/>
          <a:ln/>
        </p:spPr>
        <p:txBody>
          <a:bodyPr wrap="square" lIns="0" tIns="0" rIns="0" bIns="0" rtlCol="0" anchor="ctr"/>
          <a:lstStyle/>
          <a:p>
            <a:pPr algn="r" indent="0" marL="0">
              <a:buNone/>
            </a:pPr>
            <a:r>
              <a:rPr lang="en-US" sz="1000" b="1" dirty="0">
                <a:solidFill>
                  <a:srgbClr val="1C7293"/>
                </a:solidFill>
                <a:latin typeface="Calibri" pitchFamily="34" charset="0"/>
                <a:ea typeface="Calibri" pitchFamily="34" charset="-122"/>
                <a:cs typeface="Calibri" pitchFamily="34" charset="-120"/>
              </a:rPr>
              <a:t>27</a:t>
            </a:r>
            <a:endParaRPr lang="en-US" sz="1000" dirty="0"/>
          </a:p>
        </p:txBody>
      </p:sp>
      <p:sp>
        <p:nvSpPr>
          <p:cNvPr id="8" name="Shape 5"/>
          <p:cNvSpPr/>
          <p:nvPr/>
        </p:nvSpPr>
        <p:spPr>
          <a:xfrm>
            <a:off x="548640" y="457200"/>
            <a:ext cx="155448" cy="457200"/>
          </a:xfrm>
          <a:prstGeom prst="roundRect">
            <a:avLst>
              <a:gd name="adj" fmla="val 17647"/>
            </a:avLst>
          </a:prstGeom>
          <a:solidFill>
            <a:srgbClr val="1C7293"/>
          </a:solidFill>
          <a:ln w="12700">
            <a:solidFill>
              <a:srgbClr val="333333"/>
            </a:solidFill>
            <a:prstDash val="solid"/>
          </a:ln>
        </p:spPr>
      </p:sp>
      <p:sp>
        <p:nvSpPr>
          <p:cNvPr id="9" name="Text 6"/>
          <p:cNvSpPr/>
          <p:nvPr/>
        </p:nvSpPr>
        <p:spPr>
          <a:xfrm>
            <a:off x="877824" y="365760"/>
            <a:ext cx="10735056" cy="713232"/>
          </a:xfrm>
          <a:prstGeom prst="rect">
            <a:avLst/>
          </a:prstGeom>
          <a:noFill/>
          <a:ln/>
        </p:spPr>
        <p:txBody>
          <a:bodyPr wrap="square" lIns="0" tIns="0" rIns="0" bIns="0" rtlCol="0" anchor="ctr"/>
          <a:lstStyle/>
          <a:p>
            <a:pPr indent="0" marL="0">
              <a:buNone/>
            </a:pPr>
            <a:r>
              <a:rPr lang="en-US" sz="2900" b="1" dirty="0">
                <a:solidFill>
                  <a:srgbClr val="1A2430"/>
                </a:solidFill>
                <a:latin typeface="Cambria" pitchFamily="34" charset="0"/>
                <a:ea typeface="Cambria" pitchFamily="34" charset="-122"/>
                <a:cs typeface="Cambria" pitchFamily="34" charset="-120"/>
              </a:rPr>
              <a:t>B · Đèn kém hơn biển trên MỌI chỉ số</a:t>
            </a:r>
            <a:endParaRPr lang="en-US" sz="2900" dirty="0"/>
          </a:p>
        </p:txBody>
      </p:sp>
      <p:sp>
        <p:nvSpPr>
          <p:cNvPr id="10" name="Shape 7"/>
          <p:cNvSpPr/>
          <p:nvPr/>
        </p:nvSpPr>
        <p:spPr>
          <a:xfrm>
            <a:off x="548640" y="1481328"/>
            <a:ext cx="3291840" cy="1371600"/>
          </a:xfrm>
          <a:prstGeom prst="roundRect">
            <a:avLst>
              <a:gd name="adj" fmla="val 6667"/>
            </a:avLst>
          </a:prstGeom>
          <a:solidFill>
            <a:srgbClr val="E8F4F0"/>
          </a:solidFill>
          <a:ln w="12700">
            <a:solidFill>
              <a:srgbClr val="E6ECF2"/>
            </a:solidFill>
            <a:prstDash val="solid"/>
          </a:ln>
          <a:effectLst>
            <a:outerShdw sx="100000" sy="100000" kx="0" ky="0" algn="bl" rotWithShape="0" blurRad="114300" dist="25400" dir="5400000">
              <a:srgbClr val="9FB0C0">
                <a:alpha val="22000"/>
              </a:srgbClr>
            </a:outerShdw>
          </a:effectLst>
        </p:spPr>
      </p:sp>
      <p:sp>
        <p:nvSpPr>
          <p:cNvPr id="11" name="Text 8"/>
          <p:cNvSpPr/>
          <p:nvPr/>
        </p:nvSpPr>
        <p:spPr>
          <a:xfrm>
            <a:off x="548640" y="1591056"/>
            <a:ext cx="3291840" cy="914400"/>
          </a:xfrm>
          <a:prstGeom prst="rect">
            <a:avLst/>
          </a:prstGeom>
          <a:noFill/>
          <a:ln/>
        </p:spPr>
        <p:txBody>
          <a:bodyPr wrap="square" lIns="0" tIns="0" rIns="0" bIns="0" rtlCol="0" anchor="ctr"/>
          <a:lstStyle/>
          <a:p>
            <a:pPr algn="ctr" indent="0" marL="0">
              <a:buNone/>
            </a:pPr>
            <a:r>
              <a:rPr lang="en-US" sz="4200" b="1" dirty="0">
                <a:solidFill>
                  <a:srgbClr val="1C7293"/>
                </a:solidFill>
                <a:latin typeface="Cambria" pitchFamily="34" charset="0"/>
                <a:ea typeface="Cambria" pitchFamily="34" charset="-122"/>
                <a:cs typeface="Cambria" pitchFamily="34" charset="-120"/>
              </a:rPr>
              <a:t>0,854</a:t>
            </a:r>
            <a:endParaRPr lang="en-US" sz="4200" dirty="0"/>
          </a:p>
        </p:txBody>
      </p:sp>
      <p:sp>
        <p:nvSpPr>
          <p:cNvPr id="12" name="Text 9"/>
          <p:cNvSpPr/>
          <p:nvPr/>
        </p:nvSpPr>
        <p:spPr>
          <a:xfrm>
            <a:off x="548640" y="2487168"/>
            <a:ext cx="3291840" cy="548640"/>
          </a:xfrm>
          <a:prstGeom prst="rect">
            <a:avLst/>
          </a:prstGeom>
          <a:noFill/>
          <a:ln/>
        </p:spPr>
        <p:txBody>
          <a:bodyPr wrap="square" lIns="0" tIns="0" rIns="0" bIns="0" rtlCol="0" anchor="t"/>
          <a:lstStyle/>
          <a:p>
            <a:pPr algn="ctr" indent="0" marL="0">
              <a:buNone/>
            </a:pPr>
            <a:r>
              <a:rPr lang="en-US" sz="1250" dirty="0">
                <a:solidFill>
                  <a:srgbClr val="5A6B7D"/>
                </a:solidFill>
                <a:latin typeface="Calibri" pitchFamily="34" charset="0"/>
                <a:ea typeface="Calibri" pitchFamily="34" charset="-122"/>
                <a:cs typeface="Calibri" pitchFamily="34" charset="-120"/>
              </a:rPr>
              <a:t>Biển báo (13 lớp)</a:t>
            </a:r>
            <a:endParaRPr lang="en-US" sz="1250" dirty="0"/>
          </a:p>
        </p:txBody>
      </p:sp>
      <p:sp>
        <p:nvSpPr>
          <p:cNvPr id="13" name="Shape 10"/>
          <p:cNvSpPr/>
          <p:nvPr/>
        </p:nvSpPr>
        <p:spPr>
          <a:xfrm>
            <a:off x="3977640" y="1481328"/>
            <a:ext cx="3291840" cy="1371600"/>
          </a:xfrm>
          <a:prstGeom prst="roundRect">
            <a:avLst>
              <a:gd name="adj" fmla="val 6667"/>
            </a:avLst>
          </a:prstGeom>
          <a:solidFill>
            <a:srgbClr val="FDEEEE"/>
          </a:solidFill>
          <a:ln w="12700">
            <a:solidFill>
              <a:srgbClr val="E6ECF2"/>
            </a:solidFill>
            <a:prstDash val="solid"/>
          </a:ln>
          <a:effectLst>
            <a:outerShdw sx="100000" sy="100000" kx="0" ky="0" algn="bl" rotWithShape="0" blurRad="114300" dist="25400" dir="5400000">
              <a:srgbClr val="9FB0C0">
                <a:alpha val="22000"/>
              </a:srgbClr>
            </a:outerShdw>
          </a:effectLst>
        </p:spPr>
      </p:sp>
      <p:sp>
        <p:nvSpPr>
          <p:cNvPr id="14" name="Text 11"/>
          <p:cNvSpPr/>
          <p:nvPr/>
        </p:nvSpPr>
        <p:spPr>
          <a:xfrm>
            <a:off x="3977640" y="1591056"/>
            <a:ext cx="3291840" cy="914400"/>
          </a:xfrm>
          <a:prstGeom prst="rect">
            <a:avLst/>
          </a:prstGeom>
          <a:noFill/>
          <a:ln/>
        </p:spPr>
        <p:txBody>
          <a:bodyPr wrap="square" lIns="0" tIns="0" rIns="0" bIns="0" rtlCol="0" anchor="ctr"/>
          <a:lstStyle/>
          <a:p>
            <a:pPr algn="ctr" indent="0" marL="0">
              <a:buNone/>
            </a:pPr>
            <a:r>
              <a:rPr lang="en-US" sz="4200" b="1" dirty="0">
                <a:solidFill>
                  <a:srgbClr val="E63946"/>
                </a:solidFill>
                <a:latin typeface="Cambria" pitchFamily="34" charset="0"/>
                <a:ea typeface="Cambria" pitchFamily="34" charset="-122"/>
                <a:cs typeface="Cambria" pitchFamily="34" charset="-120"/>
              </a:rPr>
              <a:t>0,541</a:t>
            </a:r>
            <a:endParaRPr lang="en-US" sz="4200" dirty="0"/>
          </a:p>
        </p:txBody>
      </p:sp>
      <p:sp>
        <p:nvSpPr>
          <p:cNvPr id="15" name="Text 12"/>
          <p:cNvSpPr/>
          <p:nvPr/>
        </p:nvSpPr>
        <p:spPr>
          <a:xfrm>
            <a:off x="3977640" y="2487168"/>
            <a:ext cx="3291840" cy="548640"/>
          </a:xfrm>
          <a:prstGeom prst="rect">
            <a:avLst/>
          </a:prstGeom>
          <a:noFill/>
          <a:ln/>
        </p:spPr>
        <p:txBody>
          <a:bodyPr wrap="square" lIns="0" tIns="0" rIns="0" bIns="0" rtlCol="0" anchor="t"/>
          <a:lstStyle/>
          <a:p>
            <a:pPr algn="ctr" indent="0" marL="0">
              <a:buNone/>
            </a:pPr>
            <a:r>
              <a:rPr lang="en-US" sz="1250" dirty="0">
                <a:solidFill>
                  <a:srgbClr val="5A6B7D"/>
                </a:solidFill>
                <a:latin typeface="Calibri" pitchFamily="34" charset="0"/>
                <a:ea typeface="Calibri" pitchFamily="34" charset="-122"/>
                <a:cs typeface="Calibri" pitchFamily="34" charset="-120"/>
              </a:rPr>
              <a:t>Đèn tín hiệu (2 lớp)</a:t>
            </a:r>
            <a:endParaRPr lang="en-US" sz="1250" dirty="0"/>
          </a:p>
        </p:txBody>
      </p:sp>
      <p:sp>
        <p:nvSpPr>
          <p:cNvPr id="16" name="Shape 13"/>
          <p:cNvSpPr/>
          <p:nvPr/>
        </p:nvSpPr>
        <p:spPr>
          <a:xfrm>
            <a:off x="7406640" y="1481328"/>
            <a:ext cx="3657600" cy="1371600"/>
          </a:xfrm>
          <a:prstGeom prst="roundRect">
            <a:avLst>
              <a:gd name="adj" fmla="val 6667"/>
            </a:avLst>
          </a:prstGeom>
          <a:solidFill>
            <a:srgbClr val="152238"/>
          </a:solidFill>
          <a:ln w="12700">
            <a:solidFill>
              <a:srgbClr val="E6ECF2"/>
            </a:solidFill>
            <a:prstDash val="solid"/>
          </a:ln>
          <a:effectLst>
            <a:outerShdw sx="100000" sy="100000" kx="0" ky="0" algn="bl" rotWithShape="0" blurRad="114300" dist="25400" dir="5400000">
              <a:srgbClr val="9FB0C0">
                <a:alpha val="22000"/>
              </a:srgbClr>
            </a:outerShdw>
          </a:effectLst>
        </p:spPr>
      </p:sp>
      <p:sp>
        <p:nvSpPr>
          <p:cNvPr id="17" name="Text 14"/>
          <p:cNvSpPr/>
          <p:nvPr/>
        </p:nvSpPr>
        <p:spPr>
          <a:xfrm>
            <a:off x="7406640" y="1664208"/>
            <a:ext cx="3657600" cy="777240"/>
          </a:xfrm>
          <a:prstGeom prst="rect">
            <a:avLst/>
          </a:prstGeom>
          <a:noFill/>
          <a:ln/>
        </p:spPr>
        <p:txBody>
          <a:bodyPr wrap="square" lIns="0" tIns="0" rIns="0" bIns="0" rtlCol="0" anchor="ctr"/>
          <a:lstStyle/>
          <a:p>
            <a:pPr algn="ctr" indent="0" marL="0">
              <a:buNone/>
            </a:pPr>
            <a:r>
              <a:rPr lang="en-US" sz="3800" b="1" dirty="0">
                <a:solidFill>
                  <a:srgbClr val="F4A261"/>
                </a:solidFill>
                <a:latin typeface="Cambria" pitchFamily="34" charset="0"/>
                <a:ea typeface="Cambria" pitchFamily="34" charset="-122"/>
                <a:cs typeface="Cambria" pitchFamily="34" charset="-120"/>
              </a:rPr>
              <a:t>0,313</a:t>
            </a:r>
            <a:endParaRPr lang="en-US" sz="3800" dirty="0"/>
          </a:p>
        </p:txBody>
      </p:sp>
      <p:sp>
        <p:nvSpPr>
          <p:cNvPr id="18" name="Text 15"/>
          <p:cNvSpPr/>
          <p:nvPr/>
        </p:nvSpPr>
        <p:spPr>
          <a:xfrm>
            <a:off x="7406640" y="2414016"/>
            <a:ext cx="3657600" cy="365760"/>
          </a:xfrm>
          <a:prstGeom prst="rect">
            <a:avLst/>
          </a:prstGeom>
          <a:noFill/>
          <a:ln/>
        </p:spPr>
        <p:txBody>
          <a:bodyPr wrap="square" lIns="0" tIns="0" rIns="0" bIns="0" rtlCol="0" anchor="t"/>
          <a:lstStyle/>
          <a:p>
            <a:pPr algn="ctr" indent="0" marL="0">
              <a:buNone/>
            </a:pPr>
            <a:r>
              <a:rPr lang="en-US" sz="1200" dirty="0">
                <a:solidFill>
                  <a:srgbClr val="9DB2C6"/>
                </a:solidFill>
                <a:latin typeface="Calibri" pitchFamily="34" charset="0"/>
                <a:ea typeface="Calibri" pitchFamily="34" charset="-122"/>
                <a:cs typeface="Calibri" pitchFamily="34" charset="-120"/>
              </a:rPr>
              <a:t>chênh lệch mAP@0,5:0,95</a:t>
            </a:r>
            <a:endParaRPr lang="en-US" sz="1200" dirty="0"/>
          </a:p>
        </p:txBody>
      </p:sp>
      <p:pic>
        <p:nvPicPr>
          <p:cNvPr id="19" name="Image 0" descr="/sessions/magical-intelligent-fermat/mnt/master/traffic-yolo-analysis/results/figs/02_light_vs_sign.png">    </p:cNvPr>
          <p:cNvPicPr>
            <a:picLocks noChangeAspect="1"/>
          </p:cNvPicPr>
          <p:nvPr/>
        </p:nvPicPr>
        <p:blipFill>
          <a:blip r:embed="rId1"/>
          <a:stretch>
            <a:fillRect/>
          </a:stretch>
        </p:blipFill>
        <p:spPr>
          <a:xfrm>
            <a:off x="2468880" y="3081528"/>
            <a:ext cx="7223760" cy="278892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10789920" y="-1234440"/>
            <a:ext cx="2743200" cy="2743200"/>
          </a:xfrm>
          <a:prstGeom prst="ellipse">
            <a:avLst/>
          </a:prstGeom>
          <a:solidFill>
            <a:srgbClr val="EAF1F6"/>
          </a:solidFill>
          <a:ln w="12700">
            <a:solidFill>
              <a:srgbClr val="333333"/>
            </a:solidFill>
            <a:prstDash val="solid"/>
          </a:ln>
        </p:spPr>
      </p:sp>
      <p:sp>
        <p:nvSpPr>
          <p:cNvPr id="4" name="Shape 1"/>
          <p:cNvSpPr/>
          <p:nvPr/>
        </p:nvSpPr>
        <p:spPr>
          <a:xfrm>
            <a:off x="11475720" y="182880"/>
            <a:ext cx="822960" cy="822960"/>
          </a:xfrm>
          <a:prstGeom prst="ellipse">
            <a:avLst/>
          </a:prstGeom>
          <a:solidFill>
            <a:srgbClr val="DCE8F0"/>
          </a:solidFill>
          <a:ln w="12700">
            <a:solidFill>
              <a:srgbClr val="333333"/>
            </a:solidFill>
            <a:prstDash val="solid"/>
          </a:ln>
        </p:spPr>
      </p:sp>
      <p:sp>
        <p:nvSpPr>
          <p:cNvPr id="5" name="Shape 2"/>
          <p:cNvSpPr/>
          <p:nvPr/>
        </p:nvSpPr>
        <p:spPr>
          <a:xfrm>
            <a:off x="548640" y="6382512"/>
            <a:ext cx="11064240" cy="0"/>
          </a:xfrm>
          <a:prstGeom prst="line">
            <a:avLst/>
          </a:prstGeom>
          <a:noFill/>
          <a:ln w="12700">
            <a:solidFill>
              <a:srgbClr val="DDE3EA"/>
            </a:solidFill>
            <a:prstDash val="solid"/>
          </a:ln>
        </p:spPr>
      </p:sp>
      <p:sp>
        <p:nvSpPr>
          <p:cNvPr id="6" name="Text 3"/>
          <p:cNvSpPr/>
          <p:nvPr/>
        </p:nvSpPr>
        <p:spPr>
          <a:xfrm>
            <a:off x="548640" y="6419088"/>
            <a:ext cx="8686800" cy="274320"/>
          </a:xfrm>
          <a:prstGeom prst="rect">
            <a:avLst/>
          </a:prstGeom>
          <a:noFill/>
          <a:ln/>
        </p:spPr>
        <p:txBody>
          <a:bodyPr wrap="square" lIns="0" tIns="0" rIns="0" bIns="0" rtlCol="0" anchor="ctr"/>
          <a:lstStyle/>
          <a:p>
            <a:pPr indent="0" marL="0">
              <a:buNone/>
            </a:pPr>
            <a:r>
              <a:rPr lang="en-US" sz="900" dirty="0">
                <a:solidFill>
                  <a:srgbClr val="9AA7B4"/>
                </a:solidFill>
                <a:latin typeface="Calibri" pitchFamily="34" charset="0"/>
                <a:ea typeface="Calibri" pitchFamily="34" charset="-122"/>
                <a:cs typeface="Calibri" pitchFamily="34" charset="-120"/>
              </a:rPr>
              <a:t>Kiểm định độ tin cậy YOLOv8 · Nhóm KHMT836016/34/36</a:t>
            </a:r>
            <a:endParaRPr lang="en-US" sz="900" dirty="0"/>
          </a:p>
        </p:txBody>
      </p:sp>
      <p:sp>
        <p:nvSpPr>
          <p:cNvPr id="7" name="Text 4"/>
          <p:cNvSpPr/>
          <p:nvPr/>
        </p:nvSpPr>
        <p:spPr>
          <a:xfrm>
            <a:off x="11064240" y="6419088"/>
            <a:ext cx="548640" cy="274320"/>
          </a:xfrm>
          <a:prstGeom prst="rect">
            <a:avLst/>
          </a:prstGeom>
          <a:noFill/>
          <a:ln/>
        </p:spPr>
        <p:txBody>
          <a:bodyPr wrap="square" lIns="0" tIns="0" rIns="0" bIns="0" rtlCol="0" anchor="ctr"/>
          <a:lstStyle/>
          <a:p>
            <a:pPr algn="r" indent="0" marL="0">
              <a:buNone/>
            </a:pPr>
            <a:r>
              <a:rPr lang="en-US" sz="1000" b="1" dirty="0">
                <a:solidFill>
                  <a:srgbClr val="1C7293"/>
                </a:solidFill>
                <a:latin typeface="Calibri" pitchFamily="34" charset="0"/>
                <a:ea typeface="Calibri" pitchFamily="34" charset="-122"/>
                <a:cs typeface="Calibri" pitchFamily="34" charset="-120"/>
              </a:rPr>
              <a:t>28</a:t>
            </a:r>
            <a:endParaRPr lang="en-US" sz="1000" dirty="0"/>
          </a:p>
        </p:txBody>
      </p:sp>
      <p:sp>
        <p:nvSpPr>
          <p:cNvPr id="8" name="Shape 5"/>
          <p:cNvSpPr/>
          <p:nvPr/>
        </p:nvSpPr>
        <p:spPr>
          <a:xfrm>
            <a:off x="548640" y="457200"/>
            <a:ext cx="155448" cy="457200"/>
          </a:xfrm>
          <a:prstGeom prst="roundRect">
            <a:avLst>
              <a:gd name="adj" fmla="val 17647"/>
            </a:avLst>
          </a:prstGeom>
          <a:solidFill>
            <a:srgbClr val="1C7293"/>
          </a:solidFill>
          <a:ln w="12700">
            <a:solidFill>
              <a:srgbClr val="333333"/>
            </a:solidFill>
            <a:prstDash val="solid"/>
          </a:ln>
        </p:spPr>
      </p:sp>
      <p:sp>
        <p:nvSpPr>
          <p:cNvPr id="9" name="Text 6"/>
          <p:cNvSpPr/>
          <p:nvPr/>
        </p:nvSpPr>
        <p:spPr>
          <a:xfrm>
            <a:off x="877824" y="365760"/>
            <a:ext cx="10735056" cy="713232"/>
          </a:xfrm>
          <a:prstGeom prst="rect">
            <a:avLst/>
          </a:prstGeom>
          <a:noFill/>
          <a:ln/>
        </p:spPr>
        <p:txBody>
          <a:bodyPr wrap="square" lIns="0" tIns="0" rIns="0" bIns="0" rtlCol="0" anchor="ctr"/>
          <a:lstStyle/>
          <a:p>
            <a:pPr indent="0" marL="0">
              <a:buNone/>
            </a:pPr>
            <a:r>
              <a:rPr lang="en-US" sz="2900" b="1" dirty="0">
                <a:solidFill>
                  <a:srgbClr val="1A2430"/>
                </a:solidFill>
                <a:latin typeface="Cambria" pitchFamily="34" charset="0"/>
                <a:ea typeface="Cambria" pitchFamily="34" charset="-122"/>
                <a:cs typeface="Cambria" pitchFamily="34" charset="-120"/>
              </a:rPr>
              <a:t>B · Kiểm định thống kê Mann–Whitney U</a:t>
            </a:r>
            <a:endParaRPr lang="en-US" sz="2900" dirty="0"/>
          </a:p>
        </p:txBody>
      </p:sp>
      <p:sp>
        <p:nvSpPr>
          <p:cNvPr id="10" name="Shape 7"/>
          <p:cNvSpPr/>
          <p:nvPr/>
        </p:nvSpPr>
        <p:spPr>
          <a:xfrm>
            <a:off x="548640" y="1481328"/>
            <a:ext cx="5394960" cy="3017520"/>
          </a:xfrm>
          <a:prstGeom prst="roundRect">
            <a:avLst>
              <a:gd name="adj" fmla="val 3030"/>
            </a:avLst>
          </a:prstGeom>
          <a:solidFill>
            <a:srgbClr val="E8F4F0"/>
          </a:solidFill>
          <a:ln w="12700">
            <a:solidFill>
              <a:srgbClr val="E6ECF2"/>
            </a:solidFill>
            <a:prstDash val="solid"/>
          </a:ln>
          <a:effectLst>
            <a:outerShdw sx="100000" sy="100000" kx="0" ky="0" algn="bl" rotWithShape="0" blurRad="114300" dist="25400" dir="5400000">
              <a:srgbClr val="9FB0C0">
                <a:alpha val="22000"/>
              </a:srgbClr>
            </a:outerShdw>
          </a:effectLst>
        </p:spPr>
      </p:sp>
      <p:sp>
        <p:nvSpPr>
          <p:cNvPr id="11" name="Text 8"/>
          <p:cNvSpPr/>
          <p:nvPr/>
        </p:nvSpPr>
        <p:spPr>
          <a:xfrm>
            <a:off x="822960" y="1700784"/>
            <a:ext cx="4846320" cy="365760"/>
          </a:xfrm>
          <a:prstGeom prst="rect">
            <a:avLst/>
          </a:prstGeom>
          <a:noFill/>
          <a:ln/>
        </p:spPr>
        <p:txBody>
          <a:bodyPr wrap="square" lIns="0" tIns="0" rIns="0" bIns="0" rtlCol="0" anchor="ctr"/>
          <a:lstStyle/>
          <a:p>
            <a:pPr indent="0" marL="0">
              <a:buNone/>
            </a:pPr>
            <a:r>
              <a:rPr lang="en-US" sz="1700" b="1" dirty="0">
                <a:solidFill>
                  <a:srgbClr val="1C7293"/>
                </a:solidFill>
                <a:latin typeface="Cambria" pitchFamily="34" charset="0"/>
                <a:ea typeface="Cambria" pitchFamily="34" charset="-122"/>
                <a:cs typeface="Cambria" pitchFamily="34" charset="-120"/>
              </a:rPr>
              <a:t>Vì sao dùng Mann–Whitney?</a:t>
            </a:r>
            <a:endParaRPr lang="en-US" sz="1700" dirty="0"/>
          </a:p>
        </p:txBody>
      </p:sp>
      <p:sp>
        <p:nvSpPr>
          <p:cNvPr id="12" name="Text 9"/>
          <p:cNvSpPr/>
          <p:nvPr/>
        </p:nvSpPr>
        <p:spPr>
          <a:xfrm>
            <a:off x="859536" y="2157984"/>
            <a:ext cx="4800600" cy="2194560"/>
          </a:xfrm>
          <a:prstGeom prst="rect">
            <a:avLst/>
          </a:prstGeom>
          <a:noFill/>
          <a:ln/>
        </p:spPr>
        <p:txBody>
          <a:bodyPr wrap="square" lIns="0" tIns="0" rIns="0" bIns="0" rtlCol="0" anchor="t"/>
          <a:lstStyle/>
          <a:p>
            <a:pPr marL="228600" indent="-228600">
              <a:lnSpc>
                <a:spcPct val="108000"/>
              </a:lnSpc>
              <a:spcAft>
                <a:spcPts val="1000"/>
              </a:spcAft>
              <a:buSzPct val="100000"/>
              <a:buChar char="•"/>
            </a:pPr>
            <a:r>
              <a:rPr lang="en-US" sz="1400" dirty="0">
                <a:solidFill>
                  <a:srgbClr val="1A2430"/>
                </a:solidFill>
                <a:latin typeface="Calibri" pitchFamily="34" charset="0"/>
                <a:ea typeface="Calibri" pitchFamily="34" charset="-122"/>
                <a:cs typeface="Calibri" pitchFamily="34" charset="-120"/>
              </a:rPr>
              <a:t>Kiểm định phi tham số — không giả định phân phối chuẩn.</a:t>
            </a:r>
            <a:endParaRPr lang="en-US" sz="1400" dirty="0"/>
          </a:p>
          <a:p>
            <a:pPr marL="228600" indent="-228600">
              <a:lnSpc>
                <a:spcPct val="108000"/>
              </a:lnSpc>
              <a:spcAft>
                <a:spcPts val="1000"/>
              </a:spcAft>
              <a:buSzPct val="100000"/>
              <a:buChar char="•"/>
            </a:pPr>
            <a:r>
              <a:rPr lang="en-US" sz="1400" dirty="0">
                <a:solidFill>
                  <a:srgbClr val="1A2430"/>
                </a:solidFill>
                <a:latin typeface="Calibri" pitchFamily="34" charset="0"/>
                <a:ea typeface="Calibri" pitchFamily="34" charset="-122"/>
                <a:cs typeface="Calibri" pitchFamily="34" charset="-120"/>
              </a:rPr>
              <a:t>So phân phối hiệu năng của hai nhóm độc lập: đèn (2 lớp) vs biển (13 lớp).</a:t>
            </a:r>
            <a:endParaRPr lang="en-US" sz="1400" dirty="0"/>
          </a:p>
          <a:p>
            <a:pPr marL="228600" indent="-228600">
              <a:lnSpc>
                <a:spcPct val="108000"/>
              </a:lnSpc>
              <a:spcAft>
                <a:spcPts val="1000"/>
              </a:spcAft>
              <a:buSzPct val="100000"/>
              <a:buChar char="•"/>
            </a:pPr>
            <a:r>
              <a:rPr lang="en-US" sz="1400" dirty="0">
                <a:solidFill>
                  <a:srgbClr val="1A2430"/>
                </a:solidFill>
                <a:latin typeface="Calibri" pitchFamily="34" charset="0"/>
                <a:ea typeface="Calibri" pitchFamily="34" charset="-122"/>
                <a:cs typeface="Calibri" pitchFamily="34" charset="-120"/>
              </a:rPr>
              <a:t>Giả thuyết H₁ (một phía): biển &gt; đèn.</a:t>
            </a:r>
            <a:endParaRPr lang="en-US" sz="1400" dirty="0"/>
          </a:p>
        </p:txBody>
      </p:sp>
      <p:sp>
        <p:nvSpPr>
          <p:cNvPr id="13" name="Shape 10"/>
          <p:cNvSpPr/>
          <p:nvPr/>
        </p:nvSpPr>
        <p:spPr>
          <a:xfrm>
            <a:off x="6217920" y="1481328"/>
            <a:ext cx="5394960" cy="3017520"/>
          </a:xfrm>
          <a:prstGeom prst="roundRect">
            <a:avLst>
              <a:gd name="adj" fmla="val 3030"/>
            </a:avLst>
          </a:prstGeom>
          <a:solidFill>
            <a:srgbClr val="152238"/>
          </a:solidFill>
          <a:ln w="12700">
            <a:solidFill>
              <a:srgbClr val="E6ECF2"/>
            </a:solidFill>
            <a:prstDash val="solid"/>
          </a:ln>
          <a:effectLst>
            <a:outerShdw sx="100000" sy="100000" kx="0" ky="0" algn="bl" rotWithShape="0" blurRad="114300" dist="25400" dir="5400000">
              <a:srgbClr val="9FB0C0">
                <a:alpha val="22000"/>
              </a:srgbClr>
            </a:outerShdw>
          </a:effectLst>
        </p:spPr>
      </p:sp>
      <p:sp>
        <p:nvSpPr>
          <p:cNvPr id="14" name="Text 11"/>
          <p:cNvSpPr/>
          <p:nvPr/>
        </p:nvSpPr>
        <p:spPr>
          <a:xfrm>
            <a:off x="6492240" y="1700784"/>
            <a:ext cx="4846320" cy="365760"/>
          </a:xfrm>
          <a:prstGeom prst="rect">
            <a:avLst/>
          </a:prstGeom>
          <a:noFill/>
          <a:ln/>
        </p:spPr>
        <p:txBody>
          <a:bodyPr wrap="square" lIns="0" tIns="0" rIns="0" bIns="0" rtlCol="0" anchor="ctr"/>
          <a:lstStyle/>
          <a:p>
            <a:pPr indent="0" marL="0">
              <a:buNone/>
            </a:pPr>
            <a:r>
              <a:rPr lang="en-US" sz="1700" b="1" dirty="0">
                <a:solidFill>
                  <a:srgbClr val="F4A261"/>
                </a:solidFill>
                <a:latin typeface="Cambria" pitchFamily="34" charset="0"/>
                <a:ea typeface="Cambria" pitchFamily="34" charset="-122"/>
                <a:cs typeface="Cambria" pitchFamily="34" charset="-120"/>
              </a:rPr>
              <a:t>Kết quả</a:t>
            </a:r>
            <a:endParaRPr lang="en-US" sz="1700" dirty="0"/>
          </a:p>
        </p:txBody>
      </p:sp>
      <p:sp>
        <p:nvSpPr>
          <p:cNvPr id="15" name="Text 12"/>
          <p:cNvSpPr/>
          <p:nvPr/>
        </p:nvSpPr>
        <p:spPr>
          <a:xfrm>
            <a:off x="6492240" y="2212848"/>
            <a:ext cx="4846320" cy="8229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p = 0,0095</a:t>
            </a:r>
            <a:endParaRPr lang="en-US" sz="4000" dirty="0"/>
          </a:p>
        </p:txBody>
      </p:sp>
      <p:sp>
        <p:nvSpPr>
          <p:cNvPr id="16" name="Text 13"/>
          <p:cNvSpPr/>
          <p:nvPr/>
        </p:nvSpPr>
        <p:spPr>
          <a:xfrm>
            <a:off x="6492240" y="3218688"/>
            <a:ext cx="4846320" cy="1097280"/>
          </a:xfrm>
          <a:prstGeom prst="rect">
            <a:avLst/>
          </a:prstGeom>
          <a:noFill/>
          <a:ln/>
        </p:spPr>
        <p:txBody>
          <a:bodyPr wrap="square" lIns="0" tIns="0" rIns="0" bIns="0" rtlCol="0" anchor="t"/>
          <a:lstStyle/>
          <a:p>
            <a:pPr indent="0" marL="0">
              <a:buNone/>
            </a:pPr>
            <a:r>
              <a:rPr lang="en-US" sz="1450" dirty="0">
                <a:solidFill>
                  <a:srgbClr val="C6D4E2"/>
                </a:solidFill>
                <a:latin typeface="Calibri" pitchFamily="34" charset="0"/>
                <a:ea typeface="Calibri" pitchFamily="34" charset="-122"/>
                <a:cs typeface="Calibri" pitchFamily="34" charset="-120"/>
              </a:rPr>
              <a:t>Khác biệt có ý nghĩa thống kê (p &lt; 0,01) dù nhóm đèn chỉ có 2 lớp. Khoảng cách 0,313 không phải ngẫu nhiên.</a:t>
            </a:r>
            <a:endParaRPr lang="en-US" sz="14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52238"/>
        </a:solidFill>
      </p:bgPr>
    </p:bg>
    <p:spTree>
      <p:nvGrpSpPr>
        <p:cNvPr id="1" name=""/>
        <p:cNvGrpSpPr/>
        <p:nvPr/>
      </p:nvGrpSpPr>
      <p:grpSpPr>
        <a:xfrm>
          <a:off x="0" y="0"/>
          <a:ext cx="0" cy="0"/>
          <a:chOff x="0" y="0"/>
          <a:chExt cx="0" cy="0"/>
        </a:xfrm>
      </p:grpSpPr>
      <p:sp>
        <p:nvSpPr>
          <p:cNvPr id="3" name="Text 0"/>
          <p:cNvSpPr/>
          <p:nvPr/>
        </p:nvSpPr>
        <p:spPr>
          <a:xfrm>
            <a:off x="548640" y="548640"/>
            <a:ext cx="11064240" cy="73152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Nhận xét B — Khoảng cách đèn – biển</a:t>
            </a:r>
            <a:endParaRPr lang="en-US" sz="2800" dirty="0"/>
          </a:p>
        </p:txBody>
      </p:sp>
      <p:sp>
        <p:nvSpPr>
          <p:cNvPr id="4" name="Shape 1"/>
          <p:cNvSpPr/>
          <p:nvPr/>
        </p:nvSpPr>
        <p:spPr>
          <a:xfrm>
            <a:off x="548640" y="1554480"/>
            <a:ext cx="11064240" cy="896112"/>
          </a:xfrm>
          <a:prstGeom prst="roundRect">
            <a:avLst>
              <a:gd name="adj" fmla="val 10204"/>
            </a:avLst>
          </a:prstGeom>
          <a:solidFill>
            <a:srgbClr val="1E3050"/>
          </a:solidFill>
          <a:ln w="12700">
            <a:solidFill>
              <a:srgbClr val="E6ECF2"/>
            </a:solidFill>
            <a:prstDash val="solid"/>
          </a:ln>
          <a:effectLst>
            <a:outerShdw sx="100000" sy="100000" kx="0" ky="0" algn="bl" rotWithShape="0" blurRad="114300" dist="25400" dir="5400000">
              <a:srgbClr val="9FB0C0">
                <a:alpha val="22000"/>
              </a:srgbClr>
            </a:outerShdw>
          </a:effectLst>
        </p:spPr>
      </p:sp>
      <p:sp>
        <p:nvSpPr>
          <p:cNvPr id="5" name="Text 2"/>
          <p:cNvSpPr/>
          <p:nvPr/>
        </p:nvSpPr>
        <p:spPr>
          <a:xfrm>
            <a:off x="868680" y="1600200"/>
            <a:ext cx="4846320" cy="804672"/>
          </a:xfrm>
          <a:prstGeom prst="rect">
            <a:avLst/>
          </a:prstGeom>
          <a:noFill/>
          <a:ln/>
        </p:spPr>
        <p:txBody>
          <a:bodyPr wrap="square" lIns="0" tIns="0" rIns="0" bIns="0" rtlCol="0" anchor="ctr"/>
          <a:lstStyle/>
          <a:p>
            <a:pPr indent="0" marL="0">
              <a:buNone/>
            </a:pPr>
            <a:r>
              <a:rPr lang="en-US" sz="1700" b="1" dirty="0">
                <a:solidFill>
                  <a:srgbClr val="E63946"/>
                </a:solidFill>
                <a:latin typeface="Cambria" pitchFamily="34" charset="0"/>
                <a:ea typeface="Cambria" pitchFamily="34" charset="-122"/>
                <a:cs typeface="Cambria" pitchFamily="34" charset="-120"/>
              </a:rPr>
              <a:t>Đèn 0,541 vs biển 0,854</a:t>
            </a:r>
            <a:endParaRPr lang="en-US" sz="1700" dirty="0"/>
          </a:p>
        </p:txBody>
      </p:sp>
      <p:sp>
        <p:nvSpPr>
          <p:cNvPr id="6" name="Text 3"/>
          <p:cNvSpPr/>
          <p:nvPr/>
        </p:nvSpPr>
        <p:spPr>
          <a:xfrm>
            <a:off x="5943600" y="1600200"/>
            <a:ext cx="5394960" cy="804672"/>
          </a:xfrm>
          <a:prstGeom prst="rect">
            <a:avLst/>
          </a:prstGeom>
          <a:noFill/>
          <a:ln/>
        </p:spPr>
        <p:txBody>
          <a:bodyPr wrap="square" lIns="0" tIns="0" rIns="0" bIns="0" rtlCol="0" anchor="ctr"/>
          <a:lstStyle/>
          <a:p>
            <a:pPr indent="0" marL="0">
              <a:buNone/>
            </a:pPr>
            <a:r>
              <a:rPr lang="en-US" sz="1450" dirty="0">
                <a:solidFill>
                  <a:srgbClr val="C6D4E2"/>
                </a:solidFill>
                <a:latin typeface="Calibri" pitchFamily="34" charset="0"/>
                <a:ea typeface="Calibri" pitchFamily="34" charset="-122"/>
                <a:cs typeface="Calibri" pitchFamily="34" charset="-120"/>
              </a:rPr>
              <a:t>chênh 0,313 trên mAP@0,5:0,95</a:t>
            </a:r>
            <a:endParaRPr lang="en-US" sz="1450" dirty="0"/>
          </a:p>
        </p:txBody>
      </p:sp>
      <p:sp>
        <p:nvSpPr>
          <p:cNvPr id="7" name="Shape 4"/>
          <p:cNvSpPr/>
          <p:nvPr/>
        </p:nvSpPr>
        <p:spPr>
          <a:xfrm>
            <a:off x="548640" y="2606040"/>
            <a:ext cx="11064240" cy="896112"/>
          </a:xfrm>
          <a:prstGeom prst="roundRect">
            <a:avLst>
              <a:gd name="adj" fmla="val 10204"/>
            </a:avLst>
          </a:prstGeom>
          <a:solidFill>
            <a:srgbClr val="1E3050"/>
          </a:solidFill>
          <a:ln w="12700">
            <a:solidFill>
              <a:srgbClr val="E6ECF2"/>
            </a:solidFill>
            <a:prstDash val="solid"/>
          </a:ln>
          <a:effectLst>
            <a:outerShdw sx="100000" sy="100000" kx="0" ky="0" algn="bl" rotWithShape="0" blurRad="114300" dist="25400" dir="5400000">
              <a:srgbClr val="9FB0C0">
                <a:alpha val="22000"/>
              </a:srgbClr>
            </a:outerShdw>
          </a:effectLst>
        </p:spPr>
      </p:sp>
      <p:sp>
        <p:nvSpPr>
          <p:cNvPr id="8" name="Text 5"/>
          <p:cNvSpPr/>
          <p:nvPr/>
        </p:nvSpPr>
        <p:spPr>
          <a:xfrm>
            <a:off x="868680" y="2651760"/>
            <a:ext cx="4846320" cy="804672"/>
          </a:xfrm>
          <a:prstGeom prst="rect">
            <a:avLst/>
          </a:prstGeom>
          <a:noFill/>
          <a:ln/>
        </p:spPr>
        <p:txBody>
          <a:bodyPr wrap="square" lIns="0" tIns="0" rIns="0" bIns="0" rtlCol="0" anchor="ctr"/>
          <a:lstStyle/>
          <a:p>
            <a:pPr indent="0" marL="0">
              <a:buNone/>
            </a:pPr>
            <a:r>
              <a:rPr lang="en-US" sz="1700" b="1" dirty="0">
                <a:solidFill>
                  <a:srgbClr val="E63946"/>
                </a:solidFill>
                <a:latin typeface="Cambria" pitchFamily="34" charset="0"/>
                <a:ea typeface="Cambria" pitchFamily="34" charset="-122"/>
                <a:cs typeface="Cambria" pitchFamily="34" charset="-120"/>
              </a:rPr>
              <a:t>Mann–Whitney p = 0,0095</a:t>
            </a:r>
            <a:endParaRPr lang="en-US" sz="1700" dirty="0"/>
          </a:p>
        </p:txBody>
      </p:sp>
      <p:sp>
        <p:nvSpPr>
          <p:cNvPr id="9" name="Text 6"/>
          <p:cNvSpPr/>
          <p:nvPr/>
        </p:nvSpPr>
        <p:spPr>
          <a:xfrm>
            <a:off x="5943600" y="2651760"/>
            <a:ext cx="5394960" cy="804672"/>
          </a:xfrm>
          <a:prstGeom prst="rect">
            <a:avLst/>
          </a:prstGeom>
          <a:noFill/>
          <a:ln/>
        </p:spPr>
        <p:txBody>
          <a:bodyPr wrap="square" lIns="0" tIns="0" rIns="0" bIns="0" rtlCol="0" anchor="ctr"/>
          <a:lstStyle/>
          <a:p>
            <a:pPr indent="0" marL="0">
              <a:buNone/>
            </a:pPr>
            <a:r>
              <a:rPr lang="en-US" sz="1450" dirty="0">
                <a:solidFill>
                  <a:srgbClr val="C6D4E2"/>
                </a:solidFill>
                <a:latin typeface="Calibri" pitchFamily="34" charset="0"/>
                <a:ea typeface="Calibri" pitchFamily="34" charset="-122"/>
                <a:cs typeface="Calibri" pitchFamily="34" charset="-120"/>
              </a:rPr>
              <a:t>khác biệt có ý nghĩa thống kê</a:t>
            </a:r>
            <a:endParaRPr lang="en-US" sz="1450" dirty="0"/>
          </a:p>
        </p:txBody>
      </p:sp>
      <p:sp>
        <p:nvSpPr>
          <p:cNvPr id="10" name="Shape 7"/>
          <p:cNvSpPr/>
          <p:nvPr/>
        </p:nvSpPr>
        <p:spPr>
          <a:xfrm>
            <a:off x="548640" y="3657600"/>
            <a:ext cx="11064240" cy="896112"/>
          </a:xfrm>
          <a:prstGeom prst="roundRect">
            <a:avLst>
              <a:gd name="adj" fmla="val 10204"/>
            </a:avLst>
          </a:prstGeom>
          <a:solidFill>
            <a:srgbClr val="1E3050"/>
          </a:solidFill>
          <a:ln w="12700">
            <a:solidFill>
              <a:srgbClr val="E6ECF2"/>
            </a:solidFill>
            <a:prstDash val="solid"/>
          </a:ln>
          <a:effectLst>
            <a:outerShdw sx="100000" sy="100000" kx="0" ky="0" algn="bl" rotWithShape="0" blurRad="114300" dist="25400" dir="5400000">
              <a:srgbClr val="9FB0C0">
                <a:alpha val="22000"/>
              </a:srgbClr>
            </a:outerShdw>
          </a:effectLst>
        </p:spPr>
      </p:sp>
      <p:sp>
        <p:nvSpPr>
          <p:cNvPr id="11" name="Text 8"/>
          <p:cNvSpPr/>
          <p:nvPr/>
        </p:nvSpPr>
        <p:spPr>
          <a:xfrm>
            <a:off x="868680" y="3703320"/>
            <a:ext cx="4846320" cy="804672"/>
          </a:xfrm>
          <a:prstGeom prst="rect">
            <a:avLst/>
          </a:prstGeom>
          <a:noFill/>
          <a:ln/>
        </p:spPr>
        <p:txBody>
          <a:bodyPr wrap="square" lIns="0" tIns="0" rIns="0" bIns="0" rtlCol="0" anchor="ctr"/>
          <a:lstStyle/>
          <a:p>
            <a:pPr indent="0" marL="0">
              <a:buNone/>
            </a:pPr>
            <a:r>
              <a:rPr lang="en-US" sz="1700" b="1" dirty="0">
                <a:solidFill>
                  <a:srgbClr val="E63946"/>
                </a:solidFill>
                <a:latin typeface="Cambria" pitchFamily="34" charset="0"/>
                <a:ea typeface="Cambria" pitchFamily="34" charset="-122"/>
                <a:cs typeface="Cambria" pitchFamily="34" charset="-120"/>
              </a:rPr>
              <a:t>Red Light kém nhất (0,506)</a:t>
            </a:r>
            <a:endParaRPr lang="en-US" sz="1700" dirty="0"/>
          </a:p>
        </p:txBody>
      </p:sp>
      <p:sp>
        <p:nvSpPr>
          <p:cNvPr id="12" name="Text 9"/>
          <p:cNvSpPr/>
          <p:nvPr/>
        </p:nvSpPr>
        <p:spPr>
          <a:xfrm>
            <a:off x="5943600" y="3703320"/>
            <a:ext cx="5394960" cy="804672"/>
          </a:xfrm>
          <a:prstGeom prst="rect">
            <a:avLst/>
          </a:prstGeom>
          <a:noFill/>
          <a:ln/>
        </p:spPr>
        <p:txBody>
          <a:bodyPr wrap="square" lIns="0" tIns="0" rIns="0" bIns="0" rtlCol="0" anchor="ctr"/>
          <a:lstStyle/>
          <a:p>
            <a:pPr indent="0" marL="0">
              <a:buNone/>
            </a:pPr>
            <a:r>
              <a:rPr lang="en-US" sz="1450" dirty="0">
                <a:solidFill>
                  <a:srgbClr val="C6D4E2"/>
                </a:solidFill>
                <a:latin typeface="Calibri" pitchFamily="34" charset="0"/>
                <a:ea typeface="Calibri" pitchFamily="34" charset="-122"/>
                <a:cs typeface="Calibri" pitchFamily="34" charset="-120"/>
              </a:rPr>
              <a:t>recall chỉ 0,755 — bỏ sót nhiều</a:t>
            </a:r>
            <a:endParaRPr lang="en-US" sz="1450" dirty="0"/>
          </a:p>
        </p:txBody>
      </p:sp>
      <p:sp>
        <p:nvSpPr>
          <p:cNvPr id="13" name="Shape 10"/>
          <p:cNvSpPr/>
          <p:nvPr/>
        </p:nvSpPr>
        <p:spPr>
          <a:xfrm>
            <a:off x="548640" y="4709160"/>
            <a:ext cx="11064240" cy="896112"/>
          </a:xfrm>
          <a:prstGeom prst="roundRect">
            <a:avLst>
              <a:gd name="adj" fmla="val 10204"/>
            </a:avLst>
          </a:prstGeom>
          <a:solidFill>
            <a:srgbClr val="1E3050"/>
          </a:solidFill>
          <a:ln w="12700">
            <a:solidFill>
              <a:srgbClr val="E6ECF2"/>
            </a:solidFill>
            <a:prstDash val="solid"/>
          </a:ln>
          <a:effectLst>
            <a:outerShdw sx="100000" sy="100000" kx="0" ky="0" algn="bl" rotWithShape="0" blurRad="114300" dist="25400" dir="5400000">
              <a:srgbClr val="9FB0C0">
                <a:alpha val="22000"/>
              </a:srgbClr>
            </a:outerShdw>
          </a:effectLst>
        </p:spPr>
      </p:sp>
      <p:sp>
        <p:nvSpPr>
          <p:cNvPr id="14" name="Text 11"/>
          <p:cNvSpPr/>
          <p:nvPr/>
        </p:nvSpPr>
        <p:spPr>
          <a:xfrm>
            <a:off x="868680" y="4754880"/>
            <a:ext cx="4846320" cy="804672"/>
          </a:xfrm>
          <a:prstGeom prst="rect">
            <a:avLst/>
          </a:prstGeom>
          <a:noFill/>
          <a:ln/>
        </p:spPr>
        <p:txBody>
          <a:bodyPr wrap="square" lIns="0" tIns="0" rIns="0" bIns="0" rtlCol="0" anchor="ctr"/>
          <a:lstStyle/>
          <a:p>
            <a:pPr indent="0" marL="0">
              <a:buNone/>
            </a:pPr>
            <a:r>
              <a:rPr lang="en-US" sz="1700" b="1" dirty="0">
                <a:solidFill>
                  <a:srgbClr val="E63946"/>
                </a:solidFill>
                <a:latin typeface="Cambria" pitchFamily="34" charset="0"/>
                <a:ea typeface="Cambria" pitchFamily="34" charset="-122"/>
                <a:cs typeface="Cambria" pitchFamily="34" charset="-120"/>
              </a:rPr>
              <a:t>mAP tổng bị chi phối bởi biển dễ</a:t>
            </a:r>
            <a:endParaRPr lang="en-US" sz="1700" dirty="0"/>
          </a:p>
        </p:txBody>
      </p:sp>
      <p:sp>
        <p:nvSpPr>
          <p:cNvPr id="15" name="Text 12"/>
          <p:cNvSpPr/>
          <p:nvPr/>
        </p:nvSpPr>
        <p:spPr>
          <a:xfrm>
            <a:off x="5943600" y="4754880"/>
            <a:ext cx="5394960" cy="804672"/>
          </a:xfrm>
          <a:prstGeom prst="rect">
            <a:avLst/>
          </a:prstGeom>
          <a:noFill/>
          <a:ln/>
        </p:spPr>
        <p:txBody>
          <a:bodyPr wrap="square" lIns="0" tIns="0" rIns="0" bIns="0" rtlCol="0" anchor="ctr"/>
          <a:lstStyle/>
          <a:p>
            <a:pPr indent="0" marL="0">
              <a:buNone/>
            </a:pPr>
            <a:r>
              <a:rPr lang="en-US" sz="1450" dirty="0">
                <a:solidFill>
                  <a:srgbClr val="C6D4E2"/>
                </a:solidFill>
                <a:latin typeface="Calibri" pitchFamily="34" charset="0"/>
                <a:ea typeface="Calibri" pitchFamily="34" charset="-122"/>
                <a:cs typeface="Calibri" pitchFamily="34" charset="-120"/>
              </a:rPr>
              <a:t>con số 0,97 che giấu phân hoá này</a:t>
            </a:r>
            <a:endParaRPr lang="en-US" sz="14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52238"/>
        </a:solidFill>
      </p:bgPr>
    </p:bg>
    <p:spTree>
      <p:nvGrpSpPr>
        <p:cNvPr id="1" name=""/>
        <p:cNvGrpSpPr/>
        <p:nvPr/>
      </p:nvGrpSpPr>
      <p:grpSpPr>
        <a:xfrm>
          <a:off x="0" y="0"/>
          <a:ext cx="0" cy="0"/>
          <a:chOff x="0" y="0"/>
          <a:chExt cx="0" cy="0"/>
        </a:xfrm>
      </p:grpSpPr>
      <p:sp>
        <p:nvSpPr>
          <p:cNvPr id="3" name="Shape 0"/>
          <p:cNvSpPr/>
          <p:nvPr/>
        </p:nvSpPr>
        <p:spPr>
          <a:xfrm>
            <a:off x="548640" y="2286000"/>
            <a:ext cx="749808" cy="749808"/>
          </a:xfrm>
          <a:prstGeom prst="ellipse">
            <a:avLst/>
          </a:prstGeom>
          <a:solidFill>
            <a:srgbClr val="1C7293"/>
          </a:solidFill>
          <a:ln w="12700">
            <a:solidFill>
              <a:srgbClr val="333333"/>
            </a:solidFill>
            <a:prstDash val="solid"/>
          </a:ln>
          <a:effectLst>
            <a:outerShdw sx="100000" sy="100000" kx="0" ky="0" algn="bl" rotWithShape="0" blurRad="63500" dist="12700" dir="5400000">
              <a:srgbClr val="1C7293">
                <a:alpha val="35000"/>
              </a:srgbClr>
            </a:outerShdw>
          </a:effectLst>
        </p:spPr>
      </p:sp>
      <p:sp>
        <p:nvSpPr>
          <p:cNvPr id="4" name="Text 1"/>
          <p:cNvSpPr/>
          <p:nvPr/>
        </p:nvSpPr>
        <p:spPr>
          <a:xfrm>
            <a:off x="548640" y="2286000"/>
            <a:ext cx="749808" cy="74980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5" name="Text 2"/>
          <p:cNvSpPr/>
          <p:nvPr/>
        </p:nvSpPr>
        <p:spPr>
          <a:xfrm>
            <a:off x="548640" y="3200400"/>
            <a:ext cx="11064240" cy="82296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Hiếm ≠ Khó</a:t>
            </a:r>
            <a:endParaRPr lang="en-US" sz="3800" dirty="0"/>
          </a:p>
        </p:txBody>
      </p:sp>
      <p:sp>
        <p:nvSpPr>
          <p:cNvPr id="6" name="Text 3"/>
          <p:cNvSpPr/>
          <p:nvPr/>
        </p:nvSpPr>
        <p:spPr>
          <a:xfrm>
            <a:off x="548640" y="4041648"/>
            <a:ext cx="9784080" cy="548640"/>
          </a:xfrm>
          <a:prstGeom prst="rect">
            <a:avLst/>
          </a:prstGeom>
          <a:noFill/>
          <a:ln/>
        </p:spPr>
        <p:txBody>
          <a:bodyPr wrap="square" lIns="0" tIns="0" rIns="0" bIns="0" rtlCol="0" anchor="ctr"/>
          <a:lstStyle/>
          <a:p>
            <a:pPr indent="0" marL="0">
              <a:buNone/>
            </a:pPr>
            <a:r>
              <a:rPr lang="en-US" sz="1600" dirty="0">
                <a:solidFill>
                  <a:srgbClr val="9DB2C6"/>
                </a:solidFill>
                <a:latin typeface="Calibri" pitchFamily="34" charset="0"/>
                <a:ea typeface="Calibri" pitchFamily="34" charset="-122"/>
                <a:cs typeface="Calibri" pitchFamily="34" charset="-120"/>
              </a:rPr>
              <a:t>Đèn kém vì hiếm, hay vì bản chất vật thể?</a:t>
            </a:r>
            <a:endParaRPr lang="en-US" sz="16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10789920" y="-1234440"/>
            <a:ext cx="2743200" cy="2743200"/>
          </a:xfrm>
          <a:prstGeom prst="ellipse">
            <a:avLst/>
          </a:prstGeom>
          <a:solidFill>
            <a:srgbClr val="EAF1F6"/>
          </a:solidFill>
          <a:ln w="12700">
            <a:solidFill>
              <a:srgbClr val="333333"/>
            </a:solidFill>
            <a:prstDash val="solid"/>
          </a:ln>
        </p:spPr>
      </p:sp>
      <p:sp>
        <p:nvSpPr>
          <p:cNvPr id="4" name="Shape 1"/>
          <p:cNvSpPr/>
          <p:nvPr/>
        </p:nvSpPr>
        <p:spPr>
          <a:xfrm>
            <a:off x="11475720" y="182880"/>
            <a:ext cx="822960" cy="822960"/>
          </a:xfrm>
          <a:prstGeom prst="ellipse">
            <a:avLst/>
          </a:prstGeom>
          <a:solidFill>
            <a:srgbClr val="DCE8F0"/>
          </a:solidFill>
          <a:ln w="12700">
            <a:solidFill>
              <a:srgbClr val="333333"/>
            </a:solidFill>
            <a:prstDash val="solid"/>
          </a:ln>
        </p:spPr>
      </p:sp>
      <p:sp>
        <p:nvSpPr>
          <p:cNvPr id="5" name="Shape 2"/>
          <p:cNvSpPr/>
          <p:nvPr/>
        </p:nvSpPr>
        <p:spPr>
          <a:xfrm>
            <a:off x="548640" y="6382512"/>
            <a:ext cx="11064240" cy="0"/>
          </a:xfrm>
          <a:prstGeom prst="line">
            <a:avLst/>
          </a:prstGeom>
          <a:noFill/>
          <a:ln w="12700">
            <a:solidFill>
              <a:srgbClr val="DDE3EA"/>
            </a:solidFill>
            <a:prstDash val="solid"/>
          </a:ln>
        </p:spPr>
      </p:sp>
      <p:sp>
        <p:nvSpPr>
          <p:cNvPr id="6" name="Text 3"/>
          <p:cNvSpPr/>
          <p:nvPr/>
        </p:nvSpPr>
        <p:spPr>
          <a:xfrm>
            <a:off x="548640" y="6419088"/>
            <a:ext cx="8686800" cy="274320"/>
          </a:xfrm>
          <a:prstGeom prst="rect">
            <a:avLst/>
          </a:prstGeom>
          <a:noFill/>
          <a:ln/>
        </p:spPr>
        <p:txBody>
          <a:bodyPr wrap="square" lIns="0" tIns="0" rIns="0" bIns="0" rtlCol="0" anchor="ctr"/>
          <a:lstStyle/>
          <a:p>
            <a:pPr indent="0" marL="0">
              <a:buNone/>
            </a:pPr>
            <a:r>
              <a:rPr lang="en-US" sz="900" dirty="0">
                <a:solidFill>
                  <a:srgbClr val="9AA7B4"/>
                </a:solidFill>
                <a:latin typeface="Calibri" pitchFamily="34" charset="0"/>
                <a:ea typeface="Calibri" pitchFamily="34" charset="-122"/>
                <a:cs typeface="Calibri" pitchFamily="34" charset="-120"/>
              </a:rPr>
              <a:t>Kiểm định độ tin cậy YOLOv8 · Nhóm KHMT836016/34/36</a:t>
            </a:r>
            <a:endParaRPr lang="en-US" sz="900" dirty="0"/>
          </a:p>
        </p:txBody>
      </p:sp>
      <p:sp>
        <p:nvSpPr>
          <p:cNvPr id="7" name="Text 4"/>
          <p:cNvSpPr/>
          <p:nvPr/>
        </p:nvSpPr>
        <p:spPr>
          <a:xfrm>
            <a:off x="11064240" y="6419088"/>
            <a:ext cx="548640" cy="274320"/>
          </a:xfrm>
          <a:prstGeom prst="rect">
            <a:avLst/>
          </a:prstGeom>
          <a:noFill/>
          <a:ln/>
        </p:spPr>
        <p:txBody>
          <a:bodyPr wrap="square" lIns="0" tIns="0" rIns="0" bIns="0" rtlCol="0" anchor="ctr"/>
          <a:lstStyle/>
          <a:p>
            <a:pPr algn="r" indent="0" marL="0">
              <a:buNone/>
            </a:pPr>
            <a:r>
              <a:rPr lang="en-US" sz="1000" b="1" dirty="0">
                <a:solidFill>
                  <a:srgbClr val="1C7293"/>
                </a:solidFill>
                <a:latin typeface="Calibri" pitchFamily="34" charset="0"/>
                <a:ea typeface="Calibri" pitchFamily="34" charset="-122"/>
                <a:cs typeface="Calibri" pitchFamily="34" charset="-120"/>
              </a:rPr>
              <a:t>31</a:t>
            </a:r>
            <a:endParaRPr lang="en-US" sz="1000" dirty="0"/>
          </a:p>
        </p:txBody>
      </p:sp>
      <p:sp>
        <p:nvSpPr>
          <p:cNvPr id="8" name="Shape 5"/>
          <p:cNvSpPr/>
          <p:nvPr/>
        </p:nvSpPr>
        <p:spPr>
          <a:xfrm>
            <a:off x="548640" y="457200"/>
            <a:ext cx="155448" cy="457200"/>
          </a:xfrm>
          <a:prstGeom prst="roundRect">
            <a:avLst>
              <a:gd name="adj" fmla="val 17647"/>
            </a:avLst>
          </a:prstGeom>
          <a:solidFill>
            <a:srgbClr val="1C7293"/>
          </a:solidFill>
          <a:ln w="12700">
            <a:solidFill>
              <a:srgbClr val="333333"/>
            </a:solidFill>
            <a:prstDash val="solid"/>
          </a:ln>
        </p:spPr>
      </p:sp>
      <p:sp>
        <p:nvSpPr>
          <p:cNvPr id="9" name="Text 6"/>
          <p:cNvSpPr/>
          <p:nvPr/>
        </p:nvSpPr>
        <p:spPr>
          <a:xfrm>
            <a:off x="877824" y="365760"/>
            <a:ext cx="10735056" cy="713232"/>
          </a:xfrm>
          <a:prstGeom prst="rect">
            <a:avLst/>
          </a:prstGeom>
          <a:noFill/>
          <a:ln/>
        </p:spPr>
        <p:txBody>
          <a:bodyPr wrap="square" lIns="0" tIns="0" rIns="0" bIns="0" rtlCol="0" anchor="ctr"/>
          <a:lstStyle/>
          <a:p>
            <a:pPr indent="0" marL="0">
              <a:buNone/>
            </a:pPr>
            <a:r>
              <a:rPr lang="en-US" sz="2900" b="1" dirty="0">
                <a:solidFill>
                  <a:srgbClr val="1A2430"/>
                </a:solidFill>
                <a:latin typeface="Cambria" pitchFamily="34" charset="0"/>
                <a:ea typeface="Cambria" pitchFamily="34" charset="-122"/>
                <a:cs typeface="Cambria" pitchFamily="34" charset="-120"/>
              </a:rPr>
              <a:t>C · Giả thuyết: “đèn kém vì hiếm”?</a:t>
            </a:r>
            <a:endParaRPr lang="en-US" sz="2900" dirty="0"/>
          </a:p>
        </p:txBody>
      </p:sp>
      <p:sp>
        <p:nvSpPr>
          <p:cNvPr id="10" name="Shape 7"/>
          <p:cNvSpPr/>
          <p:nvPr/>
        </p:nvSpPr>
        <p:spPr>
          <a:xfrm>
            <a:off x="548640" y="1481328"/>
            <a:ext cx="11064240" cy="1371600"/>
          </a:xfrm>
          <a:prstGeom prst="roundRect">
            <a:avLst>
              <a:gd name="adj" fmla="val 6667"/>
            </a:avLst>
          </a:prstGeom>
          <a:solidFill>
            <a:srgbClr val="F4F7FA"/>
          </a:solidFill>
          <a:ln w="12700">
            <a:solidFill>
              <a:srgbClr val="E6ECF2"/>
            </a:solidFill>
            <a:prstDash val="solid"/>
          </a:ln>
          <a:effectLst>
            <a:outerShdw sx="100000" sy="100000" kx="0" ky="0" algn="bl" rotWithShape="0" blurRad="114300" dist="25400" dir="5400000">
              <a:srgbClr val="9FB0C0">
                <a:alpha val="22000"/>
              </a:srgbClr>
            </a:outerShdw>
          </a:effectLst>
        </p:spPr>
      </p:sp>
      <p:sp>
        <p:nvSpPr>
          <p:cNvPr id="11" name="Text 8"/>
          <p:cNvSpPr/>
          <p:nvPr/>
        </p:nvSpPr>
        <p:spPr>
          <a:xfrm>
            <a:off x="822960" y="1664208"/>
            <a:ext cx="3657600" cy="329184"/>
          </a:xfrm>
          <a:prstGeom prst="rect">
            <a:avLst/>
          </a:prstGeom>
          <a:noFill/>
          <a:ln/>
        </p:spPr>
        <p:txBody>
          <a:bodyPr wrap="square" lIns="0" tIns="0" rIns="0" bIns="0" rtlCol="0" anchor="ctr"/>
          <a:lstStyle/>
          <a:p>
            <a:pPr indent="0" marL="0">
              <a:buNone/>
            </a:pPr>
            <a:r>
              <a:rPr lang="en-US" sz="1600" b="1" dirty="0">
                <a:solidFill>
                  <a:srgbClr val="5A6B7D"/>
                </a:solidFill>
                <a:latin typeface="Cambria" pitchFamily="34" charset="0"/>
                <a:ea typeface="Cambria" pitchFamily="34" charset="-122"/>
                <a:cs typeface="Cambria" pitchFamily="34" charset="-120"/>
              </a:rPr>
              <a:t>Giả thuyết</a:t>
            </a:r>
            <a:endParaRPr lang="en-US" sz="1600" dirty="0"/>
          </a:p>
        </p:txBody>
      </p:sp>
      <p:sp>
        <p:nvSpPr>
          <p:cNvPr id="12" name="Text 9"/>
          <p:cNvSpPr/>
          <p:nvPr/>
        </p:nvSpPr>
        <p:spPr>
          <a:xfrm>
            <a:off x="822960" y="2048256"/>
            <a:ext cx="10515600" cy="731520"/>
          </a:xfrm>
          <a:prstGeom prst="rect">
            <a:avLst/>
          </a:prstGeom>
          <a:noFill/>
          <a:ln/>
        </p:spPr>
        <p:txBody>
          <a:bodyPr wrap="square" lIns="0" tIns="0" rIns="0" bIns="0" rtlCol="0" anchor="t"/>
          <a:lstStyle/>
          <a:p>
            <a:pPr indent="0" marL="0">
              <a:buNone/>
            </a:pPr>
            <a:r>
              <a:rPr lang="en-US" sz="1500" dirty="0">
                <a:solidFill>
                  <a:srgbClr val="1A2430"/>
                </a:solidFill>
                <a:latin typeface="Calibri" pitchFamily="34" charset="0"/>
                <a:ea typeface="Calibri" pitchFamily="34" charset="-122"/>
                <a:cs typeface="Calibri" pitchFamily="34" charset="-120"/>
              </a:rPr>
              <a:t>Lớp càng ít mẫu thì mô hình càng khó học → đèn kém vì thuộc nhóm hiếm. Nếu đúng, số instance và mAP phải TƯƠNG QUAN DƯƠNG.</a:t>
            </a:r>
            <a:endParaRPr lang="en-US" sz="1500" dirty="0"/>
          </a:p>
        </p:txBody>
      </p:sp>
      <p:sp>
        <p:nvSpPr>
          <p:cNvPr id="13" name="Text 10"/>
          <p:cNvSpPr/>
          <p:nvPr/>
        </p:nvSpPr>
        <p:spPr>
          <a:xfrm>
            <a:off x="548640" y="3127248"/>
            <a:ext cx="11064240" cy="457200"/>
          </a:xfrm>
          <a:prstGeom prst="rect">
            <a:avLst/>
          </a:prstGeom>
          <a:noFill/>
          <a:ln/>
        </p:spPr>
        <p:txBody>
          <a:bodyPr wrap="square" lIns="0" tIns="0" rIns="0" bIns="0" rtlCol="0" anchor="ctr"/>
          <a:lstStyle/>
          <a:p>
            <a:pPr indent="0" marL="0">
              <a:buNone/>
            </a:pPr>
            <a:r>
              <a:rPr lang="en-US" sz="1500" b="1" dirty="0">
                <a:solidFill>
                  <a:srgbClr val="1C7293"/>
                </a:solidFill>
                <a:latin typeface="Calibri" pitchFamily="34" charset="0"/>
                <a:ea typeface="Calibri" pitchFamily="34" charset="-122"/>
                <a:cs typeface="Calibri" pitchFamily="34" charset="-120"/>
              </a:rPr>
              <a:t>Cách kiểm chứng: tính tương quan hạng Spearman giữa số instance mỗi lớp và mAP@0,5:0,95 của lớp đó.</a:t>
            </a:r>
            <a:endParaRPr lang="en-US" sz="1500" dirty="0"/>
          </a:p>
        </p:txBody>
      </p:sp>
      <p:sp>
        <p:nvSpPr>
          <p:cNvPr id="14" name="Text 11"/>
          <p:cNvSpPr/>
          <p:nvPr/>
        </p:nvSpPr>
        <p:spPr>
          <a:xfrm>
            <a:off x="548640" y="3675888"/>
            <a:ext cx="11064240" cy="457200"/>
          </a:xfrm>
          <a:prstGeom prst="rect">
            <a:avLst/>
          </a:prstGeom>
          <a:noFill/>
          <a:ln/>
        </p:spPr>
        <p:txBody>
          <a:bodyPr wrap="square" lIns="0" tIns="0" rIns="0" bIns="0" rtlCol="0" anchor="ctr"/>
          <a:lstStyle/>
          <a:p>
            <a:pPr indent="0" marL="0">
              <a:buNone/>
            </a:pPr>
            <a:r>
              <a:rPr lang="en-US" sz="1500" dirty="0">
                <a:solidFill>
                  <a:srgbClr val="5A6B7D"/>
                </a:solidFill>
                <a:latin typeface="Calibri" pitchFamily="34" charset="0"/>
                <a:ea typeface="Calibri" pitchFamily="34" charset="-122"/>
                <a:cs typeface="Calibri" pitchFamily="34" charset="-120"/>
              </a:rPr>
              <a:t>Nếu ρ ≈ 0 và p lớn → độ hiếm KHÔNG liên quan tới hiệu năng → giả thuyết bị bác bỏ.</a:t>
            </a:r>
            <a:endParaRPr lang="en-US" sz="15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10789920" y="-1234440"/>
            <a:ext cx="2743200" cy="2743200"/>
          </a:xfrm>
          <a:prstGeom prst="ellipse">
            <a:avLst/>
          </a:prstGeom>
          <a:solidFill>
            <a:srgbClr val="EAF1F6"/>
          </a:solidFill>
          <a:ln w="12700">
            <a:solidFill>
              <a:srgbClr val="333333"/>
            </a:solidFill>
            <a:prstDash val="solid"/>
          </a:ln>
        </p:spPr>
      </p:sp>
      <p:sp>
        <p:nvSpPr>
          <p:cNvPr id="4" name="Shape 1"/>
          <p:cNvSpPr/>
          <p:nvPr/>
        </p:nvSpPr>
        <p:spPr>
          <a:xfrm>
            <a:off x="11475720" y="182880"/>
            <a:ext cx="822960" cy="822960"/>
          </a:xfrm>
          <a:prstGeom prst="ellipse">
            <a:avLst/>
          </a:prstGeom>
          <a:solidFill>
            <a:srgbClr val="DCE8F0"/>
          </a:solidFill>
          <a:ln w="12700">
            <a:solidFill>
              <a:srgbClr val="333333"/>
            </a:solidFill>
            <a:prstDash val="solid"/>
          </a:ln>
        </p:spPr>
      </p:sp>
      <p:sp>
        <p:nvSpPr>
          <p:cNvPr id="5" name="Shape 2"/>
          <p:cNvSpPr/>
          <p:nvPr/>
        </p:nvSpPr>
        <p:spPr>
          <a:xfrm>
            <a:off x="548640" y="6382512"/>
            <a:ext cx="11064240" cy="0"/>
          </a:xfrm>
          <a:prstGeom prst="line">
            <a:avLst/>
          </a:prstGeom>
          <a:noFill/>
          <a:ln w="12700">
            <a:solidFill>
              <a:srgbClr val="DDE3EA"/>
            </a:solidFill>
            <a:prstDash val="solid"/>
          </a:ln>
        </p:spPr>
      </p:sp>
      <p:sp>
        <p:nvSpPr>
          <p:cNvPr id="6" name="Text 3"/>
          <p:cNvSpPr/>
          <p:nvPr/>
        </p:nvSpPr>
        <p:spPr>
          <a:xfrm>
            <a:off x="548640" y="6419088"/>
            <a:ext cx="8686800" cy="274320"/>
          </a:xfrm>
          <a:prstGeom prst="rect">
            <a:avLst/>
          </a:prstGeom>
          <a:noFill/>
          <a:ln/>
        </p:spPr>
        <p:txBody>
          <a:bodyPr wrap="square" lIns="0" tIns="0" rIns="0" bIns="0" rtlCol="0" anchor="ctr"/>
          <a:lstStyle/>
          <a:p>
            <a:pPr indent="0" marL="0">
              <a:buNone/>
            </a:pPr>
            <a:r>
              <a:rPr lang="en-US" sz="900" dirty="0">
                <a:solidFill>
                  <a:srgbClr val="9AA7B4"/>
                </a:solidFill>
                <a:latin typeface="Calibri" pitchFamily="34" charset="0"/>
                <a:ea typeface="Calibri" pitchFamily="34" charset="-122"/>
                <a:cs typeface="Calibri" pitchFamily="34" charset="-120"/>
              </a:rPr>
              <a:t>Kiểm định độ tin cậy YOLOv8 · Nhóm KHMT836016/34/36</a:t>
            </a:r>
            <a:endParaRPr lang="en-US" sz="900" dirty="0"/>
          </a:p>
        </p:txBody>
      </p:sp>
      <p:sp>
        <p:nvSpPr>
          <p:cNvPr id="7" name="Text 4"/>
          <p:cNvSpPr/>
          <p:nvPr/>
        </p:nvSpPr>
        <p:spPr>
          <a:xfrm>
            <a:off x="11064240" y="6419088"/>
            <a:ext cx="548640" cy="274320"/>
          </a:xfrm>
          <a:prstGeom prst="rect">
            <a:avLst/>
          </a:prstGeom>
          <a:noFill/>
          <a:ln/>
        </p:spPr>
        <p:txBody>
          <a:bodyPr wrap="square" lIns="0" tIns="0" rIns="0" bIns="0" rtlCol="0" anchor="ctr"/>
          <a:lstStyle/>
          <a:p>
            <a:pPr algn="r" indent="0" marL="0">
              <a:buNone/>
            </a:pPr>
            <a:r>
              <a:rPr lang="en-US" sz="1000" b="1" dirty="0">
                <a:solidFill>
                  <a:srgbClr val="1C7293"/>
                </a:solidFill>
                <a:latin typeface="Calibri" pitchFamily="34" charset="0"/>
                <a:ea typeface="Calibri" pitchFamily="34" charset="-122"/>
                <a:cs typeface="Calibri" pitchFamily="34" charset="-120"/>
              </a:rPr>
              <a:t>32</a:t>
            </a:r>
            <a:endParaRPr lang="en-US" sz="1000" dirty="0"/>
          </a:p>
        </p:txBody>
      </p:sp>
      <p:sp>
        <p:nvSpPr>
          <p:cNvPr id="8" name="Shape 5"/>
          <p:cNvSpPr/>
          <p:nvPr/>
        </p:nvSpPr>
        <p:spPr>
          <a:xfrm>
            <a:off x="548640" y="457200"/>
            <a:ext cx="155448" cy="457200"/>
          </a:xfrm>
          <a:prstGeom prst="roundRect">
            <a:avLst>
              <a:gd name="adj" fmla="val 17647"/>
            </a:avLst>
          </a:prstGeom>
          <a:solidFill>
            <a:srgbClr val="1C7293"/>
          </a:solidFill>
          <a:ln w="12700">
            <a:solidFill>
              <a:srgbClr val="333333"/>
            </a:solidFill>
            <a:prstDash val="solid"/>
          </a:ln>
        </p:spPr>
      </p:sp>
      <p:sp>
        <p:nvSpPr>
          <p:cNvPr id="9" name="Text 6"/>
          <p:cNvSpPr/>
          <p:nvPr/>
        </p:nvSpPr>
        <p:spPr>
          <a:xfrm>
            <a:off x="877824" y="365760"/>
            <a:ext cx="10735056" cy="713232"/>
          </a:xfrm>
          <a:prstGeom prst="rect">
            <a:avLst/>
          </a:prstGeom>
          <a:noFill/>
          <a:ln/>
        </p:spPr>
        <p:txBody>
          <a:bodyPr wrap="square" lIns="0" tIns="0" rIns="0" bIns="0" rtlCol="0" anchor="ctr"/>
          <a:lstStyle/>
          <a:p>
            <a:pPr indent="0" marL="0">
              <a:buNone/>
            </a:pPr>
            <a:r>
              <a:rPr lang="en-US" sz="2500" b="1" dirty="0">
                <a:solidFill>
                  <a:srgbClr val="1A2430"/>
                </a:solidFill>
                <a:latin typeface="Cambria" pitchFamily="34" charset="0"/>
                <a:ea typeface="Cambria" pitchFamily="34" charset="-122"/>
                <a:cs typeface="Cambria" pitchFamily="34" charset="-120"/>
              </a:rPr>
              <a:t>C · Độ hiếm KHÔNG giải thích được hiệu năng</a:t>
            </a:r>
            <a:endParaRPr lang="en-US" sz="2500" dirty="0"/>
          </a:p>
        </p:txBody>
      </p:sp>
      <p:pic>
        <p:nvPicPr>
          <p:cNvPr id="10" name="Image 0" descr="/sessions/magical-intelligent-fermat/mnt/master/traffic-yolo-analysis/results/figs/03_rarity_vs_ap.png">    </p:cNvPr>
          <p:cNvPicPr>
            <a:picLocks noChangeAspect="1"/>
          </p:cNvPicPr>
          <p:nvPr/>
        </p:nvPicPr>
        <p:blipFill>
          <a:blip r:embed="rId1"/>
          <a:stretch>
            <a:fillRect/>
          </a:stretch>
        </p:blipFill>
        <p:spPr>
          <a:xfrm>
            <a:off x="548640" y="1527048"/>
            <a:ext cx="6766560" cy="3977640"/>
          </a:xfrm>
          <a:prstGeom prst="rect">
            <a:avLst/>
          </a:prstGeom>
        </p:spPr>
      </p:pic>
      <p:sp>
        <p:nvSpPr>
          <p:cNvPr id="11" name="Text 7"/>
          <p:cNvSpPr/>
          <p:nvPr/>
        </p:nvSpPr>
        <p:spPr>
          <a:xfrm>
            <a:off x="7498080" y="1847088"/>
            <a:ext cx="4114800" cy="3474720"/>
          </a:xfrm>
          <a:prstGeom prst="rect">
            <a:avLst/>
          </a:prstGeom>
          <a:noFill/>
          <a:ln/>
        </p:spPr>
        <p:txBody>
          <a:bodyPr wrap="square" lIns="0" tIns="0" rIns="0" bIns="0" rtlCol="0" anchor="t"/>
          <a:lstStyle/>
          <a:p>
            <a:pPr indent="0" marL="0">
              <a:lnSpc>
                <a:spcPct val="108000"/>
              </a:lnSpc>
              <a:buNone/>
            </a:pPr>
            <a:r>
              <a:rPr lang="en-US" sz="2200" b="1" dirty="0">
                <a:solidFill>
                  <a:srgbClr val="E63946"/>
                </a:solidFill>
                <a:latin typeface="Calibri" pitchFamily="34" charset="0"/>
                <a:ea typeface="Calibri" pitchFamily="34" charset="-122"/>
                <a:cs typeface="Calibri" pitchFamily="34" charset="-120"/>
              </a:rPr>
              <a:t>Spearman ρ = 0,032
</a:t>
            </a:r>
            <a:endParaRPr lang="en-US" sz="2200" dirty="0"/>
          </a:p>
          <a:p>
            <a:pPr indent="0" marL="0">
              <a:lnSpc>
                <a:spcPct val="108000"/>
              </a:lnSpc>
              <a:buNone/>
            </a:pPr>
            <a:r>
              <a:rPr lang="en-US" sz="1500" dirty="0">
                <a:solidFill>
                  <a:srgbClr val="5A6B7D"/>
                </a:solidFill>
                <a:latin typeface="Calibri" pitchFamily="34" charset="0"/>
                <a:ea typeface="Calibri" pitchFamily="34" charset="-122"/>
                <a:cs typeface="Calibri" pitchFamily="34" charset="-120"/>
              </a:rPr>
              <a:t>p = 0,91
</a:t>
            </a:r>
            <a:endParaRPr lang="en-US" sz="2200" dirty="0"/>
          </a:p>
          <a:p>
            <a:pPr indent="0" marL="0">
              <a:lnSpc>
                <a:spcPct val="108000"/>
              </a:lnSpc>
              <a:buNone/>
            </a:pPr>
            <a:r>
              <a:rPr lang="en-US" sz="1400" dirty="0">
                <a:solidFill>
                  <a:srgbClr val="1A2430"/>
                </a:solidFill>
                <a:latin typeface="Calibri" pitchFamily="34" charset="0"/>
                <a:ea typeface="Calibri" pitchFamily="34" charset="-122"/>
                <a:cs typeface="Calibri" pitchFamily="34" charset="-120"/>
              </a:rPr>
              <a:t>→ Không có tương quan giữa số instance và hiệu năng.
</a:t>
            </a:r>
            <a:endParaRPr lang="en-US" sz="2200" dirty="0"/>
          </a:p>
          <a:p>
            <a:pPr indent="0" marL="0">
              <a:lnSpc>
                <a:spcPct val="108000"/>
              </a:lnSpc>
              <a:buNone/>
            </a:pPr>
            <a:r>
              <a:rPr lang="en-US" sz="1450" b="1" dirty="0">
                <a:solidFill>
                  <a:srgbClr val="1C7293"/>
                </a:solidFill>
                <a:latin typeface="Calibri" pitchFamily="34" charset="0"/>
                <a:ea typeface="Calibri" pitchFamily="34" charset="-122"/>
                <a:cs typeface="Calibri" pitchFamily="34" charset="-120"/>
              </a:rPr>
              <a:t>Giả thuyết “đèn kém vì hiếm” BỊ BÁC BỎ.</a:t>
            </a:r>
            <a:endParaRPr lang="en-US" sz="2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10789920" y="-1234440"/>
            <a:ext cx="2743200" cy="2743200"/>
          </a:xfrm>
          <a:prstGeom prst="ellipse">
            <a:avLst/>
          </a:prstGeom>
          <a:solidFill>
            <a:srgbClr val="EAF1F6"/>
          </a:solidFill>
          <a:ln w="12700">
            <a:solidFill>
              <a:srgbClr val="333333"/>
            </a:solidFill>
            <a:prstDash val="solid"/>
          </a:ln>
        </p:spPr>
      </p:sp>
      <p:sp>
        <p:nvSpPr>
          <p:cNvPr id="4" name="Shape 1"/>
          <p:cNvSpPr/>
          <p:nvPr/>
        </p:nvSpPr>
        <p:spPr>
          <a:xfrm>
            <a:off x="11475720" y="182880"/>
            <a:ext cx="822960" cy="822960"/>
          </a:xfrm>
          <a:prstGeom prst="ellipse">
            <a:avLst/>
          </a:prstGeom>
          <a:solidFill>
            <a:srgbClr val="DCE8F0"/>
          </a:solidFill>
          <a:ln w="12700">
            <a:solidFill>
              <a:srgbClr val="333333"/>
            </a:solidFill>
            <a:prstDash val="solid"/>
          </a:ln>
        </p:spPr>
      </p:sp>
      <p:sp>
        <p:nvSpPr>
          <p:cNvPr id="5" name="Shape 2"/>
          <p:cNvSpPr/>
          <p:nvPr/>
        </p:nvSpPr>
        <p:spPr>
          <a:xfrm>
            <a:off x="548640" y="6382512"/>
            <a:ext cx="11064240" cy="0"/>
          </a:xfrm>
          <a:prstGeom prst="line">
            <a:avLst/>
          </a:prstGeom>
          <a:noFill/>
          <a:ln w="12700">
            <a:solidFill>
              <a:srgbClr val="DDE3EA"/>
            </a:solidFill>
            <a:prstDash val="solid"/>
          </a:ln>
        </p:spPr>
      </p:sp>
      <p:sp>
        <p:nvSpPr>
          <p:cNvPr id="6" name="Text 3"/>
          <p:cNvSpPr/>
          <p:nvPr/>
        </p:nvSpPr>
        <p:spPr>
          <a:xfrm>
            <a:off x="548640" y="6419088"/>
            <a:ext cx="8686800" cy="274320"/>
          </a:xfrm>
          <a:prstGeom prst="rect">
            <a:avLst/>
          </a:prstGeom>
          <a:noFill/>
          <a:ln/>
        </p:spPr>
        <p:txBody>
          <a:bodyPr wrap="square" lIns="0" tIns="0" rIns="0" bIns="0" rtlCol="0" anchor="ctr"/>
          <a:lstStyle/>
          <a:p>
            <a:pPr indent="0" marL="0">
              <a:buNone/>
            </a:pPr>
            <a:r>
              <a:rPr lang="en-US" sz="900" dirty="0">
                <a:solidFill>
                  <a:srgbClr val="9AA7B4"/>
                </a:solidFill>
                <a:latin typeface="Calibri" pitchFamily="34" charset="0"/>
                <a:ea typeface="Calibri" pitchFamily="34" charset="-122"/>
                <a:cs typeface="Calibri" pitchFamily="34" charset="-120"/>
              </a:rPr>
              <a:t>Kiểm định độ tin cậy YOLOv8 · Nhóm KHMT836016/34/36</a:t>
            </a:r>
            <a:endParaRPr lang="en-US" sz="900" dirty="0"/>
          </a:p>
        </p:txBody>
      </p:sp>
      <p:sp>
        <p:nvSpPr>
          <p:cNvPr id="7" name="Text 4"/>
          <p:cNvSpPr/>
          <p:nvPr/>
        </p:nvSpPr>
        <p:spPr>
          <a:xfrm>
            <a:off x="11064240" y="6419088"/>
            <a:ext cx="548640" cy="274320"/>
          </a:xfrm>
          <a:prstGeom prst="rect">
            <a:avLst/>
          </a:prstGeom>
          <a:noFill/>
          <a:ln/>
        </p:spPr>
        <p:txBody>
          <a:bodyPr wrap="square" lIns="0" tIns="0" rIns="0" bIns="0" rtlCol="0" anchor="ctr"/>
          <a:lstStyle/>
          <a:p>
            <a:pPr algn="r" indent="0" marL="0">
              <a:buNone/>
            </a:pPr>
            <a:r>
              <a:rPr lang="en-US" sz="1000" b="1" dirty="0">
                <a:solidFill>
                  <a:srgbClr val="1C7293"/>
                </a:solidFill>
                <a:latin typeface="Calibri" pitchFamily="34" charset="0"/>
                <a:ea typeface="Calibri" pitchFamily="34" charset="-122"/>
                <a:cs typeface="Calibri" pitchFamily="34" charset="-120"/>
              </a:rPr>
              <a:t>33</a:t>
            </a:r>
            <a:endParaRPr lang="en-US" sz="1000" dirty="0"/>
          </a:p>
        </p:txBody>
      </p:sp>
      <p:sp>
        <p:nvSpPr>
          <p:cNvPr id="8" name="Shape 5"/>
          <p:cNvSpPr/>
          <p:nvPr/>
        </p:nvSpPr>
        <p:spPr>
          <a:xfrm>
            <a:off x="548640" y="457200"/>
            <a:ext cx="155448" cy="457200"/>
          </a:xfrm>
          <a:prstGeom prst="roundRect">
            <a:avLst>
              <a:gd name="adj" fmla="val 17647"/>
            </a:avLst>
          </a:prstGeom>
          <a:solidFill>
            <a:srgbClr val="1C7293"/>
          </a:solidFill>
          <a:ln w="12700">
            <a:solidFill>
              <a:srgbClr val="333333"/>
            </a:solidFill>
            <a:prstDash val="solid"/>
          </a:ln>
        </p:spPr>
      </p:sp>
      <p:sp>
        <p:nvSpPr>
          <p:cNvPr id="9" name="Text 6"/>
          <p:cNvSpPr/>
          <p:nvPr/>
        </p:nvSpPr>
        <p:spPr>
          <a:xfrm>
            <a:off x="877824" y="365760"/>
            <a:ext cx="10735056" cy="713232"/>
          </a:xfrm>
          <a:prstGeom prst="rect">
            <a:avLst/>
          </a:prstGeom>
          <a:noFill/>
          <a:ln/>
        </p:spPr>
        <p:txBody>
          <a:bodyPr wrap="square" lIns="0" tIns="0" rIns="0" bIns="0" rtlCol="0" anchor="ctr"/>
          <a:lstStyle/>
          <a:p>
            <a:pPr indent="0" marL="0">
              <a:buNone/>
            </a:pPr>
            <a:r>
              <a:rPr lang="en-US" sz="2900" b="1" dirty="0">
                <a:solidFill>
                  <a:srgbClr val="1A2430"/>
                </a:solidFill>
                <a:latin typeface="Cambria" pitchFamily="34" charset="0"/>
                <a:ea typeface="Cambria" pitchFamily="34" charset="-122"/>
                <a:cs typeface="Cambria" pitchFamily="34" charset="-120"/>
              </a:rPr>
              <a:t>C · Nghịch lý Red Light</a:t>
            </a:r>
            <a:endParaRPr lang="en-US" sz="2900" dirty="0"/>
          </a:p>
        </p:txBody>
      </p:sp>
      <p:sp>
        <p:nvSpPr>
          <p:cNvPr id="10" name="Shape 7"/>
          <p:cNvSpPr/>
          <p:nvPr/>
        </p:nvSpPr>
        <p:spPr>
          <a:xfrm>
            <a:off x="548640" y="1481328"/>
            <a:ext cx="5394960" cy="2194560"/>
          </a:xfrm>
          <a:prstGeom prst="roundRect">
            <a:avLst>
              <a:gd name="adj" fmla="val 4167"/>
            </a:avLst>
          </a:prstGeom>
          <a:solidFill>
            <a:srgbClr val="E8F4F0"/>
          </a:solidFill>
          <a:ln w="12700">
            <a:solidFill>
              <a:srgbClr val="E6ECF2"/>
            </a:solidFill>
            <a:prstDash val="solid"/>
          </a:ln>
          <a:effectLst>
            <a:outerShdw sx="100000" sy="100000" kx="0" ky="0" algn="bl" rotWithShape="0" blurRad="114300" dist="25400" dir="5400000">
              <a:srgbClr val="9FB0C0">
                <a:alpha val="22000"/>
              </a:srgbClr>
            </a:outerShdw>
          </a:effectLst>
        </p:spPr>
      </p:sp>
      <p:sp>
        <p:nvSpPr>
          <p:cNvPr id="11" name="Text 8"/>
          <p:cNvSpPr/>
          <p:nvPr/>
        </p:nvSpPr>
        <p:spPr>
          <a:xfrm>
            <a:off x="822960" y="1755648"/>
            <a:ext cx="4846320" cy="914400"/>
          </a:xfrm>
          <a:prstGeom prst="rect">
            <a:avLst/>
          </a:prstGeom>
          <a:noFill/>
          <a:ln/>
        </p:spPr>
        <p:txBody>
          <a:bodyPr wrap="square" lIns="0" tIns="0" rIns="0" bIns="0" rtlCol="0" anchor="ctr"/>
          <a:lstStyle/>
          <a:p>
            <a:pPr indent="0" marL="0">
              <a:buNone/>
            </a:pPr>
            <a:r>
              <a:rPr lang="en-US" sz="4600" b="1" dirty="0">
                <a:solidFill>
                  <a:srgbClr val="1C7293"/>
                </a:solidFill>
                <a:latin typeface="Cambria" pitchFamily="34" charset="0"/>
                <a:ea typeface="Cambria" pitchFamily="34" charset="-122"/>
                <a:cs typeface="Cambria" pitchFamily="34" charset="-120"/>
              </a:rPr>
              <a:t>787</a:t>
            </a:r>
            <a:endParaRPr lang="en-US" sz="4600" dirty="0"/>
          </a:p>
        </p:txBody>
      </p:sp>
      <p:sp>
        <p:nvSpPr>
          <p:cNvPr id="12" name="Text 9"/>
          <p:cNvSpPr/>
          <p:nvPr/>
        </p:nvSpPr>
        <p:spPr>
          <a:xfrm>
            <a:off x="822960" y="2715768"/>
            <a:ext cx="4846320" cy="822960"/>
          </a:xfrm>
          <a:prstGeom prst="rect">
            <a:avLst/>
          </a:prstGeom>
          <a:noFill/>
          <a:ln/>
        </p:spPr>
        <p:txBody>
          <a:bodyPr wrap="square" lIns="0" tIns="0" rIns="0" bIns="0" rtlCol="0" anchor="t"/>
          <a:lstStyle/>
          <a:p>
            <a:pPr indent="0" marL="0">
              <a:buNone/>
            </a:pPr>
            <a:r>
              <a:rPr lang="en-US" sz="1450" dirty="0">
                <a:solidFill>
                  <a:srgbClr val="1A2430"/>
                </a:solidFill>
                <a:latin typeface="Calibri" pitchFamily="34" charset="0"/>
                <a:ea typeface="Calibri" pitchFamily="34" charset="-122"/>
                <a:cs typeface="Calibri" pitchFamily="34" charset="-120"/>
              </a:rPr>
              <a:t>đối tượng Red Light toàn corpus — lớp PHỔ BIẾN NHẤT trong 15 lớp.</a:t>
            </a:r>
            <a:endParaRPr lang="en-US" sz="1450" dirty="0"/>
          </a:p>
        </p:txBody>
      </p:sp>
      <p:sp>
        <p:nvSpPr>
          <p:cNvPr id="13" name="Shape 10"/>
          <p:cNvSpPr/>
          <p:nvPr/>
        </p:nvSpPr>
        <p:spPr>
          <a:xfrm>
            <a:off x="6217920" y="1481328"/>
            <a:ext cx="5394960" cy="2194560"/>
          </a:xfrm>
          <a:prstGeom prst="roundRect">
            <a:avLst>
              <a:gd name="adj" fmla="val 4167"/>
            </a:avLst>
          </a:prstGeom>
          <a:solidFill>
            <a:srgbClr val="FDEEEE"/>
          </a:solidFill>
          <a:ln w="12700">
            <a:solidFill>
              <a:srgbClr val="E6ECF2"/>
            </a:solidFill>
            <a:prstDash val="solid"/>
          </a:ln>
          <a:effectLst>
            <a:outerShdw sx="100000" sy="100000" kx="0" ky="0" algn="bl" rotWithShape="0" blurRad="114300" dist="25400" dir="5400000">
              <a:srgbClr val="9FB0C0">
                <a:alpha val="22000"/>
              </a:srgbClr>
            </a:outerShdw>
          </a:effectLst>
        </p:spPr>
      </p:sp>
      <p:sp>
        <p:nvSpPr>
          <p:cNvPr id="14" name="Text 11"/>
          <p:cNvSpPr/>
          <p:nvPr/>
        </p:nvSpPr>
        <p:spPr>
          <a:xfrm>
            <a:off x="6492240" y="1755648"/>
            <a:ext cx="4846320" cy="914400"/>
          </a:xfrm>
          <a:prstGeom prst="rect">
            <a:avLst/>
          </a:prstGeom>
          <a:noFill/>
          <a:ln/>
        </p:spPr>
        <p:txBody>
          <a:bodyPr wrap="square" lIns="0" tIns="0" rIns="0" bIns="0" rtlCol="0" anchor="ctr"/>
          <a:lstStyle/>
          <a:p>
            <a:pPr indent="0" marL="0">
              <a:buNone/>
            </a:pPr>
            <a:r>
              <a:rPr lang="en-US" sz="4600" b="1" dirty="0">
                <a:solidFill>
                  <a:srgbClr val="E63946"/>
                </a:solidFill>
                <a:latin typeface="Cambria" pitchFamily="34" charset="0"/>
                <a:ea typeface="Cambria" pitchFamily="34" charset="-122"/>
                <a:cs typeface="Cambria" pitchFamily="34" charset="-120"/>
              </a:rPr>
              <a:t>0,506</a:t>
            </a:r>
            <a:endParaRPr lang="en-US" sz="4600" dirty="0"/>
          </a:p>
        </p:txBody>
      </p:sp>
      <p:sp>
        <p:nvSpPr>
          <p:cNvPr id="15" name="Text 12"/>
          <p:cNvSpPr/>
          <p:nvPr/>
        </p:nvSpPr>
        <p:spPr>
          <a:xfrm>
            <a:off x="6492240" y="2715768"/>
            <a:ext cx="4846320" cy="822960"/>
          </a:xfrm>
          <a:prstGeom prst="rect">
            <a:avLst/>
          </a:prstGeom>
          <a:noFill/>
          <a:ln/>
        </p:spPr>
        <p:txBody>
          <a:bodyPr wrap="square" lIns="0" tIns="0" rIns="0" bIns="0" rtlCol="0" anchor="t"/>
          <a:lstStyle/>
          <a:p>
            <a:pPr indent="0" marL="0">
              <a:buNone/>
            </a:pPr>
            <a:r>
              <a:rPr lang="en-US" sz="1450" dirty="0">
                <a:solidFill>
                  <a:srgbClr val="1A2430"/>
                </a:solidFill>
                <a:latin typeface="Calibri" pitchFamily="34" charset="0"/>
                <a:ea typeface="Calibri" pitchFamily="34" charset="-122"/>
                <a:cs typeface="Calibri" pitchFamily="34" charset="-120"/>
              </a:rPr>
              <a:t>mAP@0,5:0,95 của Red Light — lớp KÉM NHẤT trong 15 lớp.</a:t>
            </a:r>
            <a:endParaRPr lang="en-US" sz="1450" dirty="0"/>
          </a:p>
        </p:txBody>
      </p:sp>
      <p:sp>
        <p:nvSpPr>
          <p:cNvPr id="16" name="Shape 13"/>
          <p:cNvSpPr/>
          <p:nvPr/>
        </p:nvSpPr>
        <p:spPr>
          <a:xfrm>
            <a:off x="548640" y="3950208"/>
            <a:ext cx="11064240" cy="896112"/>
          </a:xfrm>
          <a:prstGeom prst="roundRect">
            <a:avLst>
              <a:gd name="adj" fmla="val 10204"/>
            </a:avLst>
          </a:prstGeom>
          <a:solidFill>
            <a:srgbClr val="E63946"/>
          </a:solidFill>
          <a:ln w="12700">
            <a:solidFill>
              <a:srgbClr val="333333"/>
            </a:solidFill>
            <a:prstDash val="solid"/>
          </a:ln>
          <a:effectLst>
            <a:outerShdw sx="100000" sy="100000" kx="0" ky="0" algn="bl" rotWithShape="0" blurRad="101600" dist="25400" dir="5400000">
              <a:srgbClr val="6E7C8A">
                <a:alpha val="30000"/>
              </a:srgbClr>
            </a:outerShdw>
          </a:effectLst>
        </p:spPr>
      </p:sp>
      <p:sp>
        <p:nvSpPr>
          <p:cNvPr id="17" name="Shape 14"/>
          <p:cNvSpPr/>
          <p:nvPr/>
        </p:nvSpPr>
        <p:spPr>
          <a:xfrm>
            <a:off x="804672" y="4315968"/>
            <a:ext cx="164592" cy="164592"/>
          </a:xfrm>
          <a:prstGeom prst="ellipse">
            <a:avLst/>
          </a:prstGeom>
          <a:solidFill>
            <a:srgbClr val="F4A261"/>
          </a:solidFill>
          <a:ln w="12700">
            <a:solidFill>
              <a:srgbClr val="333333"/>
            </a:solidFill>
            <a:prstDash val="solid"/>
          </a:ln>
        </p:spPr>
      </p:sp>
      <p:sp>
        <p:nvSpPr>
          <p:cNvPr id="18" name="Text 15"/>
          <p:cNvSpPr/>
          <p:nvPr/>
        </p:nvSpPr>
        <p:spPr>
          <a:xfrm>
            <a:off x="1133856" y="4023360"/>
            <a:ext cx="10222992" cy="749808"/>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Phổ biến nhất NHƯNG kém nhất — bằng chứng trực tiếp cho thấy độ hiếm không phải nguyên nhân. Vậy nguyên nhân là gì?</a:t>
            </a:r>
            <a:endParaRPr lang="en-US" sz="1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10789920" y="-1234440"/>
            <a:ext cx="2743200" cy="2743200"/>
          </a:xfrm>
          <a:prstGeom prst="ellipse">
            <a:avLst/>
          </a:prstGeom>
          <a:solidFill>
            <a:srgbClr val="EAF1F6"/>
          </a:solidFill>
          <a:ln w="12700">
            <a:solidFill>
              <a:srgbClr val="333333"/>
            </a:solidFill>
            <a:prstDash val="solid"/>
          </a:ln>
        </p:spPr>
      </p:sp>
      <p:sp>
        <p:nvSpPr>
          <p:cNvPr id="4" name="Shape 1"/>
          <p:cNvSpPr/>
          <p:nvPr/>
        </p:nvSpPr>
        <p:spPr>
          <a:xfrm>
            <a:off x="11475720" y="182880"/>
            <a:ext cx="822960" cy="822960"/>
          </a:xfrm>
          <a:prstGeom prst="ellipse">
            <a:avLst/>
          </a:prstGeom>
          <a:solidFill>
            <a:srgbClr val="DCE8F0"/>
          </a:solidFill>
          <a:ln w="12700">
            <a:solidFill>
              <a:srgbClr val="333333"/>
            </a:solidFill>
            <a:prstDash val="solid"/>
          </a:ln>
        </p:spPr>
      </p:sp>
      <p:sp>
        <p:nvSpPr>
          <p:cNvPr id="5" name="Shape 2"/>
          <p:cNvSpPr/>
          <p:nvPr/>
        </p:nvSpPr>
        <p:spPr>
          <a:xfrm>
            <a:off x="548640" y="6382512"/>
            <a:ext cx="11064240" cy="0"/>
          </a:xfrm>
          <a:prstGeom prst="line">
            <a:avLst/>
          </a:prstGeom>
          <a:noFill/>
          <a:ln w="12700">
            <a:solidFill>
              <a:srgbClr val="DDE3EA"/>
            </a:solidFill>
            <a:prstDash val="solid"/>
          </a:ln>
        </p:spPr>
      </p:sp>
      <p:sp>
        <p:nvSpPr>
          <p:cNvPr id="6" name="Text 3"/>
          <p:cNvSpPr/>
          <p:nvPr/>
        </p:nvSpPr>
        <p:spPr>
          <a:xfrm>
            <a:off x="548640" y="6419088"/>
            <a:ext cx="8686800" cy="274320"/>
          </a:xfrm>
          <a:prstGeom prst="rect">
            <a:avLst/>
          </a:prstGeom>
          <a:noFill/>
          <a:ln/>
        </p:spPr>
        <p:txBody>
          <a:bodyPr wrap="square" lIns="0" tIns="0" rIns="0" bIns="0" rtlCol="0" anchor="ctr"/>
          <a:lstStyle/>
          <a:p>
            <a:pPr indent="0" marL="0">
              <a:buNone/>
            </a:pPr>
            <a:r>
              <a:rPr lang="en-US" sz="900" dirty="0">
                <a:solidFill>
                  <a:srgbClr val="9AA7B4"/>
                </a:solidFill>
                <a:latin typeface="Calibri" pitchFamily="34" charset="0"/>
                <a:ea typeface="Calibri" pitchFamily="34" charset="-122"/>
                <a:cs typeface="Calibri" pitchFamily="34" charset="-120"/>
              </a:rPr>
              <a:t>Kiểm định độ tin cậy YOLOv8 · Nhóm KHMT836016/34/36</a:t>
            </a:r>
            <a:endParaRPr lang="en-US" sz="900" dirty="0"/>
          </a:p>
        </p:txBody>
      </p:sp>
      <p:sp>
        <p:nvSpPr>
          <p:cNvPr id="7" name="Text 4"/>
          <p:cNvSpPr/>
          <p:nvPr/>
        </p:nvSpPr>
        <p:spPr>
          <a:xfrm>
            <a:off x="11064240" y="6419088"/>
            <a:ext cx="548640" cy="274320"/>
          </a:xfrm>
          <a:prstGeom prst="rect">
            <a:avLst/>
          </a:prstGeom>
          <a:noFill/>
          <a:ln/>
        </p:spPr>
        <p:txBody>
          <a:bodyPr wrap="square" lIns="0" tIns="0" rIns="0" bIns="0" rtlCol="0" anchor="ctr"/>
          <a:lstStyle/>
          <a:p>
            <a:pPr algn="r" indent="0" marL="0">
              <a:buNone/>
            </a:pPr>
            <a:r>
              <a:rPr lang="en-US" sz="1000" b="1" dirty="0">
                <a:solidFill>
                  <a:srgbClr val="1C7293"/>
                </a:solidFill>
                <a:latin typeface="Calibri" pitchFamily="34" charset="0"/>
                <a:ea typeface="Calibri" pitchFamily="34" charset="-122"/>
                <a:cs typeface="Calibri" pitchFamily="34" charset="-120"/>
              </a:rPr>
              <a:t>34</a:t>
            </a:r>
            <a:endParaRPr lang="en-US" sz="1000" dirty="0"/>
          </a:p>
        </p:txBody>
      </p:sp>
      <p:sp>
        <p:nvSpPr>
          <p:cNvPr id="8" name="Shape 5"/>
          <p:cNvSpPr/>
          <p:nvPr/>
        </p:nvSpPr>
        <p:spPr>
          <a:xfrm>
            <a:off x="548640" y="457200"/>
            <a:ext cx="155448" cy="457200"/>
          </a:xfrm>
          <a:prstGeom prst="roundRect">
            <a:avLst>
              <a:gd name="adj" fmla="val 17647"/>
            </a:avLst>
          </a:prstGeom>
          <a:solidFill>
            <a:srgbClr val="1C7293"/>
          </a:solidFill>
          <a:ln w="12700">
            <a:solidFill>
              <a:srgbClr val="333333"/>
            </a:solidFill>
            <a:prstDash val="solid"/>
          </a:ln>
        </p:spPr>
      </p:sp>
      <p:sp>
        <p:nvSpPr>
          <p:cNvPr id="9" name="Text 6"/>
          <p:cNvSpPr/>
          <p:nvPr/>
        </p:nvSpPr>
        <p:spPr>
          <a:xfrm>
            <a:off x="877824" y="365760"/>
            <a:ext cx="10735056" cy="713232"/>
          </a:xfrm>
          <a:prstGeom prst="rect">
            <a:avLst/>
          </a:prstGeom>
          <a:noFill/>
          <a:ln/>
        </p:spPr>
        <p:txBody>
          <a:bodyPr wrap="square" lIns="0" tIns="0" rIns="0" bIns="0" rtlCol="0" anchor="ctr"/>
          <a:lstStyle/>
          <a:p>
            <a:pPr indent="0" marL="0">
              <a:buNone/>
            </a:pPr>
            <a:r>
              <a:rPr lang="en-US" sz="2500" b="1" dirty="0">
                <a:solidFill>
                  <a:srgbClr val="1A2430"/>
                </a:solidFill>
                <a:latin typeface="Cambria" pitchFamily="34" charset="0"/>
                <a:ea typeface="Cambria" pitchFamily="34" charset="-122"/>
                <a:cs typeface="Cambria" pitchFamily="34" charset="-120"/>
              </a:rPr>
              <a:t>C · Vì sao đèn tín hiệu khó? — bản chất vật thể</a:t>
            </a:r>
            <a:endParaRPr lang="en-US" sz="2500" dirty="0"/>
          </a:p>
        </p:txBody>
      </p:sp>
      <p:sp>
        <p:nvSpPr>
          <p:cNvPr id="10" name="Shape 7"/>
          <p:cNvSpPr/>
          <p:nvPr/>
        </p:nvSpPr>
        <p:spPr>
          <a:xfrm>
            <a:off x="548640" y="1481328"/>
            <a:ext cx="11064240" cy="731520"/>
          </a:xfrm>
          <a:prstGeom prst="roundRect">
            <a:avLst>
              <a:gd name="adj" fmla="val 12500"/>
            </a:avLst>
          </a:prstGeom>
          <a:solidFill>
            <a:srgbClr val="FFFFFF"/>
          </a:solidFill>
          <a:ln w="12700">
            <a:solidFill>
              <a:srgbClr val="E6ECF2"/>
            </a:solidFill>
            <a:prstDash val="solid"/>
          </a:ln>
          <a:effectLst>
            <a:outerShdw sx="100000" sy="100000" kx="0" ky="0" algn="bl" rotWithShape="0" blurRad="114300" dist="25400" dir="5400000">
              <a:srgbClr val="9FB0C0">
                <a:alpha val="22000"/>
              </a:srgbClr>
            </a:outerShdw>
          </a:effectLst>
        </p:spPr>
      </p:sp>
      <p:sp>
        <p:nvSpPr>
          <p:cNvPr id="11" name="Text 8"/>
          <p:cNvSpPr/>
          <p:nvPr/>
        </p:nvSpPr>
        <p:spPr>
          <a:xfrm>
            <a:off x="777240" y="1481328"/>
            <a:ext cx="2926080" cy="731520"/>
          </a:xfrm>
          <a:prstGeom prst="rect">
            <a:avLst/>
          </a:prstGeom>
          <a:noFill/>
          <a:ln/>
        </p:spPr>
        <p:txBody>
          <a:bodyPr wrap="square" lIns="0" tIns="0" rIns="0" bIns="0" rtlCol="0" anchor="ctr"/>
          <a:lstStyle/>
          <a:p>
            <a:pPr indent="0" marL="0">
              <a:buNone/>
            </a:pPr>
            <a:r>
              <a:rPr lang="en-US" sz="1500" b="1" dirty="0">
                <a:solidFill>
                  <a:srgbClr val="E63946"/>
                </a:solidFill>
                <a:latin typeface="Cambria" pitchFamily="34" charset="0"/>
                <a:ea typeface="Cambria" pitchFamily="34" charset="-122"/>
                <a:cs typeface="Cambria" pitchFamily="34" charset="-120"/>
              </a:rPr>
              <a:t>Kích thước nhỏ</a:t>
            </a:r>
            <a:endParaRPr lang="en-US" sz="1500" dirty="0"/>
          </a:p>
        </p:txBody>
      </p:sp>
      <p:sp>
        <p:nvSpPr>
          <p:cNvPr id="12" name="Text 9"/>
          <p:cNvSpPr/>
          <p:nvPr/>
        </p:nvSpPr>
        <p:spPr>
          <a:xfrm>
            <a:off x="3840480" y="1481328"/>
            <a:ext cx="7589520" cy="731520"/>
          </a:xfrm>
          <a:prstGeom prst="rect">
            <a:avLst/>
          </a:prstGeom>
          <a:noFill/>
          <a:ln/>
        </p:spPr>
        <p:txBody>
          <a:bodyPr wrap="square" lIns="0" tIns="0" rIns="0" bIns="0" rtlCol="0" anchor="ctr"/>
          <a:lstStyle/>
          <a:p>
            <a:pPr indent="0" marL="0">
              <a:buNone/>
            </a:pPr>
            <a:r>
              <a:rPr lang="en-US" sz="1350" dirty="0">
                <a:solidFill>
                  <a:srgbClr val="1A2430"/>
                </a:solidFill>
                <a:latin typeface="Calibri" pitchFamily="34" charset="0"/>
                <a:ea typeface="Calibri" pitchFamily="34" charset="-122"/>
                <a:cs typeface="Calibri" pitchFamily="34" charset="-120"/>
              </a:rPr>
              <a:t>Đèn thường ở xa, chiếm ít điểm ảnh — thuộc nhóm vật thể nhỏ khó phát hiện.</a:t>
            </a:r>
            <a:endParaRPr lang="en-US" sz="1350" dirty="0"/>
          </a:p>
        </p:txBody>
      </p:sp>
      <p:sp>
        <p:nvSpPr>
          <p:cNvPr id="13" name="Shape 10"/>
          <p:cNvSpPr/>
          <p:nvPr/>
        </p:nvSpPr>
        <p:spPr>
          <a:xfrm>
            <a:off x="548640" y="2322576"/>
            <a:ext cx="11064240" cy="731520"/>
          </a:xfrm>
          <a:prstGeom prst="roundRect">
            <a:avLst>
              <a:gd name="adj" fmla="val 12500"/>
            </a:avLst>
          </a:prstGeom>
          <a:solidFill>
            <a:srgbClr val="F4F7FA"/>
          </a:solidFill>
          <a:ln w="12700">
            <a:solidFill>
              <a:srgbClr val="E6ECF2"/>
            </a:solidFill>
            <a:prstDash val="solid"/>
          </a:ln>
          <a:effectLst>
            <a:outerShdw sx="100000" sy="100000" kx="0" ky="0" algn="bl" rotWithShape="0" blurRad="114300" dist="25400" dir="5400000">
              <a:srgbClr val="9FB0C0">
                <a:alpha val="22000"/>
              </a:srgbClr>
            </a:outerShdw>
          </a:effectLst>
        </p:spPr>
      </p:sp>
      <p:sp>
        <p:nvSpPr>
          <p:cNvPr id="14" name="Text 11"/>
          <p:cNvSpPr/>
          <p:nvPr/>
        </p:nvSpPr>
        <p:spPr>
          <a:xfrm>
            <a:off x="777240" y="2322576"/>
            <a:ext cx="2926080" cy="731520"/>
          </a:xfrm>
          <a:prstGeom prst="rect">
            <a:avLst/>
          </a:prstGeom>
          <a:noFill/>
          <a:ln/>
        </p:spPr>
        <p:txBody>
          <a:bodyPr wrap="square" lIns="0" tIns="0" rIns="0" bIns="0" rtlCol="0" anchor="ctr"/>
          <a:lstStyle/>
          <a:p>
            <a:pPr indent="0" marL="0">
              <a:buNone/>
            </a:pPr>
            <a:r>
              <a:rPr lang="en-US" sz="1500" b="1" dirty="0">
                <a:solidFill>
                  <a:srgbClr val="E63946"/>
                </a:solidFill>
                <a:latin typeface="Cambria" pitchFamily="34" charset="0"/>
                <a:ea typeface="Cambria" pitchFamily="34" charset="-122"/>
                <a:cs typeface="Cambria" pitchFamily="34" charset="-120"/>
              </a:rPr>
              <a:t>Độ tương phản thấp</a:t>
            </a:r>
            <a:endParaRPr lang="en-US" sz="1500" dirty="0"/>
          </a:p>
        </p:txBody>
      </p:sp>
      <p:sp>
        <p:nvSpPr>
          <p:cNvPr id="15" name="Text 12"/>
          <p:cNvSpPr/>
          <p:nvPr/>
        </p:nvSpPr>
        <p:spPr>
          <a:xfrm>
            <a:off x="3840480" y="2322576"/>
            <a:ext cx="7589520" cy="731520"/>
          </a:xfrm>
          <a:prstGeom prst="rect">
            <a:avLst/>
          </a:prstGeom>
          <a:noFill/>
          <a:ln/>
        </p:spPr>
        <p:txBody>
          <a:bodyPr wrap="square" lIns="0" tIns="0" rIns="0" bIns="0" rtlCol="0" anchor="ctr"/>
          <a:lstStyle/>
          <a:p>
            <a:pPr indent="0" marL="0">
              <a:buNone/>
            </a:pPr>
            <a:r>
              <a:rPr lang="en-US" sz="1350" dirty="0">
                <a:solidFill>
                  <a:srgbClr val="1A2430"/>
                </a:solidFill>
                <a:latin typeface="Calibri" pitchFamily="34" charset="0"/>
                <a:ea typeface="Calibri" pitchFamily="34" charset="-122"/>
                <a:cs typeface="Calibri" pitchFamily="34" charset="-120"/>
              </a:rPr>
              <a:t>Đèn trên nền trời/đường phức tạp, ánh sáng thay đổi.</a:t>
            </a:r>
            <a:endParaRPr lang="en-US" sz="1350" dirty="0"/>
          </a:p>
        </p:txBody>
      </p:sp>
      <p:sp>
        <p:nvSpPr>
          <p:cNvPr id="16" name="Shape 13"/>
          <p:cNvSpPr/>
          <p:nvPr/>
        </p:nvSpPr>
        <p:spPr>
          <a:xfrm>
            <a:off x="548640" y="3163824"/>
            <a:ext cx="11064240" cy="731520"/>
          </a:xfrm>
          <a:prstGeom prst="roundRect">
            <a:avLst>
              <a:gd name="adj" fmla="val 12500"/>
            </a:avLst>
          </a:prstGeom>
          <a:solidFill>
            <a:srgbClr val="FFFFFF"/>
          </a:solidFill>
          <a:ln w="12700">
            <a:solidFill>
              <a:srgbClr val="E6ECF2"/>
            </a:solidFill>
            <a:prstDash val="solid"/>
          </a:ln>
          <a:effectLst>
            <a:outerShdw sx="100000" sy="100000" kx="0" ky="0" algn="bl" rotWithShape="0" blurRad="114300" dist="25400" dir="5400000">
              <a:srgbClr val="9FB0C0">
                <a:alpha val="22000"/>
              </a:srgbClr>
            </a:outerShdw>
          </a:effectLst>
        </p:spPr>
      </p:sp>
      <p:sp>
        <p:nvSpPr>
          <p:cNvPr id="17" name="Text 14"/>
          <p:cNvSpPr/>
          <p:nvPr/>
        </p:nvSpPr>
        <p:spPr>
          <a:xfrm>
            <a:off x="777240" y="3163824"/>
            <a:ext cx="2926080" cy="731520"/>
          </a:xfrm>
          <a:prstGeom prst="rect">
            <a:avLst/>
          </a:prstGeom>
          <a:noFill/>
          <a:ln/>
        </p:spPr>
        <p:txBody>
          <a:bodyPr wrap="square" lIns="0" tIns="0" rIns="0" bIns="0" rtlCol="0" anchor="ctr"/>
          <a:lstStyle/>
          <a:p>
            <a:pPr indent="0" marL="0">
              <a:buNone/>
            </a:pPr>
            <a:r>
              <a:rPr lang="en-US" sz="1500" b="1" dirty="0">
                <a:solidFill>
                  <a:srgbClr val="E63946"/>
                </a:solidFill>
                <a:latin typeface="Cambria" pitchFamily="34" charset="0"/>
                <a:ea typeface="Cambria" pitchFamily="34" charset="-122"/>
                <a:cs typeface="Cambria" pitchFamily="34" charset="-120"/>
              </a:rPr>
              <a:t>Đỏ ↔ xanh dễ nhầm</a:t>
            </a:r>
            <a:endParaRPr lang="en-US" sz="1500" dirty="0"/>
          </a:p>
        </p:txBody>
      </p:sp>
      <p:sp>
        <p:nvSpPr>
          <p:cNvPr id="18" name="Text 15"/>
          <p:cNvSpPr/>
          <p:nvPr/>
        </p:nvSpPr>
        <p:spPr>
          <a:xfrm>
            <a:off x="3840480" y="3163824"/>
            <a:ext cx="7589520" cy="731520"/>
          </a:xfrm>
          <a:prstGeom prst="rect">
            <a:avLst/>
          </a:prstGeom>
          <a:noFill/>
          <a:ln/>
        </p:spPr>
        <p:txBody>
          <a:bodyPr wrap="square" lIns="0" tIns="0" rIns="0" bIns="0" rtlCol="0" anchor="ctr"/>
          <a:lstStyle/>
          <a:p>
            <a:pPr indent="0" marL="0">
              <a:buNone/>
            </a:pPr>
            <a:r>
              <a:rPr lang="en-US" sz="1350" dirty="0">
                <a:solidFill>
                  <a:srgbClr val="1A2430"/>
                </a:solidFill>
                <a:latin typeface="Calibri" pitchFamily="34" charset="0"/>
                <a:ea typeface="Calibri" pitchFamily="34" charset="-122"/>
                <a:cs typeface="Calibri" pitchFamily="34" charset="-120"/>
              </a:rPr>
              <a:t>Hai lớp cùng hình dạng, chỉ khác màu — dễ nhầm về hình học.</a:t>
            </a:r>
            <a:endParaRPr lang="en-US" sz="1350" dirty="0"/>
          </a:p>
        </p:txBody>
      </p:sp>
      <p:sp>
        <p:nvSpPr>
          <p:cNvPr id="19" name="Shape 16"/>
          <p:cNvSpPr/>
          <p:nvPr/>
        </p:nvSpPr>
        <p:spPr>
          <a:xfrm>
            <a:off x="548640" y="4005072"/>
            <a:ext cx="11064240" cy="731520"/>
          </a:xfrm>
          <a:prstGeom prst="roundRect">
            <a:avLst>
              <a:gd name="adj" fmla="val 12500"/>
            </a:avLst>
          </a:prstGeom>
          <a:solidFill>
            <a:srgbClr val="F4F7FA"/>
          </a:solidFill>
          <a:ln w="12700">
            <a:solidFill>
              <a:srgbClr val="E6ECF2"/>
            </a:solidFill>
            <a:prstDash val="solid"/>
          </a:ln>
          <a:effectLst>
            <a:outerShdw sx="100000" sy="100000" kx="0" ky="0" algn="bl" rotWithShape="0" blurRad="114300" dist="25400" dir="5400000">
              <a:srgbClr val="9FB0C0">
                <a:alpha val="22000"/>
              </a:srgbClr>
            </a:outerShdw>
          </a:effectLst>
        </p:spPr>
      </p:sp>
      <p:sp>
        <p:nvSpPr>
          <p:cNvPr id="20" name="Text 17"/>
          <p:cNvSpPr/>
          <p:nvPr/>
        </p:nvSpPr>
        <p:spPr>
          <a:xfrm>
            <a:off x="777240" y="4005072"/>
            <a:ext cx="2926080" cy="731520"/>
          </a:xfrm>
          <a:prstGeom prst="rect">
            <a:avLst/>
          </a:prstGeom>
          <a:noFill/>
          <a:ln/>
        </p:spPr>
        <p:txBody>
          <a:bodyPr wrap="square" lIns="0" tIns="0" rIns="0" bIns="0" rtlCol="0" anchor="ctr"/>
          <a:lstStyle/>
          <a:p>
            <a:pPr indent="0" marL="0">
              <a:buNone/>
            </a:pPr>
            <a:r>
              <a:rPr lang="en-US" sz="1500" b="1" dirty="0">
                <a:solidFill>
                  <a:srgbClr val="E63946"/>
                </a:solidFill>
                <a:latin typeface="Cambria" pitchFamily="34" charset="0"/>
                <a:ea typeface="Cambria" pitchFamily="34" charset="-122"/>
                <a:cs typeface="Cambria" pitchFamily="34" charset="-120"/>
              </a:rPr>
              <a:t>Recall thấp</a:t>
            </a:r>
            <a:endParaRPr lang="en-US" sz="1500" dirty="0"/>
          </a:p>
        </p:txBody>
      </p:sp>
      <p:sp>
        <p:nvSpPr>
          <p:cNvPr id="21" name="Text 18"/>
          <p:cNvSpPr/>
          <p:nvPr/>
        </p:nvSpPr>
        <p:spPr>
          <a:xfrm>
            <a:off x="3840480" y="4005072"/>
            <a:ext cx="7589520" cy="731520"/>
          </a:xfrm>
          <a:prstGeom prst="rect">
            <a:avLst/>
          </a:prstGeom>
          <a:noFill/>
          <a:ln/>
        </p:spPr>
        <p:txBody>
          <a:bodyPr wrap="square" lIns="0" tIns="0" rIns="0" bIns="0" rtlCol="0" anchor="ctr"/>
          <a:lstStyle/>
          <a:p>
            <a:pPr indent="0" marL="0">
              <a:buNone/>
            </a:pPr>
            <a:r>
              <a:rPr lang="en-US" sz="1350" dirty="0">
                <a:solidFill>
                  <a:srgbClr val="1A2430"/>
                </a:solidFill>
                <a:latin typeface="Calibri" pitchFamily="34" charset="0"/>
                <a:ea typeface="Calibri" pitchFamily="34" charset="-122"/>
                <a:cs typeface="Calibri" pitchFamily="34" charset="-120"/>
              </a:rPr>
              <a:t>Red Light recall chỉ 0,755 — mô hình BỎ SÓT nhiều đèn thật.</a:t>
            </a:r>
            <a:endParaRPr lang="en-US" sz="1350" dirty="0"/>
          </a:p>
        </p:txBody>
      </p:sp>
      <p:sp>
        <p:nvSpPr>
          <p:cNvPr id="22" name="Text 19"/>
          <p:cNvSpPr/>
          <p:nvPr/>
        </p:nvSpPr>
        <p:spPr>
          <a:xfrm>
            <a:off x="548640" y="4956048"/>
            <a:ext cx="11064240" cy="457200"/>
          </a:xfrm>
          <a:prstGeom prst="rect">
            <a:avLst/>
          </a:prstGeom>
          <a:noFill/>
          <a:ln/>
        </p:spPr>
        <p:txBody>
          <a:bodyPr wrap="square" lIns="0" tIns="0" rIns="0" bIns="0" rtlCol="0" anchor="ctr"/>
          <a:lstStyle/>
          <a:p>
            <a:pPr indent="0" marL="0">
              <a:buNone/>
            </a:pPr>
            <a:r>
              <a:rPr lang="en-US" sz="1450" b="1" dirty="0">
                <a:solidFill>
                  <a:srgbClr val="1C7293"/>
                </a:solidFill>
                <a:latin typeface="Calibri" pitchFamily="34" charset="0"/>
                <a:ea typeface="Calibri" pitchFamily="34" charset="-122"/>
                <a:cs typeface="Calibri" pitchFamily="34" charset="-120"/>
              </a:rPr>
              <a:t>→ Đây là vấn đề của LOẠI VẬT THỂ, cần giải pháp riêng cho đèn — không phải cân bằng lại dữ liệu.</a:t>
            </a:r>
            <a:endParaRPr lang="en-US" sz="14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152238"/>
        </a:solidFill>
      </p:bgPr>
    </p:bg>
    <p:spTree>
      <p:nvGrpSpPr>
        <p:cNvPr id="1" name=""/>
        <p:cNvGrpSpPr/>
        <p:nvPr/>
      </p:nvGrpSpPr>
      <p:grpSpPr>
        <a:xfrm>
          <a:off x="0" y="0"/>
          <a:ext cx="0" cy="0"/>
          <a:chOff x="0" y="0"/>
          <a:chExt cx="0" cy="0"/>
        </a:xfrm>
      </p:grpSpPr>
      <p:sp>
        <p:nvSpPr>
          <p:cNvPr id="3" name="Text 0"/>
          <p:cNvSpPr/>
          <p:nvPr/>
        </p:nvSpPr>
        <p:spPr>
          <a:xfrm>
            <a:off x="548640" y="548640"/>
            <a:ext cx="11064240" cy="73152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Nhận xét C — Hiếm ≠ Khó</a:t>
            </a:r>
            <a:endParaRPr lang="en-US" sz="3000" dirty="0"/>
          </a:p>
        </p:txBody>
      </p:sp>
      <p:sp>
        <p:nvSpPr>
          <p:cNvPr id="4" name="Shape 1"/>
          <p:cNvSpPr/>
          <p:nvPr/>
        </p:nvSpPr>
        <p:spPr>
          <a:xfrm>
            <a:off x="548640" y="1554480"/>
            <a:ext cx="11064240" cy="896112"/>
          </a:xfrm>
          <a:prstGeom prst="roundRect">
            <a:avLst>
              <a:gd name="adj" fmla="val 10204"/>
            </a:avLst>
          </a:prstGeom>
          <a:solidFill>
            <a:srgbClr val="1E3050"/>
          </a:solidFill>
          <a:ln w="12700">
            <a:solidFill>
              <a:srgbClr val="E6ECF2"/>
            </a:solidFill>
            <a:prstDash val="solid"/>
          </a:ln>
          <a:effectLst>
            <a:outerShdw sx="100000" sy="100000" kx="0" ky="0" algn="bl" rotWithShape="0" blurRad="114300" dist="25400" dir="5400000">
              <a:srgbClr val="9FB0C0">
                <a:alpha val="22000"/>
              </a:srgbClr>
            </a:outerShdw>
          </a:effectLst>
        </p:spPr>
      </p:sp>
      <p:sp>
        <p:nvSpPr>
          <p:cNvPr id="5" name="Text 2"/>
          <p:cNvSpPr/>
          <p:nvPr/>
        </p:nvSpPr>
        <p:spPr>
          <a:xfrm>
            <a:off x="868680" y="1600200"/>
            <a:ext cx="5120640" cy="804672"/>
          </a:xfrm>
          <a:prstGeom prst="rect">
            <a:avLst/>
          </a:prstGeom>
          <a:noFill/>
          <a:ln/>
        </p:spPr>
        <p:txBody>
          <a:bodyPr wrap="square" lIns="0" tIns="0" rIns="0" bIns="0" rtlCol="0" anchor="ctr"/>
          <a:lstStyle/>
          <a:p>
            <a:pPr indent="0" marL="0">
              <a:buNone/>
            </a:pPr>
            <a:r>
              <a:rPr lang="en-US" sz="1600" b="1" dirty="0">
                <a:solidFill>
                  <a:srgbClr val="7FC99B"/>
                </a:solidFill>
                <a:latin typeface="Cambria" pitchFamily="34" charset="0"/>
                <a:ea typeface="Cambria" pitchFamily="34" charset="-122"/>
                <a:cs typeface="Cambria" pitchFamily="34" charset="-120"/>
              </a:rPr>
              <a:t>Spearman ρ = 0,032 (p = 0,91)</a:t>
            </a:r>
            <a:endParaRPr lang="en-US" sz="1600" dirty="0"/>
          </a:p>
        </p:txBody>
      </p:sp>
      <p:sp>
        <p:nvSpPr>
          <p:cNvPr id="6" name="Text 3"/>
          <p:cNvSpPr/>
          <p:nvPr/>
        </p:nvSpPr>
        <p:spPr>
          <a:xfrm>
            <a:off x="6126480" y="1600200"/>
            <a:ext cx="5212080" cy="804672"/>
          </a:xfrm>
          <a:prstGeom prst="rect">
            <a:avLst/>
          </a:prstGeom>
          <a:noFill/>
          <a:ln/>
        </p:spPr>
        <p:txBody>
          <a:bodyPr wrap="square" lIns="0" tIns="0" rIns="0" bIns="0" rtlCol="0" anchor="ctr"/>
          <a:lstStyle/>
          <a:p>
            <a:pPr indent="0" marL="0">
              <a:buNone/>
            </a:pPr>
            <a:r>
              <a:rPr lang="en-US" sz="1450" dirty="0">
                <a:solidFill>
                  <a:srgbClr val="C6D4E2"/>
                </a:solidFill>
                <a:latin typeface="Calibri" pitchFamily="34" charset="0"/>
                <a:ea typeface="Calibri" pitchFamily="34" charset="-122"/>
                <a:cs typeface="Calibri" pitchFamily="34" charset="-120"/>
              </a:rPr>
              <a:t>độ hiếm và hiệu năng KHÔNG tương quan</a:t>
            </a:r>
            <a:endParaRPr lang="en-US" sz="1450" dirty="0"/>
          </a:p>
        </p:txBody>
      </p:sp>
      <p:sp>
        <p:nvSpPr>
          <p:cNvPr id="7" name="Shape 4"/>
          <p:cNvSpPr/>
          <p:nvPr/>
        </p:nvSpPr>
        <p:spPr>
          <a:xfrm>
            <a:off x="548640" y="2606040"/>
            <a:ext cx="11064240" cy="896112"/>
          </a:xfrm>
          <a:prstGeom prst="roundRect">
            <a:avLst>
              <a:gd name="adj" fmla="val 10204"/>
            </a:avLst>
          </a:prstGeom>
          <a:solidFill>
            <a:srgbClr val="1E3050"/>
          </a:solidFill>
          <a:ln w="12700">
            <a:solidFill>
              <a:srgbClr val="E6ECF2"/>
            </a:solidFill>
            <a:prstDash val="solid"/>
          </a:ln>
          <a:effectLst>
            <a:outerShdw sx="100000" sy="100000" kx="0" ky="0" algn="bl" rotWithShape="0" blurRad="114300" dist="25400" dir="5400000">
              <a:srgbClr val="9FB0C0">
                <a:alpha val="22000"/>
              </a:srgbClr>
            </a:outerShdw>
          </a:effectLst>
        </p:spPr>
      </p:sp>
      <p:sp>
        <p:nvSpPr>
          <p:cNvPr id="8" name="Text 5"/>
          <p:cNvSpPr/>
          <p:nvPr/>
        </p:nvSpPr>
        <p:spPr>
          <a:xfrm>
            <a:off x="868680" y="2651760"/>
            <a:ext cx="5120640" cy="804672"/>
          </a:xfrm>
          <a:prstGeom prst="rect">
            <a:avLst/>
          </a:prstGeom>
          <a:noFill/>
          <a:ln/>
        </p:spPr>
        <p:txBody>
          <a:bodyPr wrap="square" lIns="0" tIns="0" rIns="0" bIns="0" rtlCol="0" anchor="ctr"/>
          <a:lstStyle/>
          <a:p>
            <a:pPr indent="0" marL="0">
              <a:buNone/>
            </a:pPr>
            <a:r>
              <a:rPr lang="en-US" sz="1600" b="1" dirty="0">
                <a:solidFill>
                  <a:srgbClr val="7FC99B"/>
                </a:solidFill>
                <a:latin typeface="Cambria" pitchFamily="34" charset="0"/>
                <a:ea typeface="Cambria" pitchFamily="34" charset="-122"/>
                <a:cs typeface="Cambria" pitchFamily="34" charset="-120"/>
              </a:rPr>
              <a:t>Red Light phổ biến nhất → kém nhất</a:t>
            </a:r>
            <a:endParaRPr lang="en-US" sz="1600" dirty="0"/>
          </a:p>
        </p:txBody>
      </p:sp>
      <p:sp>
        <p:nvSpPr>
          <p:cNvPr id="9" name="Text 6"/>
          <p:cNvSpPr/>
          <p:nvPr/>
        </p:nvSpPr>
        <p:spPr>
          <a:xfrm>
            <a:off x="6126480" y="2651760"/>
            <a:ext cx="5212080" cy="804672"/>
          </a:xfrm>
          <a:prstGeom prst="rect">
            <a:avLst/>
          </a:prstGeom>
          <a:noFill/>
          <a:ln/>
        </p:spPr>
        <p:txBody>
          <a:bodyPr wrap="square" lIns="0" tIns="0" rIns="0" bIns="0" rtlCol="0" anchor="ctr"/>
          <a:lstStyle/>
          <a:p>
            <a:pPr indent="0" marL="0">
              <a:buNone/>
            </a:pPr>
            <a:r>
              <a:rPr lang="en-US" sz="1450" dirty="0">
                <a:solidFill>
                  <a:srgbClr val="C6D4E2"/>
                </a:solidFill>
                <a:latin typeface="Calibri" pitchFamily="34" charset="0"/>
                <a:ea typeface="Calibri" pitchFamily="34" charset="-122"/>
                <a:cs typeface="Calibri" pitchFamily="34" charset="-120"/>
              </a:rPr>
              <a:t>nghịch lý bác bỏ giả thuyết mất cân bằng</a:t>
            </a:r>
            <a:endParaRPr lang="en-US" sz="1450" dirty="0"/>
          </a:p>
        </p:txBody>
      </p:sp>
      <p:sp>
        <p:nvSpPr>
          <p:cNvPr id="10" name="Shape 7"/>
          <p:cNvSpPr/>
          <p:nvPr/>
        </p:nvSpPr>
        <p:spPr>
          <a:xfrm>
            <a:off x="548640" y="3657600"/>
            <a:ext cx="11064240" cy="896112"/>
          </a:xfrm>
          <a:prstGeom prst="roundRect">
            <a:avLst>
              <a:gd name="adj" fmla="val 10204"/>
            </a:avLst>
          </a:prstGeom>
          <a:solidFill>
            <a:srgbClr val="1E3050"/>
          </a:solidFill>
          <a:ln w="12700">
            <a:solidFill>
              <a:srgbClr val="E6ECF2"/>
            </a:solidFill>
            <a:prstDash val="solid"/>
          </a:ln>
          <a:effectLst>
            <a:outerShdw sx="100000" sy="100000" kx="0" ky="0" algn="bl" rotWithShape="0" blurRad="114300" dist="25400" dir="5400000">
              <a:srgbClr val="9FB0C0">
                <a:alpha val="22000"/>
              </a:srgbClr>
            </a:outerShdw>
          </a:effectLst>
        </p:spPr>
      </p:sp>
      <p:sp>
        <p:nvSpPr>
          <p:cNvPr id="11" name="Text 8"/>
          <p:cNvSpPr/>
          <p:nvPr/>
        </p:nvSpPr>
        <p:spPr>
          <a:xfrm>
            <a:off x="868680" y="3703320"/>
            <a:ext cx="5120640" cy="804672"/>
          </a:xfrm>
          <a:prstGeom prst="rect">
            <a:avLst/>
          </a:prstGeom>
          <a:noFill/>
          <a:ln/>
        </p:spPr>
        <p:txBody>
          <a:bodyPr wrap="square" lIns="0" tIns="0" rIns="0" bIns="0" rtlCol="0" anchor="ctr"/>
          <a:lstStyle/>
          <a:p>
            <a:pPr indent="0" marL="0">
              <a:buNone/>
            </a:pPr>
            <a:r>
              <a:rPr lang="en-US" sz="1600" b="1" dirty="0">
                <a:solidFill>
                  <a:srgbClr val="7FC99B"/>
                </a:solidFill>
                <a:latin typeface="Cambria" pitchFamily="34" charset="0"/>
                <a:ea typeface="Cambria" pitchFamily="34" charset="-122"/>
                <a:cs typeface="Cambria" pitchFamily="34" charset="-120"/>
              </a:rPr>
              <a:t>Nguyên nhân: bản chất vật thể</a:t>
            </a:r>
            <a:endParaRPr lang="en-US" sz="1600" dirty="0"/>
          </a:p>
        </p:txBody>
      </p:sp>
      <p:sp>
        <p:nvSpPr>
          <p:cNvPr id="12" name="Text 9"/>
          <p:cNvSpPr/>
          <p:nvPr/>
        </p:nvSpPr>
        <p:spPr>
          <a:xfrm>
            <a:off x="6126480" y="3703320"/>
            <a:ext cx="5212080" cy="804672"/>
          </a:xfrm>
          <a:prstGeom prst="rect">
            <a:avLst/>
          </a:prstGeom>
          <a:noFill/>
          <a:ln/>
        </p:spPr>
        <p:txBody>
          <a:bodyPr wrap="square" lIns="0" tIns="0" rIns="0" bIns="0" rtlCol="0" anchor="ctr"/>
          <a:lstStyle/>
          <a:p>
            <a:pPr indent="0" marL="0">
              <a:buNone/>
            </a:pPr>
            <a:r>
              <a:rPr lang="en-US" sz="1450" dirty="0">
                <a:solidFill>
                  <a:srgbClr val="C6D4E2"/>
                </a:solidFill>
                <a:latin typeface="Calibri" pitchFamily="34" charset="0"/>
                <a:ea typeface="Calibri" pitchFamily="34" charset="-122"/>
                <a:cs typeface="Calibri" pitchFamily="34" charset="-120"/>
              </a:rPr>
              <a:t>đèn nhỏ, tương phản thấp, đỏ/xanh dễ nhầm</a:t>
            </a:r>
            <a:endParaRPr lang="en-US" sz="1450" dirty="0"/>
          </a:p>
        </p:txBody>
      </p:sp>
      <p:sp>
        <p:nvSpPr>
          <p:cNvPr id="13" name="Shape 10"/>
          <p:cNvSpPr/>
          <p:nvPr/>
        </p:nvSpPr>
        <p:spPr>
          <a:xfrm>
            <a:off x="548640" y="4709160"/>
            <a:ext cx="11064240" cy="896112"/>
          </a:xfrm>
          <a:prstGeom prst="roundRect">
            <a:avLst>
              <a:gd name="adj" fmla="val 10204"/>
            </a:avLst>
          </a:prstGeom>
          <a:solidFill>
            <a:srgbClr val="1E3050"/>
          </a:solidFill>
          <a:ln w="12700">
            <a:solidFill>
              <a:srgbClr val="E6ECF2"/>
            </a:solidFill>
            <a:prstDash val="solid"/>
          </a:ln>
          <a:effectLst>
            <a:outerShdw sx="100000" sy="100000" kx="0" ky="0" algn="bl" rotWithShape="0" blurRad="114300" dist="25400" dir="5400000">
              <a:srgbClr val="9FB0C0">
                <a:alpha val="22000"/>
              </a:srgbClr>
            </a:outerShdw>
          </a:effectLst>
        </p:spPr>
      </p:sp>
      <p:sp>
        <p:nvSpPr>
          <p:cNvPr id="14" name="Text 11"/>
          <p:cNvSpPr/>
          <p:nvPr/>
        </p:nvSpPr>
        <p:spPr>
          <a:xfrm>
            <a:off x="868680" y="4754880"/>
            <a:ext cx="5120640" cy="804672"/>
          </a:xfrm>
          <a:prstGeom prst="rect">
            <a:avLst/>
          </a:prstGeom>
          <a:noFill/>
          <a:ln/>
        </p:spPr>
        <p:txBody>
          <a:bodyPr wrap="square" lIns="0" tIns="0" rIns="0" bIns="0" rtlCol="0" anchor="ctr"/>
          <a:lstStyle/>
          <a:p>
            <a:pPr indent="0" marL="0">
              <a:buNone/>
            </a:pPr>
            <a:r>
              <a:rPr lang="en-US" sz="1600" b="1" dirty="0">
                <a:solidFill>
                  <a:srgbClr val="7FC99B"/>
                </a:solidFill>
                <a:latin typeface="Cambria" pitchFamily="34" charset="0"/>
                <a:ea typeface="Cambria" pitchFamily="34" charset="-122"/>
                <a:cs typeface="Cambria" pitchFamily="34" charset="-120"/>
              </a:rPr>
              <a:t>Không oversampling để sửa</a:t>
            </a:r>
            <a:endParaRPr lang="en-US" sz="1600" dirty="0"/>
          </a:p>
        </p:txBody>
      </p:sp>
      <p:sp>
        <p:nvSpPr>
          <p:cNvPr id="15" name="Text 12"/>
          <p:cNvSpPr/>
          <p:nvPr/>
        </p:nvSpPr>
        <p:spPr>
          <a:xfrm>
            <a:off x="6126480" y="4754880"/>
            <a:ext cx="5212080" cy="804672"/>
          </a:xfrm>
          <a:prstGeom prst="rect">
            <a:avLst/>
          </a:prstGeom>
          <a:noFill/>
          <a:ln/>
        </p:spPr>
        <p:txBody>
          <a:bodyPr wrap="square" lIns="0" tIns="0" rIns="0" bIns="0" rtlCol="0" anchor="ctr"/>
          <a:lstStyle/>
          <a:p>
            <a:pPr indent="0" marL="0">
              <a:buNone/>
            </a:pPr>
            <a:r>
              <a:rPr lang="en-US" sz="1450" dirty="0">
                <a:solidFill>
                  <a:srgbClr val="C6D4E2"/>
                </a:solidFill>
                <a:latin typeface="Calibri" pitchFamily="34" charset="0"/>
                <a:ea typeface="Calibri" pitchFamily="34" charset="-122"/>
                <a:cs typeface="Calibri" pitchFamily="34" charset="-120"/>
              </a:rPr>
              <a:t>vì độ hiếm không phải nguyên nhân</a:t>
            </a:r>
            <a:endParaRPr lang="en-US" sz="14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152238"/>
        </a:solidFill>
      </p:bgPr>
    </p:bg>
    <p:spTree>
      <p:nvGrpSpPr>
        <p:cNvPr id="1" name=""/>
        <p:cNvGrpSpPr/>
        <p:nvPr/>
      </p:nvGrpSpPr>
      <p:grpSpPr>
        <a:xfrm>
          <a:off x="0" y="0"/>
          <a:ext cx="0" cy="0"/>
          <a:chOff x="0" y="0"/>
          <a:chExt cx="0" cy="0"/>
        </a:xfrm>
      </p:grpSpPr>
      <p:sp>
        <p:nvSpPr>
          <p:cNvPr id="3" name="Shape 0"/>
          <p:cNvSpPr/>
          <p:nvPr/>
        </p:nvSpPr>
        <p:spPr>
          <a:xfrm>
            <a:off x="548640" y="2286000"/>
            <a:ext cx="749808" cy="749808"/>
          </a:xfrm>
          <a:prstGeom prst="ellipse">
            <a:avLst/>
          </a:prstGeom>
          <a:solidFill>
            <a:srgbClr val="1C7293"/>
          </a:solidFill>
          <a:ln w="12700">
            <a:solidFill>
              <a:srgbClr val="333333"/>
            </a:solidFill>
            <a:prstDash val="solid"/>
          </a:ln>
          <a:effectLst>
            <a:outerShdw sx="100000" sy="100000" kx="0" ky="0" algn="bl" rotWithShape="0" blurRad="63500" dist="12700" dir="5400000">
              <a:srgbClr val="1C7293">
                <a:alpha val="35000"/>
              </a:srgbClr>
            </a:outerShdw>
          </a:effectLst>
        </p:spPr>
      </p:sp>
      <p:sp>
        <p:nvSpPr>
          <p:cNvPr id="4" name="Text 1"/>
          <p:cNvSpPr/>
          <p:nvPr/>
        </p:nvSpPr>
        <p:spPr>
          <a:xfrm>
            <a:off x="548640" y="2286000"/>
            <a:ext cx="749808" cy="74980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5" name="Text 2"/>
          <p:cNvSpPr/>
          <p:nvPr/>
        </p:nvSpPr>
        <p:spPr>
          <a:xfrm>
            <a:off x="548640" y="3200400"/>
            <a:ext cx="11064240" cy="82296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Demo phát hiện trực tiếp</a:t>
            </a:r>
            <a:endParaRPr lang="en-US" sz="3800" dirty="0"/>
          </a:p>
        </p:txBody>
      </p:sp>
      <p:sp>
        <p:nvSpPr>
          <p:cNvPr id="6" name="Text 3"/>
          <p:cNvSpPr/>
          <p:nvPr/>
        </p:nvSpPr>
        <p:spPr>
          <a:xfrm>
            <a:off x="548640" y="4041648"/>
            <a:ext cx="9784080" cy="548640"/>
          </a:xfrm>
          <a:prstGeom prst="rect">
            <a:avLst/>
          </a:prstGeom>
          <a:noFill/>
          <a:ln/>
        </p:spPr>
        <p:txBody>
          <a:bodyPr wrap="square" lIns="0" tIns="0" rIns="0" bIns="0" rtlCol="0" anchor="ctr"/>
          <a:lstStyle/>
          <a:p>
            <a:pPr indent="0" marL="0">
              <a:buNone/>
            </a:pPr>
            <a:r>
              <a:rPr lang="en-US" sz="1600" dirty="0">
                <a:solidFill>
                  <a:srgbClr val="9DB2C6"/>
                </a:solidFill>
                <a:latin typeface="Calibri" pitchFamily="34" charset="0"/>
                <a:ea typeface="Calibri" pitchFamily="34" charset="-122"/>
                <a:cs typeface="Calibri" pitchFamily="34" charset="-120"/>
              </a:rPr>
              <a:t>Upload ảnh → YOLOv8 vẽ hộp → gắn độ tin cậy đã kiểm định</a:t>
            </a:r>
            <a:endParaRPr lang="en-US" sz="16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10789920" y="-1234440"/>
            <a:ext cx="2743200" cy="2743200"/>
          </a:xfrm>
          <a:prstGeom prst="ellipse">
            <a:avLst/>
          </a:prstGeom>
          <a:solidFill>
            <a:srgbClr val="EAF1F6"/>
          </a:solidFill>
          <a:ln w="12700">
            <a:solidFill>
              <a:srgbClr val="333333"/>
            </a:solidFill>
            <a:prstDash val="solid"/>
          </a:ln>
        </p:spPr>
      </p:sp>
      <p:sp>
        <p:nvSpPr>
          <p:cNvPr id="4" name="Shape 1"/>
          <p:cNvSpPr/>
          <p:nvPr/>
        </p:nvSpPr>
        <p:spPr>
          <a:xfrm>
            <a:off x="11475720" y="182880"/>
            <a:ext cx="822960" cy="822960"/>
          </a:xfrm>
          <a:prstGeom prst="ellipse">
            <a:avLst/>
          </a:prstGeom>
          <a:solidFill>
            <a:srgbClr val="DCE8F0"/>
          </a:solidFill>
          <a:ln w="12700">
            <a:solidFill>
              <a:srgbClr val="333333"/>
            </a:solidFill>
            <a:prstDash val="solid"/>
          </a:ln>
        </p:spPr>
      </p:sp>
      <p:sp>
        <p:nvSpPr>
          <p:cNvPr id="5" name="Shape 2"/>
          <p:cNvSpPr/>
          <p:nvPr/>
        </p:nvSpPr>
        <p:spPr>
          <a:xfrm>
            <a:off x="548640" y="6382512"/>
            <a:ext cx="11064240" cy="0"/>
          </a:xfrm>
          <a:prstGeom prst="line">
            <a:avLst/>
          </a:prstGeom>
          <a:noFill/>
          <a:ln w="12700">
            <a:solidFill>
              <a:srgbClr val="DDE3EA"/>
            </a:solidFill>
            <a:prstDash val="solid"/>
          </a:ln>
        </p:spPr>
      </p:sp>
      <p:sp>
        <p:nvSpPr>
          <p:cNvPr id="6" name="Text 3"/>
          <p:cNvSpPr/>
          <p:nvPr/>
        </p:nvSpPr>
        <p:spPr>
          <a:xfrm>
            <a:off x="548640" y="6419088"/>
            <a:ext cx="8686800" cy="274320"/>
          </a:xfrm>
          <a:prstGeom prst="rect">
            <a:avLst/>
          </a:prstGeom>
          <a:noFill/>
          <a:ln/>
        </p:spPr>
        <p:txBody>
          <a:bodyPr wrap="square" lIns="0" tIns="0" rIns="0" bIns="0" rtlCol="0" anchor="ctr"/>
          <a:lstStyle/>
          <a:p>
            <a:pPr indent="0" marL="0">
              <a:buNone/>
            </a:pPr>
            <a:r>
              <a:rPr lang="en-US" sz="900" dirty="0">
                <a:solidFill>
                  <a:srgbClr val="9AA7B4"/>
                </a:solidFill>
                <a:latin typeface="Calibri" pitchFamily="34" charset="0"/>
                <a:ea typeface="Calibri" pitchFamily="34" charset="-122"/>
                <a:cs typeface="Calibri" pitchFamily="34" charset="-120"/>
              </a:rPr>
              <a:t>Kiểm định độ tin cậy YOLOv8 · Nhóm KHMT836016/34/36</a:t>
            </a:r>
            <a:endParaRPr lang="en-US" sz="900" dirty="0"/>
          </a:p>
        </p:txBody>
      </p:sp>
      <p:sp>
        <p:nvSpPr>
          <p:cNvPr id="7" name="Text 4"/>
          <p:cNvSpPr/>
          <p:nvPr/>
        </p:nvSpPr>
        <p:spPr>
          <a:xfrm>
            <a:off x="11064240" y="6419088"/>
            <a:ext cx="548640" cy="274320"/>
          </a:xfrm>
          <a:prstGeom prst="rect">
            <a:avLst/>
          </a:prstGeom>
          <a:noFill/>
          <a:ln/>
        </p:spPr>
        <p:txBody>
          <a:bodyPr wrap="square" lIns="0" tIns="0" rIns="0" bIns="0" rtlCol="0" anchor="ctr"/>
          <a:lstStyle/>
          <a:p>
            <a:pPr algn="r" indent="0" marL="0">
              <a:buNone/>
            </a:pPr>
            <a:r>
              <a:rPr lang="en-US" sz="1000" b="1" dirty="0">
                <a:solidFill>
                  <a:srgbClr val="1C7293"/>
                </a:solidFill>
                <a:latin typeface="Calibri" pitchFamily="34" charset="0"/>
                <a:ea typeface="Calibri" pitchFamily="34" charset="-122"/>
                <a:cs typeface="Calibri" pitchFamily="34" charset="-120"/>
              </a:rPr>
              <a:t>37</a:t>
            </a:r>
            <a:endParaRPr lang="en-US" sz="1000" dirty="0"/>
          </a:p>
        </p:txBody>
      </p:sp>
      <p:sp>
        <p:nvSpPr>
          <p:cNvPr id="8" name="Shape 5"/>
          <p:cNvSpPr/>
          <p:nvPr/>
        </p:nvSpPr>
        <p:spPr>
          <a:xfrm>
            <a:off x="548640" y="457200"/>
            <a:ext cx="155448" cy="457200"/>
          </a:xfrm>
          <a:prstGeom prst="roundRect">
            <a:avLst>
              <a:gd name="adj" fmla="val 17647"/>
            </a:avLst>
          </a:prstGeom>
          <a:solidFill>
            <a:srgbClr val="1C7293"/>
          </a:solidFill>
          <a:ln w="12700">
            <a:solidFill>
              <a:srgbClr val="333333"/>
            </a:solidFill>
            <a:prstDash val="solid"/>
          </a:ln>
        </p:spPr>
      </p:sp>
      <p:sp>
        <p:nvSpPr>
          <p:cNvPr id="9" name="Text 6"/>
          <p:cNvSpPr/>
          <p:nvPr/>
        </p:nvSpPr>
        <p:spPr>
          <a:xfrm>
            <a:off x="877824" y="365760"/>
            <a:ext cx="10735056" cy="713232"/>
          </a:xfrm>
          <a:prstGeom prst="rect">
            <a:avLst/>
          </a:prstGeom>
          <a:noFill/>
          <a:ln/>
        </p:spPr>
        <p:txBody>
          <a:bodyPr wrap="square" lIns="0" tIns="0" rIns="0" bIns="0" rtlCol="0" anchor="ctr"/>
          <a:lstStyle/>
          <a:p>
            <a:pPr indent="0" marL="0">
              <a:buNone/>
            </a:pPr>
            <a:r>
              <a:rPr lang="en-US" sz="2900" b="1" dirty="0">
                <a:solidFill>
                  <a:srgbClr val="1A2430"/>
                </a:solidFill>
                <a:latin typeface="Cambria" pitchFamily="34" charset="0"/>
                <a:ea typeface="Cambria" pitchFamily="34" charset="-122"/>
                <a:cs typeface="Cambria" pitchFamily="34" charset="-120"/>
              </a:rPr>
              <a:t>Ứng dụng web — kiến trúc demo</a:t>
            </a:r>
            <a:endParaRPr lang="en-US" sz="2900" dirty="0"/>
          </a:p>
        </p:txBody>
      </p:sp>
      <p:sp>
        <p:nvSpPr>
          <p:cNvPr id="10" name="Shape 7"/>
          <p:cNvSpPr/>
          <p:nvPr/>
        </p:nvSpPr>
        <p:spPr>
          <a:xfrm>
            <a:off x="548640" y="1481328"/>
            <a:ext cx="11064240" cy="3593592"/>
          </a:xfrm>
          <a:prstGeom prst="roundRect">
            <a:avLst>
              <a:gd name="adj" fmla="val 2545"/>
            </a:avLst>
          </a:prstGeom>
          <a:solidFill>
            <a:srgbClr val="F7FAFC"/>
          </a:solidFill>
          <a:ln w="12700">
            <a:solidFill>
              <a:srgbClr val="E6ECF2"/>
            </a:solidFill>
            <a:prstDash val="solid"/>
          </a:ln>
          <a:effectLst>
            <a:outerShdw sx="100000" sy="100000" kx="0" ky="0" algn="bl" rotWithShape="0" blurRad="114300" dist="25400" dir="5400000">
              <a:srgbClr val="9FB0C0">
                <a:alpha val="22000"/>
              </a:srgbClr>
            </a:outerShdw>
          </a:effectLst>
        </p:spPr>
      </p:sp>
      <p:sp>
        <p:nvSpPr>
          <p:cNvPr id="11" name="Shape 8"/>
          <p:cNvSpPr/>
          <p:nvPr/>
        </p:nvSpPr>
        <p:spPr>
          <a:xfrm>
            <a:off x="713232" y="1682496"/>
            <a:ext cx="82296" cy="3191256"/>
          </a:xfrm>
          <a:prstGeom prst="roundRect">
            <a:avLst>
              <a:gd name="adj" fmla="val 44444"/>
            </a:avLst>
          </a:prstGeom>
          <a:solidFill>
            <a:srgbClr val="1C7293"/>
          </a:solidFill>
          <a:ln w="12700">
            <a:solidFill>
              <a:srgbClr val="333333"/>
            </a:solidFill>
            <a:prstDash val="solid"/>
          </a:ln>
        </p:spPr>
      </p:sp>
      <p:sp>
        <p:nvSpPr>
          <p:cNvPr id="12" name="Text 9"/>
          <p:cNvSpPr/>
          <p:nvPr/>
        </p:nvSpPr>
        <p:spPr>
          <a:xfrm>
            <a:off x="1115568" y="1572768"/>
            <a:ext cx="10195560" cy="3410712"/>
          </a:xfrm>
          <a:prstGeom prst="rect">
            <a:avLst/>
          </a:prstGeom>
          <a:noFill/>
          <a:ln/>
        </p:spPr>
        <p:txBody>
          <a:bodyPr wrap="square" lIns="0" tIns="0" rIns="0" bIns="0" rtlCol="0" anchor="ctr"/>
          <a:lstStyle/>
          <a:p>
            <a:pPr marL="228600" indent="-228600">
              <a:lnSpc>
                <a:spcPct val="108000"/>
              </a:lnSpc>
              <a:spcAft>
                <a:spcPts val="1400"/>
              </a:spcAft>
              <a:buSzPct val="100000"/>
              <a:buChar char="•"/>
            </a:pPr>
            <a:r>
              <a:rPr lang="en-US" sz="1650" dirty="0">
                <a:solidFill>
                  <a:srgbClr val="1A2430"/>
                </a:solidFill>
                <a:latin typeface="Calibri" pitchFamily="34" charset="0"/>
                <a:ea typeface="Calibri" pitchFamily="34" charset="-122"/>
                <a:cs typeface="Calibri" pitchFamily="34" charset="-120"/>
              </a:rPr>
              <a:t>App Streamlit gồm các tab: Tổng quan · Rò rỉ (A) · Đèn vs Biển (B) · Hiếm ≠ Khó (C) · Demo phát hiện · Bảng đầy đủ.</a:t>
            </a:r>
            <a:endParaRPr lang="en-US" sz="1650" dirty="0"/>
          </a:p>
          <a:p>
            <a:pPr marL="228600" indent="-228600">
              <a:lnSpc>
                <a:spcPct val="108000"/>
              </a:lnSpc>
              <a:spcAft>
                <a:spcPts val="1400"/>
              </a:spcAft>
              <a:buSzPct val="100000"/>
              <a:buChar char="•"/>
            </a:pPr>
            <a:r>
              <a:rPr lang="en-US" sz="1650" dirty="0">
                <a:solidFill>
                  <a:srgbClr val="1A2430"/>
                </a:solidFill>
                <a:latin typeface="Calibri" pitchFamily="34" charset="0"/>
                <a:ea typeface="Calibri" pitchFamily="34" charset="-122"/>
                <a:cs typeface="Calibri" pitchFamily="34" charset="-120"/>
              </a:rPr>
              <a:t>Tab Demo: tải ảnh (hoặc chọn ảnh mẫu) → YOLOv8 best.pt vẽ hộp phát hiện.</a:t>
            </a:r>
            <a:endParaRPr lang="en-US" sz="1650" dirty="0"/>
          </a:p>
          <a:p>
            <a:pPr marL="228600" indent="-228600">
              <a:lnSpc>
                <a:spcPct val="108000"/>
              </a:lnSpc>
              <a:spcAft>
                <a:spcPts val="1400"/>
              </a:spcAft>
              <a:buSzPct val="100000"/>
              <a:buChar char="•"/>
            </a:pPr>
            <a:r>
              <a:rPr lang="en-US" sz="1650" dirty="0">
                <a:solidFill>
                  <a:srgbClr val="1A2430"/>
                </a:solidFill>
                <a:latin typeface="Calibri" pitchFamily="34" charset="0"/>
                <a:ea typeface="Calibri" pitchFamily="34" charset="-122"/>
                <a:cs typeface="Calibri" pitchFamily="34" charset="-120"/>
              </a:rPr>
              <a:t>Điểm mới: mỗi phát hiện được GẮN với độ tin cậy đã kiểm định của lớp (mAP@0,5:0,95).</a:t>
            </a:r>
            <a:endParaRPr lang="en-US" sz="1650" dirty="0"/>
          </a:p>
          <a:p>
            <a:pPr marL="228600" indent="-228600">
              <a:lnSpc>
                <a:spcPct val="108000"/>
              </a:lnSpc>
              <a:spcAft>
                <a:spcPts val="1400"/>
              </a:spcAft>
              <a:buSzPct val="100000"/>
              <a:buChar char="•"/>
            </a:pPr>
            <a:r>
              <a:rPr lang="en-US" sz="1650" dirty="0">
                <a:solidFill>
                  <a:srgbClr val="1A2430"/>
                </a:solidFill>
                <a:latin typeface="Calibri" pitchFamily="34" charset="0"/>
                <a:ea typeface="Calibri" pitchFamily="34" charset="-122"/>
                <a:cs typeface="Calibri" pitchFamily="34" charset="-120"/>
              </a:rPr>
              <a:t>Nếu phát hiện thuộc nhóm đèn (mAP thấp) → app CẢNH BÁO “kết quả cần thận trọng”.</a:t>
            </a:r>
            <a:endParaRPr lang="en-US" sz="1650" dirty="0"/>
          </a:p>
        </p:txBody>
      </p:sp>
      <p:sp>
        <p:nvSpPr>
          <p:cNvPr id="13" name="Shape 10"/>
          <p:cNvSpPr/>
          <p:nvPr/>
        </p:nvSpPr>
        <p:spPr>
          <a:xfrm>
            <a:off x="548640" y="5230368"/>
            <a:ext cx="11064240" cy="896112"/>
          </a:xfrm>
          <a:prstGeom prst="roundRect">
            <a:avLst>
              <a:gd name="adj" fmla="val 10204"/>
            </a:avLst>
          </a:prstGeom>
          <a:solidFill>
            <a:srgbClr val="152238"/>
          </a:solidFill>
          <a:ln w="12700">
            <a:solidFill>
              <a:srgbClr val="333333"/>
            </a:solidFill>
            <a:prstDash val="solid"/>
          </a:ln>
          <a:effectLst>
            <a:outerShdw sx="100000" sy="100000" kx="0" ky="0" algn="bl" rotWithShape="0" blurRad="101600" dist="25400" dir="5400000">
              <a:srgbClr val="6E7C8A">
                <a:alpha val="30000"/>
              </a:srgbClr>
            </a:outerShdw>
          </a:effectLst>
        </p:spPr>
      </p:sp>
      <p:sp>
        <p:nvSpPr>
          <p:cNvPr id="14" name="Shape 11"/>
          <p:cNvSpPr/>
          <p:nvPr/>
        </p:nvSpPr>
        <p:spPr>
          <a:xfrm>
            <a:off x="804672" y="5596128"/>
            <a:ext cx="164592" cy="164592"/>
          </a:xfrm>
          <a:prstGeom prst="ellipse">
            <a:avLst/>
          </a:prstGeom>
          <a:solidFill>
            <a:srgbClr val="F4A261"/>
          </a:solidFill>
          <a:ln w="12700">
            <a:solidFill>
              <a:srgbClr val="333333"/>
            </a:solidFill>
            <a:prstDash val="solid"/>
          </a:ln>
        </p:spPr>
      </p:sp>
      <p:sp>
        <p:nvSpPr>
          <p:cNvPr id="15" name="Text 12"/>
          <p:cNvSpPr/>
          <p:nvPr/>
        </p:nvSpPr>
        <p:spPr>
          <a:xfrm>
            <a:off x="1133856" y="5303520"/>
            <a:ext cx="10222992" cy="749808"/>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Demo biến nội dung kiểm định thành công cụ dùng được: không chỉ phát hiện, mà còn nói cho người dùng biết KẾT QUẢ ĐÓ ĐÁNG TIN đến đâu.</a:t>
            </a:r>
            <a:endParaRPr lang="en-US" sz="1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10789920" y="-1234440"/>
            <a:ext cx="2743200" cy="2743200"/>
          </a:xfrm>
          <a:prstGeom prst="ellipse">
            <a:avLst/>
          </a:prstGeom>
          <a:solidFill>
            <a:srgbClr val="EAF1F6"/>
          </a:solidFill>
          <a:ln w="12700">
            <a:solidFill>
              <a:srgbClr val="333333"/>
            </a:solidFill>
            <a:prstDash val="solid"/>
          </a:ln>
        </p:spPr>
      </p:sp>
      <p:sp>
        <p:nvSpPr>
          <p:cNvPr id="4" name="Shape 1"/>
          <p:cNvSpPr/>
          <p:nvPr/>
        </p:nvSpPr>
        <p:spPr>
          <a:xfrm>
            <a:off x="11475720" y="182880"/>
            <a:ext cx="822960" cy="822960"/>
          </a:xfrm>
          <a:prstGeom prst="ellipse">
            <a:avLst/>
          </a:prstGeom>
          <a:solidFill>
            <a:srgbClr val="DCE8F0"/>
          </a:solidFill>
          <a:ln w="12700">
            <a:solidFill>
              <a:srgbClr val="333333"/>
            </a:solidFill>
            <a:prstDash val="solid"/>
          </a:ln>
        </p:spPr>
      </p:sp>
      <p:sp>
        <p:nvSpPr>
          <p:cNvPr id="5" name="Shape 2"/>
          <p:cNvSpPr/>
          <p:nvPr/>
        </p:nvSpPr>
        <p:spPr>
          <a:xfrm>
            <a:off x="548640" y="6382512"/>
            <a:ext cx="11064240" cy="0"/>
          </a:xfrm>
          <a:prstGeom prst="line">
            <a:avLst/>
          </a:prstGeom>
          <a:noFill/>
          <a:ln w="12700">
            <a:solidFill>
              <a:srgbClr val="DDE3EA"/>
            </a:solidFill>
            <a:prstDash val="solid"/>
          </a:ln>
        </p:spPr>
      </p:sp>
      <p:sp>
        <p:nvSpPr>
          <p:cNvPr id="6" name="Text 3"/>
          <p:cNvSpPr/>
          <p:nvPr/>
        </p:nvSpPr>
        <p:spPr>
          <a:xfrm>
            <a:off x="548640" y="6419088"/>
            <a:ext cx="8686800" cy="274320"/>
          </a:xfrm>
          <a:prstGeom prst="rect">
            <a:avLst/>
          </a:prstGeom>
          <a:noFill/>
          <a:ln/>
        </p:spPr>
        <p:txBody>
          <a:bodyPr wrap="square" lIns="0" tIns="0" rIns="0" bIns="0" rtlCol="0" anchor="ctr"/>
          <a:lstStyle/>
          <a:p>
            <a:pPr indent="0" marL="0">
              <a:buNone/>
            </a:pPr>
            <a:r>
              <a:rPr lang="en-US" sz="900" dirty="0">
                <a:solidFill>
                  <a:srgbClr val="9AA7B4"/>
                </a:solidFill>
                <a:latin typeface="Calibri" pitchFamily="34" charset="0"/>
                <a:ea typeface="Calibri" pitchFamily="34" charset="-122"/>
                <a:cs typeface="Calibri" pitchFamily="34" charset="-120"/>
              </a:rPr>
              <a:t>Kiểm định độ tin cậy YOLOv8 · Nhóm KHMT836016/34/36</a:t>
            </a:r>
            <a:endParaRPr lang="en-US" sz="900" dirty="0"/>
          </a:p>
        </p:txBody>
      </p:sp>
      <p:sp>
        <p:nvSpPr>
          <p:cNvPr id="7" name="Text 4"/>
          <p:cNvSpPr/>
          <p:nvPr/>
        </p:nvSpPr>
        <p:spPr>
          <a:xfrm>
            <a:off x="11064240" y="6419088"/>
            <a:ext cx="548640" cy="274320"/>
          </a:xfrm>
          <a:prstGeom prst="rect">
            <a:avLst/>
          </a:prstGeom>
          <a:noFill/>
          <a:ln/>
        </p:spPr>
        <p:txBody>
          <a:bodyPr wrap="square" lIns="0" tIns="0" rIns="0" bIns="0" rtlCol="0" anchor="ctr"/>
          <a:lstStyle/>
          <a:p>
            <a:pPr algn="r" indent="0" marL="0">
              <a:buNone/>
            </a:pPr>
            <a:r>
              <a:rPr lang="en-US" sz="1000" b="1" dirty="0">
                <a:solidFill>
                  <a:srgbClr val="1C7293"/>
                </a:solidFill>
                <a:latin typeface="Calibri" pitchFamily="34" charset="0"/>
                <a:ea typeface="Calibri" pitchFamily="34" charset="-122"/>
                <a:cs typeface="Calibri" pitchFamily="34" charset="-120"/>
              </a:rPr>
              <a:t>38</a:t>
            </a:r>
            <a:endParaRPr lang="en-US" sz="1000" dirty="0"/>
          </a:p>
        </p:txBody>
      </p:sp>
      <p:sp>
        <p:nvSpPr>
          <p:cNvPr id="8" name="Shape 5"/>
          <p:cNvSpPr/>
          <p:nvPr/>
        </p:nvSpPr>
        <p:spPr>
          <a:xfrm>
            <a:off x="548640" y="457200"/>
            <a:ext cx="155448" cy="457200"/>
          </a:xfrm>
          <a:prstGeom prst="roundRect">
            <a:avLst>
              <a:gd name="adj" fmla="val 17647"/>
            </a:avLst>
          </a:prstGeom>
          <a:solidFill>
            <a:srgbClr val="1C7293"/>
          </a:solidFill>
          <a:ln w="12700">
            <a:solidFill>
              <a:srgbClr val="333333"/>
            </a:solidFill>
            <a:prstDash val="solid"/>
          </a:ln>
        </p:spPr>
      </p:sp>
      <p:sp>
        <p:nvSpPr>
          <p:cNvPr id="9" name="Text 6"/>
          <p:cNvSpPr/>
          <p:nvPr/>
        </p:nvSpPr>
        <p:spPr>
          <a:xfrm>
            <a:off x="877824" y="365760"/>
            <a:ext cx="10735056" cy="713232"/>
          </a:xfrm>
          <a:prstGeom prst="rect">
            <a:avLst/>
          </a:prstGeom>
          <a:noFill/>
          <a:ln/>
        </p:spPr>
        <p:txBody>
          <a:bodyPr wrap="square" lIns="0" tIns="0" rIns="0" bIns="0" rtlCol="0" anchor="ctr"/>
          <a:lstStyle/>
          <a:p>
            <a:pPr indent="0" marL="0">
              <a:buNone/>
            </a:pPr>
            <a:r>
              <a:rPr lang="en-US" sz="2900" b="1" dirty="0">
                <a:solidFill>
                  <a:srgbClr val="1A2430"/>
                </a:solidFill>
                <a:latin typeface="Cambria" pitchFamily="34" charset="0"/>
                <a:ea typeface="Cambria" pitchFamily="34" charset="-122"/>
                <a:cs typeface="Cambria" pitchFamily="34" charset="-120"/>
              </a:rPr>
              <a:t>Demo · Biển báo — độ tin cậy CAO</a:t>
            </a:r>
            <a:endParaRPr lang="en-US" sz="2900" dirty="0"/>
          </a:p>
        </p:txBody>
      </p:sp>
      <p:sp>
        <p:nvSpPr>
          <p:cNvPr id="10" name="Text 7"/>
          <p:cNvSpPr/>
          <p:nvPr/>
        </p:nvSpPr>
        <p:spPr>
          <a:xfrm>
            <a:off x="877824" y="1024128"/>
            <a:ext cx="10735056" cy="365760"/>
          </a:xfrm>
          <a:prstGeom prst="rect">
            <a:avLst/>
          </a:prstGeom>
          <a:noFill/>
          <a:ln/>
        </p:spPr>
        <p:txBody>
          <a:bodyPr wrap="square" lIns="0" tIns="0" rIns="0" bIns="0" rtlCol="0" anchor="ctr"/>
          <a:lstStyle/>
          <a:p>
            <a:pPr indent="0" marL="0">
              <a:buNone/>
            </a:pPr>
            <a:r>
              <a:rPr lang="en-US" sz="1350" dirty="0">
                <a:solidFill>
                  <a:srgbClr val="5A6B7D"/>
                </a:solidFill>
                <a:latin typeface="Calibri" pitchFamily="34" charset="0"/>
                <a:ea typeface="Calibri" pitchFamily="34" charset="-122"/>
                <a:cs typeface="Calibri" pitchFamily="34" charset="-120"/>
              </a:rPr>
              <a:t>YOLOv8 phát hiện Speed Limit; lớp thuộc nhóm biển (mAP ≈ 0,85)</a:t>
            </a:r>
            <a:endParaRPr lang="en-US" sz="1350" dirty="0"/>
          </a:p>
        </p:txBody>
      </p:sp>
      <p:pic>
        <p:nvPicPr>
          <p:cNvPr id="11" name="Image 0" descr="/sessions/magical-intelligent-fermat/mnt/master/traffic-yolo-analysis/results/figs/demo_sign.png">    </p:cNvPr>
          <p:cNvPicPr>
            <a:picLocks noChangeAspect="1"/>
          </p:cNvPicPr>
          <p:nvPr/>
        </p:nvPicPr>
        <p:blipFill>
          <a:blip r:embed="rId1"/>
          <a:stretch>
            <a:fillRect/>
          </a:stretch>
        </p:blipFill>
        <p:spPr>
          <a:xfrm>
            <a:off x="548640" y="1673352"/>
            <a:ext cx="3931920" cy="3931920"/>
          </a:xfrm>
          <a:prstGeom prst="rect">
            <a:avLst/>
          </a:prstGeom>
        </p:spPr>
      </p:pic>
      <p:sp>
        <p:nvSpPr>
          <p:cNvPr id="12" name="Shape 8"/>
          <p:cNvSpPr/>
          <p:nvPr/>
        </p:nvSpPr>
        <p:spPr>
          <a:xfrm>
            <a:off x="4846320" y="1901952"/>
            <a:ext cx="6766560" cy="2743200"/>
          </a:xfrm>
          <a:prstGeom prst="roundRect">
            <a:avLst>
              <a:gd name="adj" fmla="val 3333"/>
            </a:avLst>
          </a:prstGeom>
          <a:solidFill>
            <a:srgbClr val="E8F4F0"/>
          </a:solidFill>
          <a:ln w="12700">
            <a:solidFill>
              <a:srgbClr val="E6ECF2"/>
            </a:solidFill>
            <a:prstDash val="solid"/>
          </a:ln>
          <a:effectLst>
            <a:outerShdw sx="100000" sy="100000" kx="0" ky="0" algn="bl" rotWithShape="0" blurRad="114300" dist="25400" dir="5400000">
              <a:srgbClr val="9FB0C0">
                <a:alpha val="22000"/>
              </a:srgbClr>
            </a:outerShdw>
          </a:effectLst>
        </p:spPr>
      </p:sp>
      <p:sp>
        <p:nvSpPr>
          <p:cNvPr id="13" name="Text 9"/>
          <p:cNvSpPr/>
          <p:nvPr/>
        </p:nvSpPr>
        <p:spPr>
          <a:xfrm>
            <a:off x="5120640" y="2084832"/>
            <a:ext cx="6217920" cy="457200"/>
          </a:xfrm>
          <a:prstGeom prst="rect">
            <a:avLst/>
          </a:prstGeom>
          <a:noFill/>
          <a:ln/>
        </p:spPr>
        <p:txBody>
          <a:bodyPr wrap="square" lIns="0" tIns="0" rIns="0" bIns="0" rtlCol="0" anchor="ctr"/>
          <a:lstStyle/>
          <a:p>
            <a:pPr indent="0" marL="0">
              <a:buNone/>
            </a:pPr>
            <a:r>
              <a:rPr lang="en-US" sz="1800" b="1" dirty="0">
                <a:solidFill>
                  <a:srgbClr val="2C7A4B"/>
                </a:solidFill>
                <a:latin typeface="Cambria" pitchFamily="34" charset="0"/>
                <a:ea typeface="Cambria" pitchFamily="34" charset="-122"/>
                <a:cs typeface="Cambria" pitchFamily="34" charset="-120"/>
              </a:rPr>
              <a:t>Nhóm biển báo — ĐỘ TIN CẬY CAO</a:t>
            </a:r>
            <a:endParaRPr lang="en-US" sz="1800" dirty="0"/>
          </a:p>
        </p:txBody>
      </p:sp>
      <p:sp>
        <p:nvSpPr>
          <p:cNvPr id="14" name="Text 10"/>
          <p:cNvSpPr/>
          <p:nvPr/>
        </p:nvSpPr>
        <p:spPr>
          <a:xfrm>
            <a:off x="5157216" y="2633472"/>
            <a:ext cx="6309360" cy="1828800"/>
          </a:xfrm>
          <a:prstGeom prst="rect">
            <a:avLst/>
          </a:prstGeom>
          <a:noFill/>
          <a:ln/>
        </p:spPr>
        <p:txBody>
          <a:bodyPr wrap="square" lIns="0" tIns="0" rIns="0" bIns="0" rtlCol="0" anchor="t"/>
          <a:lstStyle/>
          <a:p>
            <a:pPr marL="228600" indent="-228600">
              <a:lnSpc>
                <a:spcPct val="108000"/>
              </a:lnSpc>
              <a:spcAft>
                <a:spcPts val="900"/>
              </a:spcAft>
              <a:buSzPct val="100000"/>
              <a:buChar char="•"/>
            </a:pPr>
            <a:r>
              <a:rPr lang="en-US" sz="1450" dirty="0">
                <a:solidFill>
                  <a:srgbClr val="1A2430"/>
                </a:solidFill>
                <a:latin typeface="Calibri" pitchFamily="34" charset="0"/>
                <a:ea typeface="Calibri" pitchFamily="34" charset="-122"/>
                <a:cs typeface="Calibri" pitchFamily="34" charset="-120"/>
              </a:rPr>
              <a:t>Mô hình phát hiện biển Speed Limit với độ tin cậy YOLO cao.</a:t>
            </a:r>
            <a:endParaRPr lang="en-US" sz="1450" dirty="0"/>
          </a:p>
          <a:p>
            <a:pPr marL="228600" indent="-228600">
              <a:lnSpc>
                <a:spcPct val="108000"/>
              </a:lnSpc>
              <a:spcAft>
                <a:spcPts val="900"/>
              </a:spcAft>
              <a:buSzPct val="100000"/>
              <a:buChar char="•"/>
            </a:pPr>
            <a:r>
              <a:rPr lang="en-US" sz="1450" dirty="0">
                <a:solidFill>
                  <a:srgbClr val="1A2430"/>
                </a:solidFill>
                <a:latin typeface="Calibri" pitchFamily="34" charset="0"/>
                <a:ea typeface="Calibri" pitchFamily="34" charset="-122"/>
                <a:cs typeface="Calibri" pitchFamily="34" charset="-120"/>
              </a:rPr>
              <a:t>Lớp này thuộc nhóm biển báo — mAP@0,5:0,95 đã kiểm định ≈ 0,85.</a:t>
            </a:r>
            <a:endParaRPr lang="en-US" sz="1450" dirty="0"/>
          </a:p>
          <a:p>
            <a:pPr marL="228600" indent="-228600">
              <a:lnSpc>
                <a:spcPct val="108000"/>
              </a:lnSpc>
              <a:spcAft>
                <a:spcPts val="900"/>
              </a:spcAft>
              <a:buSzPct val="100000"/>
              <a:buChar char="•"/>
            </a:pPr>
            <a:r>
              <a:rPr lang="en-US" sz="1450" dirty="0">
                <a:solidFill>
                  <a:srgbClr val="1A2430"/>
                </a:solidFill>
                <a:latin typeface="Calibri" pitchFamily="34" charset="0"/>
                <a:ea typeface="Calibri" pitchFamily="34" charset="-122"/>
                <a:cs typeface="Calibri" pitchFamily="34" charset="-120"/>
              </a:rPr>
              <a:t>App hiển thị: “Toàn bộ phát hiện thuộc nhóm biển báo — độ tin cậy cao”.</a:t>
            </a:r>
            <a:endParaRPr lang="en-US" sz="14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10789920" y="-1234440"/>
            <a:ext cx="2743200" cy="2743200"/>
          </a:xfrm>
          <a:prstGeom prst="ellipse">
            <a:avLst/>
          </a:prstGeom>
          <a:solidFill>
            <a:srgbClr val="EAF1F6"/>
          </a:solidFill>
          <a:ln w="12700">
            <a:solidFill>
              <a:srgbClr val="333333"/>
            </a:solidFill>
            <a:prstDash val="solid"/>
          </a:ln>
        </p:spPr>
      </p:sp>
      <p:sp>
        <p:nvSpPr>
          <p:cNvPr id="4" name="Shape 1"/>
          <p:cNvSpPr/>
          <p:nvPr/>
        </p:nvSpPr>
        <p:spPr>
          <a:xfrm>
            <a:off x="11475720" y="182880"/>
            <a:ext cx="822960" cy="822960"/>
          </a:xfrm>
          <a:prstGeom prst="ellipse">
            <a:avLst/>
          </a:prstGeom>
          <a:solidFill>
            <a:srgbClr val="DCE8F0"/>
          </a:solidFill>
          <a:ln w="12700">
            <a:solidFill>
              <a:srgbClr val="333333"/>
            </a:solidFill>
            <a:prstDash val="solid"/>
          </a:ln>
        </p:spPr>
      </p:sp>
      <p:sp>
        <p:nvSpPr>
          <p:cNvPr id="5" name="Shape 2"/>
          <p:cNvSpPr/>
          <p:nvPr/>
        </p:nvSpPr>
        <p:spPr>
          <a:xfrm>
            <a:off x="548640" y="6382512"/>
            <a:ext cx="11064240" cy="0"/>
          </a:xfrm>
          <a:prstGeom prst="line">
            <a:avLst/>
          </a:prstGeom>
          <a:noFill/>
          <a:ln w="12700">
            <a:solidFill>
              <a:srgbClr val="DDE3EA"/>
            </a:solidFill>
            <a:prstDash val="solid"/>
          </a:ln>
        </p:spPr>
      </p:sp>
      <p:sp>
        <p:nvSpPr>
          <p:cNvPr id="6" name="Text 3"/>
          <p:cNvSpPr/>
          <p:nvPr/>
        </p:nvSpPr>
        <p:spPr>
          <a:xfrm>
            <a:off x="548640" y="6419088"/>
            <a:ext cx="8686800" cy="274320"/>
          </a:xfrm>
          <a:prstGeom prst="rect">
            <a:avLst/>
          </a:prstGeom>
          <a:noFill/>
          <a:ln/>
        </p:spPr>
        <p:txBody>
          <a:bodyPr wrap="square" lIns="0" tIns="0" rIns="0" bIns="0" rtlCol="0" anchor="ctr"/>
          <a:lstStyle/>
          <a:p>
            <a:pPr indent="0" marL="0">
              <a:buNone/>
            </a:pPr>
            <a:r>
              <a:rPr lang="en-US" sz="900" dirty="0">
                <a:solidFill>
                  <a:srgbClr val="9AA7B4"/>
                </a:solidFill>
                <a:latin typeface="Calibri" pitchFamily="34" charset="0"/>
                <a:ea typeface="Calibri" pitchFamily="34" charset="-122"/>
                <a:cs typeface="Calibri" pitchFamily="34" charset="-120"/>
              </a:rPr>
              <a:t>Kiểm định độ tin cậy YOLOv8 · Nhóm KHMT836016/34/36</a:t>
            </a:r>
            <a:endParaRPr lang="en-US" sz="900" dirty="0"/>
          </a:p>
        </p:txBody>
      </p:sp>
      <p:sp>
        <p:nvSpPr>
          <p:cNvPr id="7" name="Text 4"/>
          <p:cNvSpPr/>
          <p:nvPr/>
        </p:nvSpPr>
        <p:spPr>
          <a:xfrm>
            <a:off x="11064240" y="6419088"/>
            <a:ext cx="548640" cy="274320"/>
          </a:xfrm>
          <a:prstGeom prst="rect">
            <a:avLst/>
          </a:prstGeom>
          <a:noFill/>
          <a:ln/>
        </p:spPr>
        <p:txBody>
          <a:bodyPr wrap="square" lIns="0" tIns="0" rIns="0" bIns="0" rtlCol="0" anchor="ctr"/>
          <a:lstStyle/>
          <a:p>
            <a:pPr algn="r" indent="0" marL="0">
              <a:buNone/>
            </a:pPr>
            <a:r>
              <a:rPr lang="en-US" sz="1000" b="1" dirty="0">
                <a:solidFill>
                  <a:srgbClr val="1C7293"/>
                </a:solidFill>
                <a:latin typeface="Calibri" pitchFamily="34" charset="0"/>
                <a:ea typeface="Calibri" pitchFamily="34" charset="-122"/>
                <a:cs typeface="Calibri" pitchFamily="34" charset="-120"/>
              </a:rPr>
              <a:t>39</a:t>
            </a:r>
            <a:endParaRPr lang="en-US" sz="1000" dirty="0"/>
          </a:p>
        </p:txBody>
      </p:sp>
      <p:sp>
        <p:nvSpPr>
          <p:cNvPr id="8" name="Shape 5"/>
          <p:cNvSpPr/>
          <p:nvPr/>
        </p:nvSpPr>
        <p:spPr>
          <a:xfrm>
            <a:off x="548640" y="457200"/>
            <a:ext cx="155448" cy="457200"/>
          </a:xfrm>
          <a:prstGeom prst="roundRect">
            <a:avLst>
              <a:gd name="adj" fmla="val 17647"/>
            </a:avLst>
          </a:prstGeom>
          <a:solidFill>
            <a:srgbClr val="1C7293"/>
          </a:solidFill>
          <a:ln w="12700">
            <a:solidFill>
              <a:srgbClr val="333333"/>
            </a:solidFill>
            <a:prstDash val="solid"/>
          </a:ln>
        </p:spPr>
      </p:sp>
      <p:sp>
        <p:nvSpPr>
          <p:cNvPr id="9" name="Text 6"/>
          <p:cNvSpPr/>
          <p:nvPr/>
        </p:nvSpPr>
        <p:spPr>
          <a:xfrm>
            <a:off x="877824" y="365760"/>
            <a:ext cx="10735056" cy="713232"/>
          </a:xfrm>
          <a:prstGeom prst="rect">
            <a:avLst/>
          </a:prstGeom>
          <a:noFill/>
          <a:ln/>
        </p:spPr>
        <p:txBody>
          <a:bodyPr wrap="square" lIns="0" tIns="0" rIns="0" bIns="0" rtlCol="0" anchor="ctr"/>
          <a:lstStyle/>
          <a:p>
            <a:pPr indent="0" marL="0">
              <a:buNone/>
            </a:pPr>
            <a:r>
              <a:rPr lang="en-US" sz="2900" b="1" dirty="0">
                <a:solidFill>
                  <a:srgbClr val="1A2430"/>
                </a:solidFill>
                <a:latin typeface="Cambria" pitchFamily="34" charset="0"/>
                <a:ea typeface="Cambria" pitchFamily="34" charset="-122"/>
                <a:cs typeface="Cambria" pitchFamily="34" charset="-120"/>
              </a:rPr>
              <a:t>Demo · Đèn đỏ — bị GẮN CỜ độ tin cậy thấp</a:t>
            </a:r>
            <a:endParaRPr lang="en-US" sz="2900" dirty="0"/>
          </a:p>
        </p:txBody>
      </p:sp>
      <p:sp>
        <p:nvSpPr>
          <p:cNvPr id="10" name="Text 7"/>
          <p:cNvSpPr/>
          <p:nvPr/>
        </p:nvSpPr>
        <p:spPr>
          <a:xfrm>
            <a:off x="877824" y="1024128"/>
            <a:ext cx="10735056" cy="365760"/>
          </a:xfrm>
          <a:prstGeom prst="rect">
            <a:avLst/>
          </a:prstGeom>
          <a:noFill/>
          <a:ln/>
        </p:spPr>
        <p:txBody>
          <a:bodyPr wrap="square" lIns="0" tIns="0" rIns="0" bIns="0" rtlCol="0" anchor="ctr"/>
          <a:lstStyle/>
          <a:p>
            <a:pPr indent="0" marL="0">
              <a:buNone/>
            </a:pPr>
            <a:r>
              <a:rPr lang="en-US" sz="1350" dirty="0">
                <a:solidFill>
                  <a:srgbClr val="5A6B7D"/>
                </a:solidFill>
                <a:latin typeface="Calibri" pitchFamily="34" charset="0"/>
                <a:ea typeface="Calibri" pitchFamily="34" charset="-122"/>
                <a:cs typeface="Calibri" pitchFamily="34" charset="-120"/>
              </a:rPr>
              <a:t>Đèn nhỏ, ở xa — đúng ca khó mà kiểm định đã chỉ ra</a:t>
            </a:r>
            <a:endParaRPr lang="en-US" sz="1350" dirty="0"/>
          </a:p>
        </p:txBody>
      </p:sp>
      <p:pic>
        <p:nvPicPr>
          <p:cNvPr id="11" name="Image 0" descr="/sessions/magical-intelligent-fermat/mnt/master/traffic-yolo-analysis/results/figs/demo_light.png">    </p:cNvPr>
          <p:cNvPicPr>
            <a:picLocks noChangeAspect="1"/>
          </p:cNvPicPr>
          <p:nvPr/>
        </p:nvPicPr>
        <p:blipFill>
          <a:blip r:embed="rId1"/>
          <a:stretch>
            <a:fillRect/>
          </a:stretch>
        </p:blipFill>
        <p:spPr>
          <a:xfrm>
            <a:off x="548640" y="1673352"/>
            <a:ext cx="3931920" cy="3931920"/>
          </a:xfrm>
          <a:prstGeom prst="rect">
            <a:avLst/>
          </a:prstGeom>
        </p:spPr>
      </p:pic>
      <p:sp>
        <p:nvSpPr>
          <p:cNvPr id="12" name="Shape 8"/>
          <p:cNvSpPr/>
          <p:nvPr/>
        </p:nvSpPr>
        <p:spPr>
          <a:xfrm>
            <a:off x="4846320" y="1901952"/>
            <a:ext cx="6766560" cy="2743200"/>
          </a:xfrm>
          <a:prstGeom prst="roundRect">
            <a:avLst>
              <a:gd name="adj" fmla="val 3333"/>
            </a:avLst>
          </a:prstGeom>
          <a:solidFill>
            <a:srgbClr val="FDEEEE"/>
          </a:solidFill>
          <a:ln w="12700">
            <a:solidFill>
              <a:srgbClr val="E6ECF2"/>
            </a:solidFill>
            <a:prstDash val="solid"/>
          </a:ln>
          <a:effectLst>
            <a:outerShdw sx="100000" sy="100000" kx="0" ky="0" algn="bl" rotWithShape="0" blurRad="114300" dist="25400" dir="5400000">
              <a:srgbClr val="9FB0C0">
                <a:alpha val="22000"/>
              </a:srgbClr>
            </a:outerShdw>
          </a:effectLst>
        </p:spPr>
      </p:sp>
      <p:sp>
        <p:nvSpPr>
          <p:cNvPr id="13" name="Text 9"/>
          <p:cNvSpPr/>
          <p:nvPr/>
        </p:nvSpPr>
        <p:spPr>
          <a:xfrm>
            <a:off x="5120640" y="2084832"/>
            <a:ext cx="6217920" cy="457200"/>
          </a:xfrm>
          <a:prstGeom prst="rect">
            <a:avLst/>
          </a:prstGeom>
          <a:noFill/>
          <a:ln/>
        </p:spPr>
        <p:txBody>
          <a:bodyPr wrap="square" lIns="0" tIns="0" rIns="0" bIns="0" rtlCol="0" anchor="ctr"/>
          <a:lstStyle/>
          <a:p>
            <a:pPr indent="0" marL="0">
              <a:buNone/>
            </a:pPr>
            <a:r>
              <a:rPr lang="en-US" sz="1800" b="1" dirty="0">
                <a:solidFill>
                  <a:srgbClr val="E63946"/>
                </a:solidFill>
                <a:latin typeface="Cambria" pitchFamily="34" charset="0"/>
                <a:ea typeface="Cambria" pitchFamily="34" charset="-122"/>
                <a:cs typeface="Cambria" pitchFamily="34" charset="-120"/>
              </a:rPr>
              <a:t>Nhóm đèn tín hiệu — CẢNH BÁO</a:t>
            </a:r>
            <a:endParaRPr lang="en-US" sz="1800" dirty="0"/>
          </a:p>
        </p:txBody>
      </p:sp>
      <p:sp>
        <p:nvSpPr>
          <p:cNvPr id="14" name="Text 10"/>
          <p:cNvSpPr/>
          <p:nvPr/>
        </p:nvSpPr>
        <p:spPr>
          <a:xfrm>
            <a:off x="5157216" y="2633472"/>
            <a:ext cx="6309360" cy="1828800"/>
          </a:xfrm>
          <a:prstGeom prst="rect">
            <a:avLst/>
          </a:prstGeom>
          <a:noFill/>
          <a:ln/>
        </p:spPr>
        <p:txBody>
          <a:bodyPr wrap="square" lIns="0" tIns="0" rIns="0" bIns="0" rtlCol="0" anchor="t"/>
          <a:lstStyle/>
          <a:p>
            <a:pPr marL="228600" indent="-228600">
              <a:lnSpc>
                <a:spcPct val="108000"/>
              </a:lnSpc>
              <a:spcAft>
                <a:spcPts val="900"/>
              </a:spcAft>
              <a:buSzPct val="100000"/>
              <a:buChar char="•"/>
            </a:pPr>
            <a:r>
              <a:rPr lang="en-US" sz="1450" dirty="0">
                <a:solidFill>
                  <a:srgbClr val="1A2430"/>
                </a:solidFill>
                <a:latin typeface="Calibri" pitchFamily="34" charset="0"/>
                <a:ea typeface="Calibri" pitchFamily="34" charset="-122"/>
                <a:cs typeface="Calibri" pitchFamily="34" charset="-120"/>
              </a:rPr>
              <a:t>Mô hình phát hiện nhiều Red Light nhỏ ở xa, độ tin cậy YOLO thấp (0,29–0,61).</a:t>
            </a:r>
            <a:endParaRPr lang="en-US" sz="1450" dirty="0"/>
          </a:p>
          <a:p>
            <a:pPr marL="228600" indent="-228600">
              <a:lnSpc>
                <a:spcPct val="108000"/>
              </a:lnSpc>
              <a:spcAft>
                <a:spcPts val="900"/>
              </a:spcAft>
              <a:buSzPct val="100000"/>
              <a:buChar char="•"/>
            </a:pPr>
            <a:r>
              <a:rPr lang="en-US" sz="1450" dirty="0">
                <a:solidFill>
                  <a:srgbClr val="1A2430"/>
                </a:solidFill>
                <a:latin typeface="Calibri" pitchFamily="34" charset="0"/>
                <a:ea typeface="Calibri" pitchFamily="34" charset="-122"/>
                <a:cs typeface="Calibri" pitchFamily="34" charset="-120"/>
              </a:rPr>
              <a:t>Lớp Red Light có mAP@0,5:0,95 kiểm định chỉ 0,506 — nhóm kém nhất.</a:t>
            </a:r>
            <a:endParaRPr lang="en-US" sz="1450" dirty="0"/>
          </a:p>
          <a:p>
            <a:pPr marL="228600" indent="-228600">
              <a:lnSpc>
                <a:spcPct val="108000"/>
              </a:lnSpc>
              <a:spcAft>
                <a:spcPts val="900"/>
              </a:spcAft>
              <a:buSzPct val="100000"/>
              <a:buChar char="•"/>
            </a:pPr>
            <a:r>
              <a:rPr lang="en-US" sz="1450" dirty="0">
                <a:solidFill>
                  <a:srgbClr val="1A2430"/>
                </a:solidFill>
                <a:latin typeface="Calibri" pitchFamily="34" charset="0"/>
                <a:ea typeface="Calibri" pitchFamily="34" charset="-122"/>
                <a:cs typeface="Calibri" pitchFamily="34" charset="-120"/>
              </a:rPr>
              <a:t>App cảnh báo: “Phát hiện đối tượng thuộc nhóm đèn tín hiệu — kết quả cần thận trọng”.</a:t>
            </a:r>
            <a:endParaRPr lang="en-US" sz="14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10789920" y="-1234440"/>
            <a:ext cx="2743200" cy="2743200"/>
          </a:xfrm>
          <a:prstGeom prst="ellipse">
            <a:avLst/>
          </a:prstGeom>
          <a:solidFill>
            <a:srgbClr val="EAF1F6"/>
          </a:solidFill>
          <a:ln w="12700">
            <a:solidFill>
              <a:srgbClr val="333333"/>
            </a:solidFill>
            <a:prstDash val="solid"/>
          </a:ln>
        </p:spPr>
      </p:sp>
      <p:sp>
        <p:nvSpPr>
          <p:cNvPr id="4" name="Shape 1"/>
          <p:cNvSpPr/>
          <p:nvPr/>
        </p:nvSpPr>
        <p:spPr>
          <a:xfrm>
            <a:off x="11475720" y="182880"/>
            <a:ext cx="822960" cy="822960"/>
          </a:xfrm>
          <a:prstGeom prst="ellipse">
            <a:avLst/>
          </a:prstGeom>
          <a:solidFill>
            <a:srgbClr val="DCE8F0"/>
          </a:solidFill>
          <a:ln w="12700">
            <a:solidFill>
              <a:srgbClr val="333333"/>
            </a:solidFill>
            <a:prstDash val="solid"/>
          </a:ln>
        </p:spPr>
      </p:sp>
      <p:sp>
        <p:nvSpPr>
          <p:cNvPr id="5" name="Shape 2"/>
          <p:cNvSpPr/>
          <p:nvPr/>
        </p:nvSpPr>
        <p:spPr>
          <a:xfrm>
            <a:off x="548640" y="6382512"/>
            <a:ext cx="11064240" cy="0"/>
          </a:xfrm>
          <a:prstGeom prst="line">
            <a:avLst/>
          </a:prstGeom>
          <a:noFill/>
          <a:ln w="12700">
            <a:solidFill>
              <a:srgbClr val="DDE3EA"/>
            </a:solidFill>
            <a:prstDash val="solid"/>
          </a:ln>
        </p:spPr>
      </p:sp>
      <p:sp>
        <p:nvSpPr>
          <p:cNvPr id="6" name="Text 3"/>
          <p:cNvSpPr/>
          <p:nvPr/>
        </p:nvSpPr>
        <p:spPr>
          <a:xfrm>
            <a:off x="548640" y="6419088"/>
            <a:ext cx="8686800" cy="274320"/>
          </a:xfrm>
          <a:prstGeom prst="rect">
            <a:avLst/>
          </a:prstGeom>
          <a:noFill/>
          <a:ln/>
        </p:spPr>
        <p:txBody>
          <a:bodyPr wrap="square" lIns="0" tIns="0" rIns="0" bIns="0" rtlCol="0" anchor="ctr"/>
          <a:lstStyle/>
          <a:p>
            <a:pPr indent="0" marL="0">
              <a:buNone/>
            </a:pPr>
            <a:r>
              <a:rPr lang="en-US" sz="900" dirty="0">
                <a:solidFill>
                  <a:srgbClr val="9AA7B4"/>
                </a:solidFill>
                <a:latin typeface="Calibri" pitchFamily="34" charset="0"/>
                <a:ea typeface="Calibri" pitchFamily="34" charset="-122"/>
                <a:cs typeface="Calibri" pitchFamily="34" charset="-120"/>
              </a:rPr>
              <a:t>Kiểm định độ tin cậy YOLOv8 · Nhóm KHMT836016/34/36</a:t>
            </a:r>
            <a:endParaRPr lang="en-US" sz="900" dirty="0"/>
          </a:p>
        </p:txBody>
      </p:sp>
      <p:sp>
        <p:nvSpPr>
          <p:cNvPr id="7" name="Text 4"/>
          <p:cNvSpPr/>
          <p:nvPr/>
        </p:nvSpPr>
        <p:spPr>
          <a:xfrm>
            <a:off x="11064240" y="6419088"/>
            <a:ext cx="548640" cy="274320"/>
          </a:xfrm>
          <a:prstGeom prst="rect">
            <a:avLst/>
          </a:prstGeom>
          <a:noFill/>
          <a:ln/>
        </p:spPr>
        <p:txBody>
          <a:bodyPr wrap="square" lIns="0" tIns="0" rIns="0" bIns="0" rtlCol="0" anchor="ctr"/>
          <a:lstStyle/>
          <a:p>
            <a:pPr algn="r" indent="0" marL="0">
              <a:buNone/>
            </a:pPr>
            <a:r>
              <a:rPr lang="en-US" sz="1000" b="1" dirty="0">
                <a:solidFill>
                  <a:srgbClr val="1C7293"/>
                </a:solidFill>
                <a:latin typeface="Calibri" pitchFamily="34" charset="0"/>
                <a:ea typeface="Calibri" pitchFamily="34" charset="-122"/>
                <a:cs typeface="Calibri" pitchFamily="34" charset="-120"/>
              </a:rPr>
              <a:t>40</a:t>
            </a:r>
            <a:endParaRPr lang="en-US" sz="1000" dirty="0"/>
          </a:p>
        </p:txBody>
      </p:sp>
      <p:sp>
        <p:nvSpPr>
          <p:cNvPr id="8" name="Shape 5"/>
          <p:cNvSpPr/>
          <p:nvPr/>
        </p:nvSpPr>
        <p:spPr>
          <a:xfrm>
            <a:off x="548640" y="457200"/>
            <a:ext cx="155448" cy="457200"/>
          </a:xfrm>
          <a:prstGeom prst="roundRect">
            <a:avLst>
              <a:gd name="adj" fmla="val 17647"/>
            </a:avLst>
          </a:prstGeom>
          <a:solidFill>
            <a:srgbClr val="1C7293"/>
          </a:solidFill>
          <a:ln w="12700">
            <a:solidFill>
              <a:srgbClr val="333333"/>
            </a:solidFill>
            <a:prstDash val="solid"/>
          </a:ln>
        </p:spPr>
      </p:sp>
      <p:sp>
        <p:nvSpPr>
          <p:cNvPr id="9" name="Text 6"/>
          <p:cNvSpPr/>
          <p:nvPr/>
        </p:nvSpPr>
        <p:spPr>
          <a:xfrm>
            <a:off x="877824" y="365760"/>
            <a:ext cx="10735056" cy="713232"/>
          </a:xfrm>
          <a:prstGeom prst="rect">
            <a:avLst/>
          </a:prstGeom>
          <a:noFill/>
          <a:ln/>
        </p:spPr>
        <p:txBody>
          <a:bodyPr wrap="square" lIns="0" tIns="0" rIns="0" bIns="0" rtlCol="0" anchor="ctr"/>
          <a:lstStyle/>
          <a:p>
            <a:pPr indent="0" marL="0">
              <a:buNone/>
            </a:pPr>
            <a:r>
              <a:rPr lang="en-US" sz="2900" b="1" dirty="0">
                <a:solidFill>
                  <a:srgbClr val="1A2430"/>
                </a:solidFill>
                <a:latin typeface="Cambria" pitchFamily="34" charset="0"/>
                <a:ea typeface="Cambria" pitchFamily="34" charset="-122"/>
                <a:cs typeface="Cambria" pitchFamily="34" charset="-120"/>
              </a:rPr>
              <a:t>Demo · Cách chạy ứng dụng</a:t>
            </a:r>
            <a:endParaRPr lang="en-US" sz="2900" dirty="0"/>
          </a:p>
        </p:txBody>
      </p:sp>
      <p:sp>
        <p:nvSpPr>
          <p:cNvPr id="10" name="Shape 7"/>
          <p:cNvSpPr/>
          <p:nvPr/>
        </p:nvSpPr>
        <p:spPr>
          <a:xfrm>
            <a:off x="548640" y="1481328"/>
            <a:ext cx="11064240" cy="1371600"/>
          </a:xfrm>
          <a:prstGeom prst="roundRect">
            <a:avLst>
              <a:gd name="adj" fmla="val 6667"/>
            </a:avLst>
          </a:prstGeom>
          <a:solidFill>
            <a:srgbClr val="152238"/>
          </a:solidFill>
          <a:ln w="12700">
            <a:solidFill>
              <a:srgbClr val="E6ECF2"/>
            </a:solidFill>
            <a:prstDash val="solid"/>
          </a:ln>
          <a:effectLst>
            <a:outerShdw sx="100000" sy="100000" kx="0" ky="0" algn="bl" rotWithShape="0" blurRad="114300" dist="25400" dir="5400000">
              <a:srgbClr val="9FB0C0">
                <a:alpha val="22000"/>
              </a:srgbClr>
            </a:outerShdw>
          </a:effectLst>
        </p:spPr>
      </p:sp>
      <p:sp>
        <p:nvSpPr>
          <p:cNvPr id="11" name="Text 8"/>
          <p:cNvSpPr/>
          <p:nvPr/>
        </p:nvSpPr>
        <p:spPr>
          <a:xfrm>
            <a:off x="868680" y="1664208"/>
            <a:ext cx="10424160" cy="457200"/>
          </a:xfrm>
          <a:prstGeom prst="rect">
            <a:avLst/>
          </a:prstGeom>
          <a:noFill/>
          <a:ln/>
        </p:spPr>
        <p:txBody>
          <a:bodyPr wrap="square" lIns="0" tIns="0" rIns="0" bIns="0" rtlCol="0" anchor="ctr"/>
          <a:lstStyle/>
          <a:p>
            <a:pPr indent="0" marL="0">
              <a:buNone/>
            </a:pPr>
            <a:r>
              <a:rPr lang="en-US" sz="2000" b="1" dirty="0">
                <a:solidFill>
                  <a:srgbClr val="7FE0C0"/>
                </a:solidFill>
                <a:latin typeface="Consolas" pitchFamily="34" charset="0"/>
                <a:ea typeface="Consolas" pitchFamily="34" charset="-122"/>
                <a:cs typeface="Consolas" pitchFamily="34" charset="-120"/>
              </a:rPr>
              <a:t>streamlit run app/app.py</a:t>
            </a:r>
            <a:endParaRPr lang="en-US" sz="2000" dirty="0"/>
          </a:p>
        </p:txBody>
      </p:sp>
      <p:sp>
        <p:nvSpPr>
          <p:cNvPr id="12" name="Text 9"/>
          <p:cNvSpPr/>
          <p:nvPr/>
        </p:nvSpPr>
        <p:spPr>
          <a:xfrm>
            <a:off x="868680" y="2212848"/>
            <a:ext cx="10424160" cy="548640"/>
          </a:xfrm>
          <a:prstGeom prst="rect">
            <a:avLst/>
          </a:prstGeom>
          <a:noFill/>
          <a:ln/>
        </p:spPr>
        <p:txBody>
          <a:bodyPr wrap="square" lIns="0" tIns="0" rIns="0" bIns="0" rtlCol="0" anchor="t"/>
          <a:lstStyle/>
          <a:p>
            <a:pPr indent="0" marL="0">
              <a:buNone/>
            </a:pPr>
            <a:r>
              <a:rPr lang="en-US" sz="1350" dirty="0">
                <a:solidFill>
                  <a:srgbClr val="C6D4E2"/>
                </a:solidFill>
                <a:latin typeface="Calibri" pitchFamily="34" charset="0"/>
                <a:ea typeface="Calibri" pitchFamily="34" charset="-122"/>
                <a:cs typeface="Calibri" pitchFamily="34" charset="-120"/>
              </a:rPr>
              <a:t>Cần: pip install -r requirements.txt (đã gồm streamlit, ultralytics, opencv). Trọng số đặt ở models/best.pt.</a:t>
            </a:r>
            <a:endParaRPr lang="en-US" sz="1350" dirty="0"/>
          </a:p>
        </p:txBody>
      </p:sp>
      <p:sp>
        <p:nvSpPr>
          <p:cNvPr id="13" name="Text 10"/>
          <p:cNvSpPr/>
          <p:nvPr/>
        </p:nvSpPr>
        <p:spPr>
          <a:xfrm>
            <a:off x="640080" y="3081528"/>
            <a:ext cx="10881360" cy="1828800"/>
          </a:xfrm>
          <a:prstGeom prst="rect">
            <a:avLst/>
          </a:prstGeom>
          <a:noFill/>
          <a:ln/>
        </p:spPr>
        <p:txBody>
          <a:bodyPr wrap="square" lIns="0" tIns="0" rIns="0" bIns="0" rtlCol="0" anchor="t"/>
          <a:lstStyle/>
          <a:p>
            <a:pPr marL="228600" indent="-228600">
              <a:lnSpc>
                <a:spcPct val="108000"/>
              </a:lnSpc>
              <a:spcAft>
                <a:spcPts val="1000"/>
              </a:spcAft>
              <a:buSzPct val="100000"/>
              <a:buChar char="•"/>
            </a:pPr>
            <a:r>
              <a:rPr lang="en-US" sz="1500" dirty="0">
                <a:solidFill>
                  <a:srgbClr val="1A2430"/>
                </a:solidFill>
                <a:latin typeface="Calibri" pitchFamily="34" charset="0"/>
                <a:ea typeface="Calibri" pitchFamily="34" charset="-122"/>
                <a:cs typeface="Calibri" pitchFamily="34" charset="-120"/>
              </a:rPr>
              <a:t>Chạy hoàn toàn trên CPU — không cần GPU để demo.</a:t>
            </a:r>
            <a:endParaRPr lang="en-US" sz="1500" dirty="0"/>
          </a:p>
          <a:p>
            <a:pPr marL="228600" indent="-228600">
              <a:lnSpc>
                <a:spcPct val="108000"/>
              </a:lnSpc>
              <a:spcAft>
                <a:spcPts val="1000"/>
              </a:spcAft>
              <a:buSzPct val="100000"/>
              <a:buChar char="•"/>
            </a:pPr>
            <a:r>
              <a:rPr lang="en-US" sz="1500" dirty="0">
                <a:solidFill>
                  <a:srgbClr val="1A2430"/>
                </a:solidFill>
                <a:latin typeface="Calibri" pitchFamily="34" charset="0"/>
                <a:ea typeface="Calibri" pitchFamily="34" charset="-122"/>
                <a:cs typeface="Calibri" pitchFamily="34" charset="-120"/>
              </a:rPr>
              <a:t>Nếu thiếu ultralytics/best.pt, app tự hiện hai ảnh demo kết xuất sẵn (không lỗi).</a:t>
            </a:r>
            <a:endParaRPr lang="en-US" sz="1500" dirty="0"/>
          </a:p>
          <a:p>
            <a:pPr marL="228600" indent="-228600">
              <a:lnSpc>
                <a:spcPct val="108000"/>
              </a:lnSpc>
              <a:spcAft>
                <a:spcPts val="1000"/>
              </a:spcAft>
              <a:buSzPct val="100000"/>
              <a:buChar char="•"/>
            </a:pPr>
            <a:r>
              <a:rPr lang="en-US" sz="1500" dirty="0">
                <a:solidFill>
                  <a:srgbClr val="1A2430"/>
                </a:solidFill>
                <a:latin typeface="Calibri" pitchFamily="34" charset="0"/>
                <a:ea typeface="Calibri" pitchFamily="34" charset="-122"/>
                <a:cs typeface="Calibri" pitchFamily="34" charset="-120"/>
              </a:rPr>
              <a:t>Điều chỉnh ngưỡng tin cậy (conf) bằng thanh trượt để xem thay đổi.</a:t>
            </a:r>
            <a:endParaRPr lang="en-US" sz="15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152238"/>
        </a:solidFill>
      </p:bgPr>
    </p:bg>
    <p:spTree>
      <p:nvGrpSpPr>
        <p:cNvPr id="1" name=""/>
        <p:cNvGrpSpPr/>
        <p:nvPr/>
      </p:nvGrpSpPr>
      <p:grpSpPr>
        <a:xfrm>
          <a:off x="0" y="0"/>
          <a:ext cx="0" cy="0"/>
          <a:chOff x="0" y="0"/>
          <a:chExt cx="0" cy="0"/>
        </a:xfrm>
      </p:grpSpPr>
      <p:sp>
        <p:nvSpPr>
          <p:cNvPr id="3" name="Text 0"/>
          <p:cNvSpPr/>
          <p:nvPr/>
        </p:nvSpPr>
        <p:spPr>
          <a:xfrm>
            <a:off x="548640" y="502920"/>
            <a:ext cx="11064240"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Kết luận</a:t>
            </a:r>
            <a:endParaRPr lang="en-US" sz="3200" dirty="0"/>
          </a:p>
        </p:txBody>
      </p:sp>
      <p:sp>
        <p:nvSpPr>
          <p:cNvPr id="4" name="Shape 1"/>
          <p:cNvSpPr/>
          <p:nvPr/>
        </p:nvSpPr>
        <p:spPr>
          <a:xfrm>
            <a:off x="548640" y="1463040"/>
            <a:ext cx="11064240" cy="1051560"/>
          </a:xfrm>
          <a:prstGeom prst="roundRect">
            <a:avLst>
              <a:gd name="adj" fmla="val 6957"/>
            </a:avLst>
          </a:prstGeom>
          <a:solidFill>
            <a:srgbClr val="1E3050"/>
          </a:solidFill>
          <a:ln w="25400">
            <a:solidFill>
              <a:srgbClr val="F4A261"/>
            </a:solidFill>
            <a:prstDash val="solid"/>
          </a:ln>
        </p:spPr>
      </p:sp>
      <p:sp>
        <p:nvSpPr>
          <p:cNvPr id="5" name="Text 2"/>
          <p:cNvSpPr/>
          <p:nvPr/>
        </p:nvSpPr>
        <p:spPr>
          <a:xfrm>
            <a:off x="822960" y="1554480"/>
            <a:ext cx="2743200" cy="868680"/>
          </a:xfrm>
          <a:prstGeom prst="rect">
            <a:avLst/>
          </a:prstGeom>
          <a:noFill/>
          <a:ln/>
        </p:spPr>
        <p:txBody>
          <a:bodyPr wrap="square" lIns="0" tIns="0" rIns="0" bIns="0" rtlCol="0" anchor="ctr"/>
          <a:lstStyle/>
          <a:p>
            <a:pPr indent="0" marL="0">
              <a:buNone/>
            </a:pPr>
            <a:r>
              <a:rPr lang="en-US" sz="2000" b="1" dirty="0">
                <a:solidFill>
                  <a:srgbClr val="F4A261"/>
                </a:solidFill>
                <a:latin typeface="Cambria" pitchFamily="34" charset="0"/>
                <a:ea typeface="Cambria" pitchFamily="34" charset="-122"/>
                <a:cs typeface="Cambria" pitchFamily="34" charset="-120"/>
              </a:rPr>
              <a:t>A · Rò rỉ</a:t>
            </a:r>
            <a:endParaRPr lang="en-US" sz="2000" dirty="0"/>
          </a:p>
        </p:txBody>
      </p:sp>
      <p:sp>
        <p:nvSpPr>
          <p:cNvPr id="6" name="Text 3"/>
          <p:cNvSpPr/>
          <p:nvPr/>
        </p:nvSpPr>
        <p:spPr>
          <a:xfrm>
            <a:off x="3657600" y="1554480"/>
            <a:ext cx="7680960" cy="86868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202 + 423 trùng xuyên split chưa khử → mAP có thể lạc quan</a:t>
            </a:r>
            <a:endParaRPr lang="en-US" sz="1500" dirty="0"/>
          </a:p>
        </p:txBody>
      </p:sp>
      <p:sp>
        <p:nvSpPr>
          <p:cNvPr id="7" name="Shape 4"/>
          <p:cNvSpPr/>
          <p:nvPr/>
        </p:nvSpPr>
        <p:spPr>
          <a:xfrm>
            <a:off x="548640" y="2697480"/>
            <a:ext cx="11064240" cy="1051560"/>
          </a:xfrm>
          <a:prstGeom prst="roundRect">
            <a:avLst>
              <a:gd name="adj" fmla="val 6957"/>
            </a:avLst>
          </a:prstGeom>
          <a:solidFill>
            <a:srgbClr val="1E3050"/>
          </a:solidFill>
          <a:ln w="25400">
            <a:solidFill>
              <a:srgbClr val="E63946"/>
            </a:solidFill>
            <a:prstDash val="solid"/>
          </a:ln>
        </p:spPr>
      </p:sp>
      <p:sp>
        <p:nvSpPr>
          <p:cNvPr id="8" name="Text 5"/>
          <p:cNvSpPr/>
          <p:nvPr/>
        </p:nvSpPr>
        <p:spPr>
          <a:xfrm>
            <a:off x="822960" y="2788920"/>
            <a:ext cx="2743200" cy="868680"/>
          </a:xfrm>
          <a:prstGeom prst="rect">
            <a:avLst/>
          </a:prstGeom>
          <a:noFill/>
          <a:ln/>
        </p:spPr>
        <p:txBody>
          <a:bodyPr wrap="square" lIns="0" tIns="0" rIns="0" bIns="0" rtlCol="0" anchor="ctr"/>
          <a:lstStyle/>
          <a:p>
            <a:pPr indent="0" marL="0">
              <a:buNone/>
            </a:pPr>
            <a:r>
              <a:rPr lang="en-US" sz="2000" b="1" dirty="0">
                <a:solidFill>
                  <a:srgbClr val="E63946"/>
                </a:solidFill>
                <a:latin typeface="Cambria" pitchFamily="34" charset="0"/>
                <a:ea typeface="Cambria" pitchFamily="34" charset="-122"/>
                <a:cs typeface="Cambria" pitchFamily="34" charset="-120"/>
              </a:rPr>
              <a:t>B · Phân hoá</a:t>
            </a:r>
            <a:endParaRPr lang="en-US" sz="2000" dirty="0"/>
          </a:p>
        </p:txBody>
      </p:sp>
      <p:sp>
        <p:nvSpPr>
          <p:cNvPr id="9" name="Text 6"/>
          <p:cNvSpPr/>
          <p:nvPr/>
        </p:nvSpPr>
        <p:spPr>
          <a:xfrm>
            <a:off x="3657600" y="2788920"/>
            <a:ext cx="7680960" cy="86868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đèn 0,541 vs biển 0,854 (p=0,0095)</a:t>
            </a:r>
            <a:endParaRPr lang="en-US" sz="1500" dirty="0"/>
          </a:p>
        </p:txBody>
      </p:sp>
      <p:sp>
        <p:nvSpPr>
          <p:cNvPr id="10" name="Shape 7"/>
          <p:cNvSpPr/>
          <p:nvPr/>
        </p:nvSpPr>
        <p:spPr>
          <a:xfrm>
            <a:off x="548640" y="3931920"/>
            <a:ext cx="11064240" cy="1051560"/>
          </a:xfrm>
          <a:prstGeom prst="roundRect">
            <a:avLst>
              <a:gd name="adj" fmla="val 6957"/>
            </a:avLst>
          </a:prstGeom>
          <a:solidFill>
            <a:srgbClr val="1E3050"/>
          </a:solidFill>
          <a:ln w="25400">
            <a:solidFill>
              <a:srgbClr val="2C7A4B"/>
            </a:solidFill>
            <a:prstDash val="solid"/>
          </a:ln>
        </p:spPr>
      </p:sp>
      <p:sp>
        <p:nvSpPr>
          <p:cNvPr id="11" name="Text 8"/>
          <p:cNvSpPr/>
          <p:nvPr/>
        </p:nvSpPr>
        <p:spPr>
          <a:xfrm>
            <a:off x="822960" y="4023360"/>
            <a:ext cx="2743200" cy="868680"/>
          </a:xfrm>
          <a:prstGeom prst="rect">
            <a:avLst/>
          </a:prstGeom>
          <a:noFill/>
          <a:ln/>
        </p:spPr>
        <p:txBody>
          <a:bodyPr wrap="square" lIns="0" tIns="0" rIns="0" bIns="0" rtlCol="0" anchor="ctr"/>
          <a:lstStyle/>
          <a:p>
            <a:pPr indent="0" marL="0">
              <a:buNone/>
            </a:pPr>
            <a:r>
              <a:rPr lang="en-US" sz="2000" b="1" dirty="0">
                <a:solidFill>
                  <a:srgbClr val="2C7A4B"/>
                </a:solidFill>
                <a:latin typeface="Cambria" pitchFamily="34" charset="0"/>
                <a:ea typeface="Cambria" pitchFamily="34" charset="-122"/>
                <a:cs typeface="Cambria" pitchFamily="34" charset="-120"/>
              </a:rPr>
              <a:t>C · Nguyên nhân</a:t>
            </a:r>
            <a:endParaRPr lang="en-US" sz="2000" dirty="0"/>
          </a:p>
        </p:txBody>
      </p:sp>
      <p:sp>
        <p:nvSpPr>
          <p:cNvPr id="12" name="Text 9"/>
          <p:cNvSpPr/>
          <p:nvPr/>
        </p:nvSpPr>
        <p:spPr>
          <a:xfrm>
            <a:off x="3657600" y="4023360"/>
            <a:ext cx="7680960" cy="86868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độ hiếm không liên quan (ρ=0,032); lỗi ở loại vật thể (đèn)</a:t>
            </a:r>
            <a:endParaRPr lang="en-US" sz="1500" dirty="0"/>
          </a:p>
        </p:txBody>
      </p:sp>
      <p:sp>
        <p:nvSpPr>
          <p:cNvPr id="13" name="Text 10"/>
          <p:cNvSpPr/>
          <p:nvPr/>
        </p:nvSpPr>
        <p:spPr>
          <a:xfrm>
            <a:off x="548640" y="5257800"/>
            <a:ext cx="11064240" cy="731520"/>
          </a:xfrm>
          <a:prstGeom prst="rect">
            <a:avLst/>
          </a:prstGeom>
          <a:noFill/>
          <a:ln/>
        </p:spPr>
        <p:txBody>
          <a:bodyPr wrap="square" lIns="0" tIns="0" rIns="0" bIns="0" rtlCol="0" anchor="ctr"/>
          <a:lstStyle/>
          <a:p>
            <a:pPr indent="0" marL="0">
              <a:buNone/>
            </a:pPr>
            <a:r>
              <a:rPr lang="en-US" sz="1500" dirty="0">
                <a:solidFill>
                  <a:srgbClr val="C6D4E2"/>
                </a:solidFill>
                <a:latin typeface="Calibri" pitchFamily="34" charset="0"/>
                <a:ea typeface="Calibri" pitchFamily="34" charset="-122"/>
                <a:cs typeface="Calibri" pitchFamily="34" charset="-120"/>
              </a:rPr>
              <a:t>Con số 0,97 vừa có thể được rò rỉ nâng đỡ, vừa che giấu phân hoá lớp — mà phân hoá đó do LOẠI VẬT THỂ, không phải mất cân bằng.</a:t>
            </a:r>
            <a:endParaRPr lang="en-US" sz="15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10789920" y="-1234440"/>
            <a:ext cx="2743200" cy="2743200"/>
          </a:xfrm>
          <a:prstGeom prst="ellipse">
            <a:avLst/>
          </a:prstGeom>
          <a:solidFill>
            <a:srgbClr val="EAF1F6"/>
          </a:solidFill>
          <a:ln w="12700">
            <a:solidFill>
              <a:srgbClr val="333333"/>
            </a:solidFill>
            <a:prstDash val="solid"/>
          </a:ln>
        </p:spPr>
      </p:sp>
      <p:sp>
        <p:nvSpPr>
          <p:cNvPr id="4" name="Shape 1"/>
          <p:cNvSpPr/>
          <p:nvPr/>
        </p:nvSpPr>
        <p:spPr>
          <a:xfrm>
            <a:off x="11475720" y="182880"/>
            <a:ext cx="822960" cy="822960"/>
          </a:xfrm>
          <a:prstGeom prst="ellipse">
            <a:avLst/>
          </a:prstGeom>
          <a:solidFill>
            <a:srgbClr val="DCE8F0"/>
          </a:solidFill>
          <a:ln w="12700">
            <a:solidFill>
              <a:srgbClr val="333333"/>
            </a:solidFill>
            <a:prstDash val="solid"/>
          </a:ln>
        </p:spPr>
      </p:sp>
      <p:sp>
        <p:nvSpPr>
          <p:cNvPr id="5" name="Shape 2"/>
          <p:cNvSpPr/>
          <p:nvPr/>
        </p:nvSpPr>
        <p:spPr>
          <a:xfrm>
            <a:off x="548640" y="6382512"/>
            <a:ext cx="11064240" cy="0"/>
          </a:xfrm>
          <a:prstGeom prst="line">
            <a:avLst/>
          </a:prstGeom>
          <a:noFill/>
          <a:ln w="12700">
            <a:solidFill>
              <a:srgbClr val="DDE3EA"/>
            </a:solidFill>
            <a:prstDash val="solid"/>
          </a:ln>
        </p:spPr>
      </p:sp>
      <p:sp>
        <p:nvSpPr>
          <p:cNvPr id="6" name="Text 3"/>
          <p:cNvSpPr/>
          <p:nvPr/>
        </p:nvSpPr>
        <p:spPr>
          <a:xfrm>
            <a:off x="548640" y="6419088"/>
            <a:ext cx="8686800" cy="274320"/>
          </a:xfrm>
          <a:prstGeom prst="rect">
            <a:avLst/>
          </a:prstGeom>
          <a:noFill/>
          <a:ln/>
        </p:spPr>
        <p:txBody>
          <a:bodyPr wrap="square" lIns="0" tIns="0" rIns="0" bIns="0" rtlCol="0" anchor="ctr"/>
          <a:lstStyle/>
          <a:p>
            <a:pPr indent="0" marL="0">
              <a:buNone/>
            </a:pPr>
            <a:r>
              <a:rPr lang="en-US" sz="900" dirty="0">
                <a:solidFill>
                  <a:srgbClr val="9AA7B4"/>
                </a:solidFill>
                <a:latin typeface="Calibri" pitchFamily="34" charset="0"/>
                <a:ea typeface="Calibri" pitchFamily="34" charset="-122"/>
                <a:cs typeface="Calibri" pitchFamily="34" charset="-120"/>
              </a:rPr>
              <a:t>Kiểm định độ tin cậy YOLOv8 · Nhóm KHMT836016/34/36</a:t>
            </a:r>
            <a:endParaRPr lang="en-US" sz="900" dirty="0"/>
          </a:p>
        </p:txBody>
      </p:sp>
      <p:sp>
        <p:nvSpPr>
          <p:cNvPr id="7" name="Text 4"/>
          <p:cNvSpPr/>
          <p:nvPr/>
        </p:nvSpPr>
        <p:spPr>
          <a:xfrm>
            <a:off x="11064240" y="6419088"/>
            <a:ext cx="548640" cy="274320"/>
          </a:xfrm>
          <a:prstGeom prst="rect">
            <a:avLst/>
          </a:prstGeom>
          <a:noFill/>
          <a:ln/>
        </p:spPr>
        <p:txBody>
          <a:bodyPr wrap="square" lIns="0" tIns="0" rIns="0" bIns="0" rtlCol="0" anchor="ctr"/>
          <a:lstStyle/>
          <a:p>
            <a:pPr algn="r" indent="0" marL="0">
              <a:buNone/>
            </a:pPr>
            <a:r>
              <a:rPr lang="en-US" sz="1000" b="1" dirty="0">
                <a:solidFill>
                  <a:srgbClr val="1C7293"/>
                </a:solidFill>
                <a:latin typeface="Calibri" pitchFamily="34" charset="0"/>
                <a:ea typeface="Calibri" pitchFamily="34" charset="-122"/>
                <a:cs typeface="Calibri" pitchFamily="34" charset="-120"/>
              </a:rPr>
              <a:t>42</a:t>
            </a:r>
            <a:endParaRPr lang="en-US" sz="1000" dirty="0"/>
          </a:p>
        </p:txBody>
      </p:sp>
      <p:sp>
        <p:nvSpPr>
          <p:cNvPr id="8" name="Shape 5"/>
          <p:cNvSpPr/>
          <p:nvPr/>
        </p:nvSpPr>
        <p:spPr>
          <a:xfrm>
            <a:off x="548640" y="457200"/>
            <a:ext cx="155448" cy="457200"/>
          </a:xfrm>
          <a:prstGeom prst="roundRect">
            <a:avLst>
              <a:gd name="adj" fmla="val 17647"/>
            </a:avLst>
          </a:prstGeom>
          <a:solidFill>
            <a:srgbClr val="1C7293"/>
          </a:solidFill>
          <a:ln w="12700">
            <a:solidFill>
              <a:srgbClr val="333333"/>
            </a:solidFill>
            <a:prstDash val="solid"/>
          </a:ln>
        </p:spPr>
      </p:sp>
      <p:sp>
        <p:nvSpPr>
          <p:cNvPr id="9" name="Text 6"/>
          <p:cNvSpPr/>
          <p:nvPr/>
        </p:nvSpPr>
        <p:spPr>
          <a:xfrm>
            <a:off x="877824" y="365760"/>
            <a:ext cx="10735056" cy="713232"/>
          </a:xfrm>
          <a:prstGeom prst="rect">
            <a:avLst/>
          </a:prstGeom>
          <a:noFill/>
          <a:ln/>
        </p:spPr>
        <p:txBody>
          <a:bodyPr wrap="square" lIns="0" tIns="0" rIns="0" bIns="0" rtlCol="0" anchor="ctr"/>
          <a:lstStyle/>
          <a:p>
            <a:pPr indent="0" marL="0">
              <a:buNone/>
            </a:pPr>
            <a:r>
              <a:rPr lang="en-US" sz="2900" b="1" dirty="0">
                <a:solidFill>
                  <a:srgbClr val="1A2430"/>
                </a:solidFill>
                <a:latin typeface="Cambria" pitchFamily="34" charset="0"/>
                <a:ea typeface="Cambria" pitchFamily="34" charset="-122"/>
                <a:cs typeface="Cambria" pitchFamily="34" charset="-120"/>
              </a:rPr>
              <a:t>Khuyến nghị</a:t>
            </a:r>
            <a:endParaRPr lang="en-US" sz="2900" dirty="0"/>
          </a:p>
        </p:txBody>
      </p:sp>
      <p:sp>
        <p:nvSpPr>
          <p:cNvPr id="10" name="Shape 7"/>
          <p:cNvSpPr/>
          <p:nvPr/>
        </p:nvSpPr>
        <p:spPr>
          <a:xfrm>
            <a:off x="548640" y="1481328"/>
            <a:ext cx="11064240" cy="1024128"/>
          </a:xfrm>
          <a:prstGeom prst="roundRect">
            <a:avLst>
              <a:gd name="adj" fmla="val 8929"/>
            </a:avLst>
          </a:prstGeom>
          <a:solidFill>
            <a:srgbClr val="F4F7FA"/>
          </a:solidFill>
          <a:ln w="12700">
            <a:solidFill>
              <a:srgbClr val="E6ECF2"/>
            </a:solidFill>
            <a:prstDash val="solid"/>
          </a:ln>
          <a:effectLst>
            <a:outerShdw sx="100000" sy="100000" kx="0" ky="0" algn="bl" rotWithShape="0" blurRad="114300" dist="25400" dir="5400000">
              <a:srgbClr val="9FB0C0">
                <a:alpha val="22000"/>
              </a:srgbClr>
            </a:outerShdw>
          </a:effectLst>
        </p:spPr>
      </p:sp>
      <p:sp>
        <p:nvSpPr>
          <p:cNvPr id="11" name="Shape 8"/>
          <p:cNvSpPr/>
          <p:nvPr/>
        </p:nvSpPr>
        <p:spPr>
          <a:xfrm>
            <a:off x="548640" y="1481328"/>
            <a:ext cx="137160" cy="1024128"/>
          </a:xfrm>
          <a:prstGeom prst="roundRect">
            <a:avLst>
              <a:gd name="adj" fmla="val 33333"/>
            </a:avLst>
          </a:prstGeom>
          <a:solidFill>
            <a:srgbClr val="1C7293"/>
          </a:solidFill>
          <a:ln w="12700">
            <a:solidFill>
              <a:srgbClr val="333333"/>
            </a:solidFill>
            <a:prstDash val="solid"/>
          </a:ln>
        </p:spPr>
      </p:sp>
      <p:sp>
        <p:nvSpPr>
          <p:cNvPr id="12" name="Shape 9"/>
          <p:cNvSpPr/>
          <p:nvPr/>
        </p:nvSpPr>
        <p:spPr>
          <a:xfrm>
            <a:off x="877824" y="1728216"/>
            <a:ext cx="530352" cy="530352"/>
          </a:xfrm>
          <a:prstGeom prst="ellipse">
            <a:avLst/>
          </a:prstGeom>
          <a:solidFill>
            <a:srgbClr val="1C7293"/>
          </a:solidFill>
          <a:ln w="12700">
            <a:solidFill>
              <a:srgbClr val="333333"/>
            </a:solidFill>
            <a:prstDash val="solid"/>
          </a:ln>
          <a:effectLst>
            <a:outerShdw sx="100000" sy="100000" kx="0" ky="0" algn="bl" rotWithShape="0" blurRad="63500" dist="12700" dir="5400000">
              <a:srgbClr val="1C7293">
                <a:alpha val="35000"/>
              </a:srgbClr>
            </a:outerShdw>
          </a:effectLst>
        </p:spPr>
      </p:sp>
      <p:sp>
        <p:nvSpPr>
          <p:cNvPr id="13" name="Text 10"/>
          <p:cNvSpPr/>
          <p:nvPr/>
        </p:nvSpPr>
        <p:spPr>
          <a:xfrm>
            <a:off x="877824" y="1728216"/>
            <a:ext cx="530352" cy="53035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4" name="Text 11"/>
          <p:cNvSpPr/>
          <p:nvPr/>
        </p:nvSpPr>
        <p:spPr>
          <a:xfrm>
            <a:off x="1645920" y="1481328"/>
            <a:ext cx="3200400" cy="1024128"/>
          </a:xfrm>
          <a:prstGeom prst="rect">
            <a:avLst/>
          </a:prstGeom>
          <a:noFill/>
          <a:ln/>
        </p:spPr>
        <p:txBody>
          <a:bodyPr wrap="square" lIns="0" tIns="0" rIns="0" bIns="0" rtlCol="0" anchor="ctr"/>
          <a:lstStyle/>
          <a:p>
            <a:pPr indent="0" marL="0">
              <a:buNone/>
            </a:pPr>
            <a:r>
              <a:rPr lang="en-US" sz="1650" b="1" dirty="0">
                <a:solidFill>
                  <a:srgbClr val="1C7293"/>
                </a:solidFill>
                <a:latin typeface="Cambria" pitchFamily="34" charset="0"/>
                <a:ea typeface="Cambria" pitchFamily="34" charset="-122"/>
                <a:cs typeface="Cambria" pitchFamily="34" charset="-120"/>
              </a:rPr>
              <a:t>Khử trùng ở valid/test</a:t>
            </a:r>
            <a:endParaRPr lang="en-US" sz="1650" dirty="0"/>
          </a:p>
        </p:txBody>
      </p:sp>
      <p:sp>
        <p:nvSpPr>
          <p:cNvPr id="15" name="Text 12"/>
          <p:cNvSpPr/>
          <p:nvPr/>
        </p:nvSpPr>
        <p:spPr>
          <a:xfrm>
            <a:off x="5029200" y="1481328"/>
            <a:ext cx="6400800" cy="1024128"/>
          </a:xfrm>
          <a:prstGeom prst="rect">
            <a:avLst/>
          </a:prstGeom>
          <a:noFill/>
          <a:ln/>
        </p:spPr>
        <p:txBody>
          <a:bodyPr wrap="square" lIns="0" tIns="0" rIns="0" bIns="0" rtlCol="0" anchor="ctr"/>
          <a:lstStyle/>
          <a:p>
            <a:pPr indent="0" marL="0">
              <a:lnSpc>
                <a:spcPct val="110000"/>
              </a:lnSpc>
              <a:buNone/>
            </a:pPr>
            <a:r>
              <a:rPr lang="en-US" sz="1450" dirty="0">
                <a:solidFill>
                  <a:srgbClr val="1A2430"/>
                </a:solidFill>
                <a:latin typeface="Calibri" pitchFamily="34" charset="0"/>
                <a:ea typeface="Calibri" pitchFamily="34" charset="-122"/>
                <a:cs typeface="Calibri" pitchFamily="34" charset="-120"/>
              </a:rPr>
              <a:t>Loại near-duplicate xuyên split trước khi báo mAP; báo thêm mAP sau khi khử.</a:t>
            </a:r>
            <a:endParaRPr lang="en-US" sz="1450" dirty="0"/>
          </a:p>
        </p:txBody>
      </p:sp>
      <p:sp>
        <p:nvSpPr>
          <p:cNvPr id="16" name="Shape 13"/>
          <p:cNvSpPr/>
          <p:nvPr/>
        </p:nvSpPr>
        <p:spPr>
          <a:xfrm>
            <a:off x="548640" y="2694432"/>
            <a:ext cx="11064240" cy="1024128"/>
          </a:xfrm>
          <a:prstGeom prst="roundRect">
            <a:avLst>
              <a:gd name="adj" fmla="val 8929"/>
            </a:avLst>
          </a:prstGeom>
          <a:solidFill>
            <a:srgbClr val="F4F7FA"/>
          </a:solidFill>
          <a:ln w="12700">
            <a:solidFill>
              <a:srgbClr val="E6ECF2"/>
            </a:solidFill>
            <a:prstDash val="solid"/>
          </a:ln>
          <a:effectLst>
            <a:outerShdw sx="100000" sy="100000" kx="0" ky="0" algn="bl" rotWithShape="0" blurRad="114300" dist="25400" dir="5400000">
              <a:srgbClr val="9FB0C0">
                <a:alpha val="22000"/>
              </a:srgbClr>
            </a:outerShdw>
          </a:effectLst>
        </p:spPr>
      </p:sp>
      <p:sp>
        <p:nvSpPr>
          <p:cNvPr id="17" name="Shape 14"/>
          <p:cNvSpPr/>
          <p:nvPr/>
        </p:nvSpPr>
        <p:spPr>
          <a:xfrm>
            <a:off x="548640" y="2694432"/>
            <a:ext cx="137160" cy="1024128"/>
          </a:xfrm>
          <a:prstGeom prst="roundRect">
            <a:avLst>
              <a:gd name="adj" fmla="val 33333"/>
            </a:avLst>
          </a:prstGeom>
          <a:solidFill>
            <a:srgbClr val="1C7293"/>
          </a:solidFill>
          <a:ln w="12700">
            <a:solidFill>
              <a:srgbClr val="333333"/>
            </a:solidFill>
            <a:prstDash val="solid"/>
          </a:ln>
        </p:spPr>
      </p:sp>
      <p:sp>
        <p:nvSpPr>
          <p:cNvPr id="18" name="Shape 15"/>
          <p:cNvSpPr/>
          <p:nvPr/>
        </p:nvSpPr>
        <p:spPr>
          <a:xfrm>
            <a:off x="877824" y="2941320"/>
            <a:ext cx="530352" cy="530352"/>
          </a:xfrm>
          <a:prstGeom prst="ellipse">
            <a:avLst/>
          </a:prstGeom>
          <a:solidFill>
            <a:srgbClr val="1C7293"/>
          </a:solidFill>
          <a:ln w="12700">
            <a:solidFill>
              <a:srgbClr val="333333"/>
            </a:solidFill>
            <a:prstDash val="solid"/>
          </a:ln>
          <a:effectLst>
            <a:outerShdw sx="100000" sy="100000" kx="0" ky="0" algn="bl" rotWithShape="0" blurRad="63500" dist="12700" dir="5400000">
              <a:srgbClr val="1C7293">
                <a:alpha val="35000"/>
              </a:srgbClr>
            </a:outerShdw>
          </a:effectLst>
        </p:spPr>
      </p:sp>
      <p:sp>
        <p:nvSpPr>
          <p:cNvPr id="19" name="Text 16"/>
          <p:cNvSpPr/>
          <p:nvPr/>
        </p:nvSpPr>
        <p:spPr>
          <a:xfrm>
            <a:off x="877824" y="2941320"/>
            <a:ext cx="530352" cy="53035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0" name="Text 17"/>
          <p:cNvSpPr/>
          <p:nvPr/>
        </p:nvSpPr>
        <p:spPr>
          <a:xfrm>
            <a:off x="1645920" y="2694432"/>
            <a:ext cx="3200400" cy="1024128"/>
          </a:xfrm>
          <a:prstGeom prst="rect">
            <a:avLst/>
          </a:prstGeom>
          <a:noFill/>
          <a:ln/>
        </p:spPr>
        <p:txBody>
          <a:bodyPr wrap="square" lIns="0" tIns="0" rIns="0" bIns="0" rtlCol="0" anchor="ctr"/>
          <a:lstStyle/>
          <a:p>
            <a:pPr indent="0" marL="0">
              <a:buNone/>
            </a:pPr>
            <a:r>
              <a:rPr lang="en-US" sz="1650" b="1" dirty="0">
                <a:solidFill>
                  <a:srgbClr val="1C7293"/>
                </a:solidFill>
                <a:latin typeface="Cambria" pitchFamily="34" charset="0"/>
                <a:ea typeface="Cambria" pitchFamily="34" charset="-122"/>
                <a:cs typeface="Cambria" pitchFamily="34" charset="-120"/>
              </a:rPr>
              <a:t>Báo cáo AP theo lớp/nhóm</a:t>
            </a:r>
            <a:endParaRPr lang="en-US" sz="1650" dirty="0"/>
          </a:p>
        </p:txBody>
      </p:sp>
      <p:sp>
        <p:nvSpPr>
          <p:cNvPr id="21" name="Text 18"/>
          <p:cNvSpPr/>
          <p:nvPr/>
        </p:nvSpPr>
        <p:spPr>
          <a:xfrm>
            <a:off x="5029200" y="2694432"/>
            <a:ext cx="6400800" cy="1024128"/>
          </a:xfrm>
          <a:prstGeom prst="rect">
            <a:avLst/>
          </a:prstGeom>
          <a:noFill/>
          <a:ln/>
        </p:spPr>
        <p:txBody>
          <a:bodyPr wrap="square" lIns="0" tIns="0" rIns="0" bIns="0" rtlCol="0" anchor="ctr"/>
          <a:lstStyle/>
          <a:p>
            <a:pPr indent="0" marL="0">
              <a:lnSpc>
                <a:spcPct val="110000"/>
              </a:lnSpc>
              <a:buNone/>
            </a:pPr>
            <a:r>
              <a:rPr lang="en-US" sz="1450" dirty="0">
                <a:solidFill>
                  <a:srgbClr val="1A2430"/>
                </a:solidFill>
                <a:latin typeface="Calibri" pitchFamily="34" charset="0"/>
                <a:ea typeface="Calibri" pitchFamily="34" charset="-122"/>
                <a:cs typeface="Calibri" pitchFamily="34" charset="-120"/>
              </a:rPr>
              <a:t>Không chỉ mAP tổng — để không che giấu điểm yếu đèn.</a:t>
            </a:r>
            <a:endParaRPr lang="en-US" sz="1450" dirty="0"/>
          </a:p>
        </p:txBody>
      </p:sp>
      <p:sp>
        <p:nvSpPr>
          <p:cNvPr id="22" name="Shape 19"/>
          <p:cNvSpPr/>
          <p:nvPr/>
        </p:nvSpPr>
        <p:spPr>
          <a:xfrm>
            <a:off x="548640" y="3907536"/>
            <a:ext cx="11064240" cy="1024128"/>
          </a:xfrm>
          <a:prstGeom prst="roundRect">
            <a:avLst>
              <a:gd name="adj" fmla="val 8929"/>
            </a:avLst>
          </a:prstGeom>
          <a:solidFill>
            <a:srgbClr val="F4F7FA"/>
          </a:solidFill>
          <a:ln w="12700">
            <a:solidFill>
              <a:srgbClr val="E6ECF2"/>
            </a:solidFill>
            <a:prstDash val="solid"/>
          </a:ln>
          <a:effectLst>
            <a:outerShdw sx="100000" sy="100000" kx="0" ky="0" algn="bl" rotWithShape="0" blurRad="114300" dist="25400" dir="5400000">
              <a:srgbClr val="9FB0C0">
                <a:alpha val="22000"/>
              </a:srgbClr>
            </a:outerShdw>
          </a:effectLst>
        </p:spPr>
      </p:sp>
      <p:sp>
        <p:nvSpPr>
          <p:cNvPr id="23" name="Shape 20"/>
          <p:cNvSpPr/>
          <p:nvPr/>
        </p:nvSpPr>
        <p:spPr>
          <a:xfrm>
            <a:off x="548640" y="3907536"/>
            <a:ext cx="137160" cy="1024128"/>
          </a:xfrm>
          <a:prstGeom prst="roundRect">
            <a:avLst>
              <a:gd name="adj" fmla="val 33333"/>
            </a:avLst>
          </a:prstGeom>
          <a:solidFill>
            <a:srgbClr val="1C7293"/>
          </a:solidFill>
          <a:ln w="12700">
            <a:solidFill>
              <a:srgbClr val="333333"/>
            </a:solidFill>
            <a:prstDash val="solid"/>
          </a:ln>
        </p:spPr>
      </p:sp>
      <p:sp>
        <p:nvSpPr>
          <p:cNvPr id="24" name="Shape 21"/>
          <p:cNvSpPr/>
          <p:nvPr/>
        </p:nvSpPr>
        <p:spPr>
          <a:xfrm>
            <a:off x="877824" y="4154424"/>
            <a:ext cx="530352" cy="530352"/>
          </a:xfrm>
          <a:prstGeom prst="ellipse">
            <a:avLst/>
          </a:prstGeom>
          <a:solidFill>
            <a:srgbClr val="1C7293"/>
          </a:solidFill>
          <a:ln w="12700">
            <a:solidFill>
              <a:srgbClr val="333333"/>
            </a:solidFill>
            <a:prstDash val="solid"/>
          </a:ln>
          <a:effectLst>
            <a:outerShdw sx="100000" sy="100000" kx="0" ky="0" algn="bl" rotWithShape="0" blurRad="63500" dist="12700" dir="5400000">
              <a:srgbClr val="1C7293">
                <a:alpha val="35000"/>
              </a:srgbClr>
            </a:outerShdw>
          </a:effectLst>
        </p:spPr>
      </p:sp>
      <p:sp>
        <p:nvSpPr>
          <p:cNvPr id="25" name="Text 22"/>
          <p:cNvSpPr/>
          <p:nvPr/>
        </p:nvSpPr>
        <p:spPr>
          <a:xfrm>
            <a:off x="877824" y="4154424"/>
            <a:ext cx="530352" cy="53035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6" name="Text 23"/>
          <p:cNvSpPr/>
          <p:nvPr/>
        </p:nvSpPr>
        <p:spPr>
          <a:xfrm>
            <a:off x="1645920" y="3907536"/>
            <a:ext cx="3200400" cy="1024128"/>
          </a:xfrm>
          <a:prstGeom prst="rect">
            <a:avLst/>
          </a:prstGeom>
          <a:noFill/>
          <a:ln/>
        </p:spPr>
        <p:txBody>
          <a:bodyPr wrap="square" lIns="0" tIns="0" rIns="0" bIns="0" rtlCol="0" anchor="ctr"/>
          <a:lstStyle/>
          <a:p>
            <a:pPr indent="0" marL="0">
              <a:buNone/>
            </a:pPr>
            <a:r>
              <a:rPr lang="en-US" sz="1650" b="1" dirty="0">
                <a:solidFill>
                  <a:srgbClr val="1C7293"/>
                </a:solidFill>
                <a:latin typeface="Cambria" pitchFamily="34" charset="0"/>
                <a:ea typeface="Cambria" pitchFamily="34" charset="-122"/>
                <a:cs typeface="Cambria" pitchFamily="34" charset="-120"/>
              </a:rPr>
              <a:t>Cải thiện lớp đèn</a:t>
            </a:r>
            <a:endParaRPr lang="en-US" sz="1650" dirty="0"/>
          </a:p>
        </p:txBody>
      </p:sp>
      <p:sp>
        <p:nvSpPr>
          <p:cNvPr id="27" name="Text 24"/>
          <p:cNvSpPr/>
          <p:nvPr/>
        </p:nvSpPr>
        <p:spPr>
          <a:xfrm>
            <a:off x="5029200" y="3907536"/>
            <a:ext cx="6400800" cy="1024128"/>
          </a:xfrm>
          <a:prstGeom prst="rect">
            <a:avLst/>
          </a:prstGeom>
          <a:noFill/>
          <a:ln/>
        </p:spPr>
        <p:txBody>
          <a:bodyPr wrap="square" lIns="0" tIns="0" rIns="0" bIns="0" rtlCol="0" anchor="ctr"/>
          <a:lstStyle/>
          <a:p>
            <a:pPr indent="0" marL="0">
              <a:lnSpc>
                <a:spcPct val="110000"/>
              </a:lnSpc>
              <a:buNone/>
            </a:pPr>
            <a:r>
              <a:rPr lang="en-US" sz="1450" dirty="0">
                <a:solidFill>
                  <a:srgbClr val="1A2430"/>
                </a:solidFill>
                <a:latin typeface="Calibri" pitchFamily="34" charset="0"/>
                <a:ea typeface="Calibri" pitchFamily="34" charset="-122"/>
                <a:cs typeface="Calibri" pitchFamily="34" charset="-120"/>
              </a:rPr>
              <a:t>Tăng imgsz 896/1024, thêm mẫu đèn khó, phân tích nhầm lẫn đỏ↔xanh.</a:t>
            </a:r>
            <a:endParaRPr lang="en-US" sz="1450" dirty="0"/>
          </a:p>
        </p:txBody>
      </p:sp>
      <p:sp>
        <p:nvSpPr>
          <p:cNvPr id="28" name="Shape 25"/>
          <p:cNvSpPr/>
          <p:nvPr/>
        </p:nvSpPr>
        <p:spPr>
          <a:xfrm>
            <a:off x="548640" y="5120640"/>
            <a:ext cx="11064240" cy="1024128"/>
          </a:xfrm>
          <a:prstGeom prst="roundRect">
            <a:avLst>
              <a:gd name="adj" fmla="val 8929"/>
            </a:avLst>
          </a:prstGeom>
          <a:solidFill>
            <a:srgbClr val="F4F7FA"/>
          </a:solidFill>
          <a:ln w="12700">
            <a:solidFill>
              <a:srgbClr val="E6ECF2"/>
            </a:solidFill>
            <a:prstDash val="solid"/>
          </a:ln>
          <a:effectLst>
            <a:outerShdw sx="100000" sy="100000" kx="0" ky="0" algn="bl" rotWithShape="0" blurRad="114300" dist="25400" dir="5400000">
              <a:srgbClr val="9FB0C0">
                <a:alpha val="22000"/>
              </a:srgbClr>
            </a:outerShdw>
          </a:effectLst>
        </p:spPr>
      </p:sp>
      <p:sp>
        <p:nvSpPr>
          <p:cNvPr id="29" name="Shape 26"/>
          <p:cNvSpPr/>
          <p:nvPr/>
        </p:nvSpPr>
        <p:spPr>
          <a:xfrm>
            <a:off x="548640" y="5120640"/>
            <a:ext cx="137160" cy="1024128"/>
          </a:xfrm>
          <a:prstGeom prst="roundRect">
            <a:avLst>
              <a:gd name="adj" fmla="val 33333"/>
            </a:avLst>
          </a:prstGeom>
          <a:solidFill>
            <a:srgbClr val="1C7293"/>
          </a:solidFill>
          <a:ln w="12700">
            <a:solidFill>
              <a:srgbClr val="333333"/>
            </a:solidFill>
            <a:prstDash val="solid"/>
          </a:ln>
        </p:spPr>
      </p:sp>
      <p:sp>
        <p:nvSpPr>
          <p:cNvPr id="30" name="Shape 27"/>
          <p:cNvSpPr/>
          <p:nvPr/>
        </p:nvSpPr>
        <p:spPr>
          <a:xfrm>
            <a:off x="877824" y="5367528"/>
            <a:ext cx="530352" cy="530352"/>
          </a:xfrm>
          <a:prstGeom prst="ellipse">
            <a:avLst/>
          </a:prstGeom>
          <a:solidFill>
            <a:srgbClr val="1C7293"/>
          </a:solidFill>
          <a:ln w="12700">
            <a:solidFill>
              <a:srgbClr val="333333"/>
            </a:solidFill>
            <a:prstDash val="solid"/>
          </a:ln>
          <a:effectLst>
            <a:outerShdw sx="100000" sy="100000" kx="0" ky="0" algn="bl" rotWithShape="0" blurRad="63500" dist="12700" dir="5400000">
              <a:srgbClr val="1C7293">
                <a:alpha val="35000"/>
              </a:srgbClr>
            </a:outerShdw>
          </a:effectLst>
        </p:spPr>
      </p:sp>
      <p:sp>
        <p:nvSpPr>
          <p:cNvPr id="31" name="Text 28"/>
          <p:cNvSpPr/>
          <p:nvPr/>
        </p:nvSpPr>
        <p:spPr>
          <a:xfrm>
            <a:off x="877824" y="5367528"/>
            <a:ext cx="530352" cy="53035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32" name="Text 29"/>
          <p:cNvSpPr/>
          <p:nvPr/>
        </p:nvSpPr>
        <p:spPr>
          <a:xfrm>
            <a:off x="1645920" y="5120640"/>
            <a:ext cx="3200400" cy="1024128"/>
          </a:xfrm>
          <a:prstGeom prst="rect">
            <a:avLst/>
          </a:prstGeom>
          <a:noFill/>
          <a:ln/>
        </p:spPr>
        <p:txBody>
          <a:bodyPr wrap="square" lIns="0" tIns="0" rIns="0" bIns="0" rtlCol="0" anchor="ctr"/>
          <a:lstStyle/>
          <a:p>
            <a:pPr indent="0" marL="0">
              <a:buNone/>
            </a:pPr>
            <a:r>
              <a:rPr lang="en-US" sz="1650" b="1" dirty="0">
                <a:solidFill>
                  <a:srgbClr val="1C7293"/>
                </a:solidFill>
                <a:latin typeface="Cambria" pitchFamily="34" charset="0"/>
                <a:ea typeface="Cambria" pitchFamily="34" charset="-122"/>
                <a:cs typeface="Cambria" pitchFamily="34" charset="-120"/>
              </a:rPr>
              <a:t>Không oversampling lớp hiếm</a:t>
            </a:r>
            <a:endParaRPr lang="en-US" sz="1650" dirty="0"/>
          </a:p>
        </p:txBody>
      </p:sp>
      <p:sp>
        <p:nvSpPr>
          <p:cNvPr id="33" name="Text 30"/>
          <p:cNvSpPr/>
          <p:nvPr/>
        </p:nvSpPr>
        <p:spPr>
          <a:xfrm>
            <a:off x="5029200" y="5120640"/>
            <a:ext cx="6400800" cy="1024128"/>
          </a:xfrm>
          <a:prstGeom prst="rect">
            <a:avLst/>
          </a:prstGeom>
          <a:noFill/>
          <a:ln/>
        </p:spPr>
        <p:txBody>
          <a:bodyPr wrap="square" lIns="0" tIns="0" rIns="0" bIns="0" rtlCol="0" anchor="ctr"/>
          <a:lstStyle/>
          <a:p>
            <a:pPr indent="0" marL="0">
              <a:lnSpc>
                <a:spcPct val="110000"/>
              </a:lnSpc>
              <a:buNone/>
            </a:pPr>
            <a:r>
              <a:rPr lang="en-US" sz="1450" dirty="0">
                <a:solidFill>
                  <a:srgbClr val="1A2430"/>
                </a:solidFill>
                <a:latin typeface="Calibri" pitchFamily="34" charset="0"/>
                <a:ea typeface="Calibri" pitchFamily="34" charset="-122"/>
                <a:cs typeface="Calibri" pitchFamily="34" charset="-120"/>
              </a:rPr>
              <a:t>Vì độ hiếm không phải nguyên nhân của thất bại đèn.</a:t>
            </a:r>
            <a:endParaRPr lang="en-US" sz="14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10789920" y="-1234440"/>
            <a:ext cx="2743200" cy="2743200"/>
          </a:xfrm>
          <a:prstGeom prst="ellipse">
            <a:avLst/>
          </a:prstGeom>
          <a:solidFill>
            <a:srgbClr val="EAF1F6"/>
          </a:solidFill>
          <a:ln w="12700">
            <a:solidFill>
              <a:srgbClr val="333333"/>
            </a:solidFill>
            <a:prstDash val="solid"/>
          </a:ln>
        </p:spPr>
      </p:sp>
      <p:sp>
        <p:nvSpPr>
          <p:cNvPr id="4" name="Shape 1"/>
          <p:cNvSpPr/>
          <p:nvPr/>
        </p:nvSpPr>
        <p:spPr>
          <a:xfrm>
            <a:off x="11475720" y="182880"/>
            <a:ext cx="822960" cy="822960"/>
          </a:xfrm>
          <a:prstGeom prst="ellipse">
            <a:avLst/>
          </a:prstGeom>
          <a:solidFill>
            <a:srgbClr val="DCE8F0"/>
          </a:solidFill>
          <a:ln w="12700">
            <a:solidFill>
              <a:srgbClr val="333333"/>
            </a:solidFill>
            <a:prstDash val="solid"/>
          </a:ln>
        </p:spPr>
      </p:sp>
      <p:sp>
        <p:nvSpPr>
          <p:cNvPr id="5" name="Shape 2"/>
          <p:cNvSpPr/>
          <p:nvPr/>
        </p:nvSpPr>
        <p:spPr>
          <a:xfrm>
            <a:off x="548640" y="6382512"/>
            <a:ext cx="11064240" cy="0"/>
          </a:xfrm>
          <a:prstGeom prst="line">
            <a:avLst/>
          </a:prstGeom>
          <a:noFill/>
          <a:ln w="12700">
            <a:solidFill>
              <a:srgbClr val="DDE3EA"/>
            </a:solidFill>
            <a:prstDash val="solid"/>
          </a:ln>
        </p:spPr>
      </p:sp>
      <p:sp>
        <p:nvSpPr>
          <p:cNvPr id="6" name="Text 3"/>
          <p:cNvSpPr/>
          <p:nvPr/>
        </p:nvSpPr>
        <p:spPr>
          <a:xfrm>
            <a:off x="548640" y="6419088"/>
            <a:ext cx="8686800" cy="274320"/>
          </a:xfrm>
          <a:prstGeom prst="rect">
            <a:avLst/>
          </a:prstGeom>
          <a:noFill/>
          <a:ln/>
        </p:spPr>
        <p:txBody>
          <a:bodyPr wrap="square" lIns="0" tIns="0" rIns="0" bIns="0" rtlCol="0" anchor="ctr"/>
          <a:lstStyle/>
          <a:p>
            <a:pPr indent="0" marL="0">
              <a:buNone/>
            </a:pPr>
            <a:r>
              <a:rPr lang="en-US" sz="900" dirty="0">
                <a:solidFill>
                  <a:srgbClr val="9AA7B4"/>
                </a:solidFill>
                <a:latin typeface="Calibri" pitchFamily="34" charset="0"/>
                <a:ea typeface="Calibri" pitchFamily="34" charset="-122"/>
                <a:cs typeface="Calibri" pitchFamily="34" charset="-120"/>
              </a:rPr>
              <a:t>Kiểm định độ tin cậy YOLOv8 · Nhóm KHMT836016/34/36</a:t>
            </a:r>
            <a:endParaRPr lang="en-US" sz="900" dirty="0"/>
          </a:p>
        </p:txBody>
      </p:sp>
      <p:sp>
        <p:nvSpPr>
          <p:cNvPr id="7" name="Text 4"/>
          <p:cNvSpPr/>
          <p:nvPr/>
        </p:nvSpPr>
        <p:spPr>
          <a:xfrm>
            <a:off x="11064240" y="6419088"/>
            <a:ext cx="548640" cy="274320"/>
          </a:xfrm>
          <a:prstGeom prst="rect">
            <a:avLst/>
          </a:prstGeom>
          <a:noFill/>
          <a:ln/>
        </p:spPr>
        <p:txBody>
          <a:bodyPr wrap="square" lIns="0" tIns="0" rIns="0" bIns="0" rtlCol="0" anchor="ctr"/>
          <a:lstStyle/>
          <a:p>
            <a:pPr algn="r" indent="0" marL="0">
              <a:buNone/>
            </a:pPr>
            <a:r>
              <a:rPr lang="en-US" sz="1000" b="1" dirty="0">
                <a:solidFill>
                  <a:srgbClr val="1C7293"/>
                </a:solidFill>
                <a:latin typeface="Calibri" pitchFamily="34" charset="0"/>
                <a:ea typeface="Calibri" pitchFamily="34" charset="-122"/>
                <a:cs typeface="Calibri" pitchFamily="34" charset="-120"/>
              </a:rPr>
              <a:t>43</a:t>
            </a:r>
            <a:endParaRPr lang="en-US" sz="1000" dirty="0"/>
          </a:p>
        </p:txBody>
      </p:sp>
      <p:sp>
        <p:nvSpPr>
          <p:cNvPr id="8" name="Shape 5"/>
          <p:cNvSpPr/>
          <p:nvPr/>
        </p:nvSpPr>
        <p:spPr>
          <a:xfrm>
            <a:off x="548640" y="457200"/>
            <a:ext cx="155448" cy="457200"/>
          </a:xfrm>
          <a:prstGeom prst="roundRect">
            <a:avLst>
              <a:gd name="adj" fmla="val 17647"/>
            </a:avLst>
          </a:prstGeom>
          <a:solidFill>
            <a:srgbClr val="1C7293"/>
          </a:solidFill>
          <a:ln w="12700">
            <a:solidFill>
              <a:srgbClr val="333333"/>
            </a:solidFill>
            <a:prstDash val="solid"/>
          </a:ln>
        </p:spPr>
      </p:sp>
      <p:sp>
        <p:nvSpPr>
          <p:cNvPr id="9" name="Text 6"/>
          <p:cNvSpPr/>
          <p:nvPr/>
        </p:nvSpPr>
        <p:spPr>
          <a:xfrm>
            <a:off x="877824" y="365760"/>
            <a:ext cx="10735056" cy="713232"/>
          </a:xfrm>
          <a:prstGeom prst="rect">
            <a:avLst/>
          </a:prstGeom>
          <a:noFill/>
          <a:ln/>
        </p:spPr>
        <p:txBody>
          <a:bodyPr wrap="square" lIns="0" tIns="0" rIns="0" bIns="0" rtlCol="0" anchor="ctr"/>
          <a:lstStyle/>
          <a:p>
            <a:pPr indent="0" marL="0">
              <a:buNone/>
            </a:pPr>
            <a:r>
              <a:rPr lang="en-US" sz="2900" b="1" dirty="0">
                <a:solidFill>
                  <a:srgbClr val="1A2430"/>
                </a:solidFill>
                <a:latin typeface="Cambria" pitchFamily="34" charset="0"/>
                <a:ea typeface="Cambria" pitchFamily="34" charset="-122"/>
                <a:cs typeface="Cambria" pitchFamily="34" charset="-120"/>
              </a:rPr>
              <a:t>Hạn chế và sản phẩm kèm theo</a:t>
            </a:r>
            <a:endParaRPr lang="en-US" sz="2900" dirty="0"/>
          </a:p>
        </p:txBody>
      </p:sp>
      <p:sp>
        <p:nvSpPr>
          <p:cNvPr id="10" name="Shape 7"/>
          <p:cNvSpPr/>
          <p:nvPr/>
        </p:nvSpPr>
        <p:spPr>
          <a:xfrm>
            <a:off x="548640" y="1481328"/>
            <a:ext cx="5394960" cy="4663440"/>
          </a:xfrm>
          <a:prstGeom prst="roundRect">
            <a:avLst>
              <a:gd name="adj" fmla="val 1961"/>
            </a:avLst>
          </a:prstGeom>
          <a:solidFill>
            <a:srgbClr val="FDF3E7"/>
          </a:solidFill>
          <a:ln w="12700">
            <a:solidFill>
              <a:srgbClr val="E6ECF2"/>
            </a:solidFill>
            <a:prstDash val="solid"/>
          </a:ln>
          <a:effectLst>
            <a:outerShdw sx="100000" sy="100000" kx="0" ky="0" algn="bl" rotWithShape="0" blurRad="114300" dist="25400" dir="5400000">
              <a:srgbClr val="9FB0C0">
                <a:alpha val="22000"/>
              </a:srgbClr>
            </a:outerShdw>
          </a:effectLst>
        </p:spPr>
      </p:sp>
      <p:sp>
        <p:nvSpPr>
          <p:cNvPr id="11" name="Shape 8"/>
          <p:cNvSpPr/>
          <p:nvPr/>
        </p:nvSpPr>
        <p:spPr>
          <a:xfrm>
            <a:off x="548640" y="1481328"/>
            <a:ext cx="5394960" cy="128016"/>
          </a:xfrm>
          <a:prstGeom prst="roundRect">
            <a:avLst>
              <a:gd name="adj" fmla="val 21429"/>
            </a:avLst>
          </a:prstGeom>
          <a:solidFill>
            <a:srgbClr val="B5651D"/>
          </a:solidFill>
          <a:ln w="12700">
            <a:solidFill>
              <a:srgbClr val="333333"/>
            </a:solidFill>
            <a:prstDash val="solid"/>
          </a:ln>
        </p:spPr>
      </p:sp>
      <p:sp>
        <p:nvSpPr>
          <p:cNvPr id="12" name="Text 9"/>
          <p:cNvSpPr/>
          <p:nvPr/>
        </p:nvSpPr>
        <p:spPr>
          <a:xfrm>
            <a:off x="859536" y="1810512"/>
            <a:ext cx="4754880" cy="365760"/>
          </a:xfrm>
          <a:prstGeom prst="rect">
            <a:avLst/>
          </a:prstGeom>
          <a:noFill/>
          <a:ln/>
        </p:spPr>
        <p:txBody>
          <a:bodyPr wrap="square" lIns="0" tIns="0" rIns="0" bIns="0" rtlCol="0" anchor="ctr"/>
          <a:lstStyle/>
          <a:p>
            <a:pPr indent="0" marL="0">
              <a:buNone/>
            </a:pPr>
            <a:r>
              <a:rPr lang="en-US" sz="1900" b="1" dirty="0">
                <a:solidFill>
                  <a:srgbClr val="B5651D"/>
                </a:solidFill>
                <a:latin typeface="Cambria" pitchFamily="34" charset="0"/>
                <a:ea typeface="Cambria" pitchFamily="34" charset="-122"/>
                <a:cs typeface="Cambria" pitchFamily="34" charset="-120"/>
              </a:rPr>
              <a:t>Hạn chế</a:t>
            </a:r>
            <a:endParaRPr lang="en-US" sz="1900" dirty="0"/>
          </a:p>
        </p:txBody>
      </p:sp>
      <p:sp>
        <p:nvSpPr>
          <p:cNvPr id="13" name="Text 10"/>
          <p:cNvSpPr/>
          <p:nvPr/>
        </p:nvSpPr>
        <p:spPr>
          <a:xfrm>
            <a:off x="914400" y="2395728"/>
            <a:ext cx="4754880" cy="3566160"/>
          </a:xfrm>
          <a:prstGeom prst="rect">
            <a:avLst/>
          </a:prstGeom>
          <a:noFill/>
          <a:ln/>
        </p:spPr>
        <p:txBody>
          <a:bodyPr wrap="square" lIns="0" tIns="0" rIns="0" bIns="0" rtlCol="0" anchor="ctr"/>
          <a:lstStyle/>
          <a:p>
            <a:pPr marL="228600" indent="-228600">
              <a:lnSpc>
                <a:spcPct val="108000"/>
              </a:lnSpc>
              <a:spcAft>
                <a:spcPts val="1200"/>
              </a:spcAft>
              <a:buSzPct val="100000"/>
              <a:buChar char="•"/>
            </a:pPr>
            <a:r>
              <a:rPr lang="en-US" sz="1500" dirty="0">
                <a:solidFill>
                  <a:srgbClr val="1A2430"/>
                </a:solidFill>
                <a:latin typeface="Calibri" pitchFamily="34" charset="0"/>
                <a:ea typeface="Calibri" pitchFamily="34" charset="-122"/>
                <a:cs typeface="Calibri" pitchFamily="34" charset="-120"/>
              </a:rPr>
              <a:t>Chế độ results-only: chưa đo trực tiếp mức sụt mAP sau khi khử rò rỉ (mới định lượng phơi nhiễm).</a:t>
            </a:r>
            <a:endParaRPr lang="en-US" sz="1500" dirty="0"/>
          </a:p>
          <a:p>
            <a:pPr marL="228600" indent="-228600">
              <a:lnSpc>
                <a:spcPct val="108000"/>
              </a:lnSpc>
              <a:spcAft>
                <a:spcPts val="1200"/>
              </a:spcAft>
              <a:buSzPct val="100000"/>
              <a:buChar char="•"/>
            </a:pPr>
            <a:r>
              <a:rPr lang="en-US" sz="1500" dirty="0">
                <a:solidFill>
                  <a:srgbClr val="1A2430"/>
                </a:solidFill>
                <a:latin typeface="Calibri" pitchFamily="34" charset="0"/>
                <a:ea typeface="Calibri" pitchFamily="34" charset="-122"/>
                <a:cs typeface="Calibri" pitchFamily="34" charset="-120"/>
              </a:rPr>
              <a:t>Nhóm đèn chỉ 2 lớp → kiểm định có ý nghĩa nhưng cần thận trọng khi khái quát.</a:t>
            </a:r>
            <a:endParaRPr lang="en-US" sz="1500" dirty="0"/>
          </a:p>
          <a:p>
            <a:pPr marL="228600" indent="-228600">
              <a:lnSpc>
                <a:spcPct val="108000"/>
              </a:lnSpc>
              <a:spcAft>
                <a:spcPts val="1200"/>
              </a:spcAft>
              <a:buSzPct val="100000"/>
              <a:buChar char="•"/>
            </a:pPr>
            <a:r>
              <a:rPr lang="en-US" sz="1500" dirty="0">
                <a:solidFill>
                  <a:srgbClr val="1A2430"/>
                </a:solidFill>
                <a:latin typeface="Calibri" pitchFamily="34" charset="0"/>
                <a:ea typeface="Calibri" pitchFamily="34" charset="-122"/>
                <a:cs typeface="Calibri" pitchFamily="34" charset="-120"/>
              </a:rPr>
              <a:t>Kết quả gắn với bộ dữ liệu và mô hình cụ thể này.</a:t>
            </a:r>
            <a:endParaRPr lang="en-US" sz="1500" dirty="0"/>
          </a:p>
        </p:txBody>
      </p:sp>
      <p:sp>
        <p:nvSpPr>
          <p:cNvPr id="14" name="Shape 11"/>
          <p:cNvSpPr/>
          <p:nvPr/>
        </p:nvSpPr>
        <p:spPr>
          <a:xfrm>
            <a:off x="6217920" y="1481328"/>
            <a:ext cx="5394960" cy="4663440"/>
          </a:xfrm>
          <a:prstGeom prst="roundRect">
            <a:avLst>
              <a:gd name="adj" fmla="val 1961"/>
            </a:avLst>
          </a:prstGeom>
          <a:solidFill>
            <a:srgbClr val="152238"/>
          </a:solidFill>
          <a:ln w="12700">
            <a:solidFill>
              <a:srgbClr val="E6ECF2"/>
            </a:solidFill>
            <a:prstDash val="solid"/>
          </a:ln>
          <a:effectLst>
            <a:outerShdw sx="100000" sy="100000" kx="0" ky="0" algn="bl" rotWithShape="0" blurRad="114300" dist="25400" dir="5400000">
              <a:srgbClr val="9FB0C0">
                <a:alpha val="22000"/>
              </a:srgbClr>
            </a:outerShdw>
          </a:effectLst>
        </p:spPr>
      </p:sp>
      <p:sp>
        <p:nvSpPr>
          <p:cNvPr id="15" name="Shape 12"/>
          <p:cNvSpPr/>
          <p:nvPr/>
        </p:nvSpPr>
        <p:spPr>
          <a:xfrm>
            <a:off x="6217920" y="1481328"/>
            <a:ext cx="5394960" cy="128016"/>
          </a:xfrm>
          <a:prstGeom prst="roundRect">
            <a:avLst>
              <a:gd name="adj" fmla="val 21429"/>
            </a:avLst>
          </a:prstGeom>
          <a:solidFill>
            <a:srgbClr val="F4A261"/>
          </a:solidFill>
          <a:ln w="12700">
            <a:solidFill>
              <a:srgbClr val="333333"/>
            </a:solidFill>
            <a:prstDash val="solid"/>
          </a:ln>
        </p:spPr>
      </p:sp>
      <p:sp>
        <p:nvSpPr>
          <p:cNvPr id="16" name="Text 13"/>
          <p:cNvSpPr/>
          <p:nvPr/>
        </p:nvSpPr>
        <p:spPr>
          <a:xfrm>
            <a:off x="6528816" y="1810512"/>
            <a:ext cx="4754880" cy="365760"/>
          </a:xfrm>
          <a:prstGeom prst="rect">
            <a:avLst/>
          </a:prstGeom>
          <a:noFill/>
          <a:ln/>
        </p:spPr>
        <p:txBody>
          <a:bodyPr wrap="square" lIns="0" tIns="0" rIns="0" bIns="0" rtlCol="0" anchor="ctr"/>
          <a:lstStyle/>
          <a:p>
            <a:pPr indent="0" marL="0">
              <a:buNone/>
            </a:pPr>
            <a:r>
              <a:rPr lang="en-US" sz="1900" b="1" dirty="0">
                <a:solidFill>
                  <a:srgbClr val="F4A261"/>
                </a:solidFill>
                <a:latin typeface="Cambria" pitchFamily="34" charset="0"/>
                <a:ea typeface="Cambria" pitchFamily="34" charset="-122"/>
                <a:cs typeface="Cambria" pitchFamily="34" charset="-120"/>
              </a:rPr>
              <a:t>Sản phẩm kèm theo</a:t>
            </a:r>
            <a:endParaRPr lang="en-US" sz="1900" dirty="0"/>
          </a:p>
        </p:txBody>
      </p:sp>
      <p:sp>
        <p:nvSpPr>
          <p:cNvPr id="17" name="Text 14"/>
          <p:cNvSpPr/>
          <p:nvPr/>
        </p:nvSpPr>
        <p:spPr>
          <a:xfrm>
            <a:off x="6583680" y="2395728"/>
            <a:ext cx="4754880" cy="3566160"/>
          </a:xfrm>
          <a:prstGeom prst="rect">
            <a:avLst/>
          </a:prstGeom>
          <a:noFill/>
          <a:ln/>
        </p:spPr>
        <p:txBody>
          <a:bodyPr wrap="square" lIns="0" tIns="0" rIns="0" bIns="0" rtlCol="0" anchor="ctr"/>
          <a:lstStyle/>
          <a:p>
            <a:pPr marL="228600" indent="-228600">
              <a:lnSpc>
                <a:spcPct val="108000"/>
              </a:lnSpc>
              <a:spcAft>
                <a:spcPts val="1200"/>
              </a:spcAft>
              <a:buSzPct val="100000"/>
              <a:buChar char="•"/>
            </a:pPr>
            <a:r>
              <a:rPr lang="en-US" sz="1500" dirty="0">
                <a:solidFill>
                  <a:srgbClr val="E8EEF4"/>
                </a:solidFill>
                <a:latin typeface="Calibri" pitchFamily="34" charset="0"/>
                <a:ea typeface="Calibri" pitchFamily="34" charset="-122"/>
                <a:cs typeface="Calibri" pitchFamily="34" charset="-120"/>
              </a:rPr>
              <a:t>Pipeline phân tích tái lập (src/) + pytest 6/6 đạt.</a:t>
            </a:r>
            <a:endParaRPr lang="en-US" sz="1500" dirty="0"/>
          </a:p>
          <a:p>
            <a:pPr marL="228600" indent="-228600">
              <a:lnSpc>
                <a:spcPct val="108000"/>
              </a:lnSpc>
              <a:spcAft>
                <a:spcPts val="1200"/>
              </a:spcAft>
              <a:buSzPct val="100000"/>
              <a:buChar char="•"/>
            </a:pPr>
            <a:r>
              <a:rPr lang="en-US" sz="1500" dirty="0">
                <a:solidFill>
                  <a:srgbClr val="E8EEF4"/>
                </a:solidFill>
                <a:latin typeface="Calibri" pitchFamily="34" charset="0"/>
                <a:ea typeface="Calibri" pitchFamily="34" charset="-122"/>
                <a:cs typeface="Calibri" pitchFamily="34" charset="-120"/>
              </a:rPr>
              <a:t>Ứng dụng web Streamlit có tab DEMO phát hiện trực tiếp.</a:t>
            </a:r>
            <a:endParaRPr lang="en-US" sz="1500" dirty="0"/>
          </a:p>
          <a:p>
            <a:pPr marL="228600" indent="-228600">
              <a:lnSpc>
                <a:spcPct val="108000"/>
              </a:lnSpc>
              <a:spcAft>
                <a:spcPts val="1200"/>
              </a:spcAft>
              <a:buSzPct val="100000"/>
              <a:buChar char="•"/>
            </a:pPr>
            <a:r>
              <a:rPr lang="en-US" sz="1500" dirty="0">
                <a:solidFill>
                  <a:srgbClr val="E8EEF4"/>
                </a:solidFill>
                <a:latin typeface="Calibri" pitchFamily="34" charset="0"/>
                <a:ea typeface="Calibri" pitchFamily="34" charset="-122"/>
                <a:cs typeface="Calibri" pitchFamily="34" charset="-120"/>
              </a:rPr>
              <a:t>Báo cáo Word (.docx) và LaTeX (mẫu trường).</a:t>
            </a:r>
            <a:endParaRPr lang="en-US" sz="1500" dirty="0"/>
          </a:p>
          <a:p>
            <a:pPr marL="228600" indent="-228600">
              <a:lnSpc>
                <a:spcPct val="108000"/>
              </a:lnSpc>
              <a:spcAft>
                <a:spcPts val="1200"/>
              </a:spcAft>
              <a:buSzPct val="100000"/>
              <a:buChar char="•"/>
            </a:pPr>
            <a:r>
              <a:rPr lang="en-US" sz="1500" dirty="0">
                <a:solidFill>
                  <a:srgbClr val="E8EEF4"/>
                </a:solidFill>
                <a:latin typeface="Calibri" pitchFamily="34" charset="0"/>
                <a:ea typeface="Calibri" pitchFamily="34" charset="-122"/>
                <a:cs typeface="Calibri" pitchFamily="34" charset="-120"/>
              </a:rPr>
              <a:t>Bộ slide trình bày này.</a:t>
            </a:r>
            <a:endParaRPr lang="en-US" sz="15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152238"/>
        </a:solidFill>
      </p:bgPr>
    </p:bg>
    <p:spTree>
      <p:nvGrpSpPr>
        <p:cNvPr id="1" name=""/>
        <p:cNvGrpSpPr/>
        <p:nvPr/>
      </p:nvGrpSpPr>
      <p:grpSpPr>
        <a:xfrm>
          <a:off x="0" y="0"/>
          <a:ext cx="0" cy="0"/>
          <a:chOff x="0" y="0"/>
          <a:chExt cx="0" cy="0"/>
        </a:xfrm>
      </p:grpSpPr>
      <p:sp>
        <p:nvSpPr>
          <p:cNvPr id="3" name="Shape 0"/>
          <p:cNvSpPr/>
          <p:nvPr/>
        </p:nvSpPr>
        <p:spPr>
          <a:xfrm>
            <a:off x="9326880" y="-1097280"/>
            <a:ext cx="4389120" cy="4389120"/>
          </a:xfrm>
          <a:prstGeom prst="ellipse">
            <a:avLst/>
          </a:prstGeom>
          <a:solidFill>
            <a:srgbClr val="1E3050"/>
          </a:solidFill>
          <a:ln w="12700">
            <a:solidFill>
              <a:srgbClr val="333333"/>
            </a:solidFill>
            <a:prstDash val="solid"/>
          </a:ln>
        </p:spPr>
      </p:sp>
      <p:sp>
        <p:nvSpPr>
          <p:cNvPr id="4" name="Shape 1"/>
          <p:cNvSpPr/>
          <p:nvPr/>
        </p:nvSpPr>
        <p:spPr>
          <a:xfrm>
            <a:off x="10424160" y="4389120"/>
            <a:ext cx="2560320" cy="2560320"/>
          </a:xfrm>
          <a:prstGeom prst="ellipse">
            <a:avLst/>
          </a:prstGeom>
          <a:solidFill>
            <a:srgbClr val="1C7293"/>
          </a:solidFill>
          <a:ln w="12700">
            <a:solidFill>
              <a:srgbClr val="333333"/>
            </a:solidFill>
            <a:prstDash val="solid"/>
          </a:ln>
        </p:spPr>
      </p:sp>
      <p:sp>
        <p:nvSpPr>
          <p:cNvPr id="5" name="Text 2"/>
          <p:cNvSpPr/>
          <p:nvPr/>
        </p:nvSpPr>
        <p:spPr>
          <a:xfrm>
            <a:off x="548640" y="2194560"/>
            <a:ext cx="8778240" cy="8229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Xin cảm ơn thầy/cô đã lắng nghe</a:t>
            </a:r>
            <a:endParaRPr lang="en-US" sz="3400" dirty="0"/>
          </a:p>
        </p:txBody>
      </p:sp>
      <p:sp>
        <p:nvSpPr>
          <p:cNvPr id="6" name="Text 3"/>
          <p:cNvSpPr/>
          <p:nvPr/>
        </p:nvSpPr>
        <p:spPr>
          <a:xfrm>
            <a:off x="548640" y="3054096"/>
            <a:ext cx="8778240" cy="420624"/>
          </a:xfrm>
          <a:prstGeom prst="rect">
            <a:avLst/>
          </a:prstGeom>
          <a:noFill/>
          <a:ln/>
        </p:spPr>
        <p:txBody>
          <a:bodyPr wrap="square" lIns="0" tIns="0" rIns="0" bIns="0" rtlCol="0" anchor="ctr"/>
          <a:lstStyle/>
          <a:p>
            <a:pPr indent="0" marL="0">
              <a:buNone/>
            </a:pPr>
            <a:r>
              <a:rPr lang="en-US" sz="1600" dirty="0">
                <a:solidFill>
                  <a:srgbClr val="9DB2C6"/>
                </a:solidFill>
                <a:latin typeface="Calibri" pitchFamily="34" charset="0"/>
                <a:ea typeface="Calibri" pitchFamily="34" charset="-122"/>
                <a:cs typeface="Calibri" pitchFamily="34" charset="-120"/>
              </a:rPr>
              <a:t>Nhóm em sẵn sàng nhận câu hỏi và góp ý</a:t>
            </a:r>
            <a:endParaRPr lang="en-US" sz="1600" dirty="0"/>
          </a:p>
        </p:txBody>
      </p:sp>
      <p:sp>
        <p:nvSpPr>
          <p:cNvPr id="7" name="Shape 4"/>
          <p:cNvSpPr/>
          <p:nvPr/>
        </p:nvSpPr>
        <p:spPr>
          <a:xfrm>
            <a:off x="548640" y="3931920"/>
            <a:ext cx="9144000" cy="1371600"/>
          </a:xfrm>
          <a:prstGeom prst="roundRect">
            <a:avLst>
              <a:gd name="adj" fmla="val 6667"/>
            </a:avLst>
          </a:prstGeom>
          <a:solidFill>
            <a:srgbClr val="1E3050"/>
          </a:solidFill>
          <a:ln w="12700">
            <a:solidFill>
              <a:srgbClr val="333333"/>
            </a:solidFill>
            <a:prstDash val="solid"/>
          </a:ln>
        </p:spPr>
      </p:sp>
      <p:sp>
        <p:nvSpPr>
          <p:cNvPr id="8" name="Text 5"/>
          <p:cNvSpPr/>
          <p:nvPr/>
        </p:nvSpPr>
        <p:spPr>
          <a:xfrm>
            <a:off x="868680" y="4133088"/>
            <a:ext cx="850392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Huỳnh Phát Lợi · Đoàn Huỳnh Thanh Tú · Võ Phú Vinh</a:t>
            </a:r>
            <a:endParaRPr lang="en-US" sz="1500" dirty="0"/>
          </a:p>
        </p:txBody>
      </p:sp>
      <p:sp>
        <p:nvSpPr>
          <p:cNvPr id="9" name="Text 6"/>
          <p:cNvSpPr/>
          <p:nvPr/>
        </p:nvSpPr>
        <p:spPr>
          <a:xfrm>
            <a:off x="868680" y="4535424"/>
            <a:ext cx="8503920" cy="640080"/>
          </a:xfrm>
          <a:prstGeom prst="rect">
            <a:avLst/>
          </a:prstGeom>
          <a:noFill/>
          <a:ln/>
        </p:spPr>
        <p:txBody>
          <a:bodyPr wrap="square" lIns="0" tIns="0" rIns="0" bIns="0" rtlCol="0" anchor="t"/>
          <a:lstStyle/>
          <a:p>
            <a:pPr indent="0" marL="0">
              <a:buNone/>
            </a:pPr>
            <a:r>
              <a:rPr lang="en-US" sz="1250" dirty="0">
                <a:solidFill>
                  <a:srgbClr val="9DB2C6"/>
                </a:solidFill>
                <a:latin typeface="Calibri" pitchFamily="34" charset="0"/>
                <a:ea typeface="Calibri" pitchFamily="34" charset="-122"/>
                <a:cs typeface="Calibri" pitchFamily="34" charset="-120"/>
              </a:rPr>
              <a:t>KHMT836016 · KHMT836034 · KHMT836036</a:t>
            </a:r>
            <a:endParaRPr lang="en-US" sz="1250" dirty="0"/>
          </a:p>
          <a:p>
            <a:pPr indent="0" marL="0">
              <a:buNone/>
            </a:pPr>
            <a:r>
              <a:rPr lang="en-US" sz="1250" dirty="0">
                <a:solidFill>
                  <a:srgbClr val="9DB2C6"/>
                </a:solidFill>
                <a:latin typeface="Calibri" pitchFamily="34" charset="0"/>
                <a:ea typeface="Calibri" pitchFamily="34" charset="-122"/>
                <a:cs typeface="Calibri" pitchFamily="34" charset="-120"/>
              </a:rPr>
              <a:t>Nguồn: notebook Kaggle traffic-yolo-v2-run · YOLOv8s · Ultralytics 8.4.95</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44</Slides>
  <Notes>44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44</vt:i4>
      </vt:variant>
    </vt:vector>
  </HeadingPairs>
  <TitlesOfParts>
    <vt:vector size="4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Kiểm định độ tin cậy YOLOv8 phát hiện biển báo</dc:title>
  <dc:subject>PptxGenJS Presentation</dc:subject>
  <dc:creator>Nhóm KHMT836016/34/36</dc:creator>
  <cp:lastModifiedBy>Nhóm KHMT836016/34/36</cp:lastModifiedBy>
  <cp:revision>1</cp:revision>
  <dcterms:created xsi:type="dcterms:W3CDTF">2026-07-22T16:46:45Z</dcterms:created>
  <dcterms:modified xsi:type="dcterms:W3CDTF">2026-07-22T16:46:45Z</dcterms:modified>
</cp:coreProperties>
</file>